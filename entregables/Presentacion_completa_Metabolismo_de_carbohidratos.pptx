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ppt/notesSlides/notesSlide308.xml" ContentType="application/vnd.openxmlformats-officedocument.presentationml.notesSlide+xml"/>
  <Override PartName="/ppt/notesSlides/notesSlide30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10.xml" ContentType="application/vnd.openxmlformats-officedocument.presentationml.notesSlide+xml"/>
  <Override PartName="/ppt/notesSlides/notesSlide311.xml" ContentType="application/vnd.openxmlformats-officedocument.presentationml.notesSlide+xml"/>
  <Override PartName="/ppt/notesSlides/notesSlide312.xml" ContentType="application/vnd.openxmlformats-officedocument.presentationml.notesSlide+xml"/>
  <Override PartName="/ppt/notesSlides/notesSlide313.xml" ContentType="application/vnd.openxmlformats-officedocument.presentationml.notesSlide+xml"/>
  <Override PartName="/ppt/notesSlides/notesSlide314.xml" ContentType="application/vnd.openxmlformats-officedocument.presentationml.notesSlide+xml"/>
  <Override PartName="/ppt/notesSlides/notesSlide315.xml" ContentType="application/vnd.openxmlformats-officedocument.presentationml.notesSlide+xml"/>
  <Override PartName="/ppt/notesSlides/notesSlide316.xml" ContentType="application/vnd.openxmlformats-officedocument.presentationml.notesSlide+xml"/>
  <Override PartName="/ppt/notesSlides/notesSlide317.xml" ContentType="application/vnd.openxmlformats-officedocument.presentationml.notesSlide+xml"/>
  <Override PartName="/ppt/notesSlides/notesSlide318.xml" ContentType="application/vnd.openxmlformats-officedocument.presentationml.notesSlide+xml"/>
  <Override PartName="/ppt/notesSlides/notesSlide31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20.xml" ContentType="application/vnd.openxmlformats-officedocument.presentationml.notesSlide+xml"/>
  <Override PartName="/ppt/notesSlides/notesSlide321.xml" ContentType="application/vnd.openxmlformats-officedocument.presentationml.notesSlide+xml"/>
  <Override PartName="/ppt/notesSlides/notesSlide322.xml" ContentType="application/vnd.openxmlformats-officedocument.presentationml.notesSlide+xml"/>
  <Override PartName="/ppt/notesSlides/notesSlide323.xml" ContentType="application/vnd.openxmlformats-officedocument.presentationml.notesSlide+xml"/>
  <Override PartName="/ppt/notesSlides/notesSlide324.xml" ContentType="application/vnd.openxmlformats-officedocument.presentationml.notesSlide+xml"/>
  <Override PartName="/ppt/notesSlides/notesSlide325.xml" ContentType="application/vnd.openxmlformats-officedocument.presentationml.notesSlide+xml"/>
  <Override PartName="/ppt/notesSlides/notesSlide326.xml" ContentType="application/vnd.openxmlformats-officedocument.presentationml.notesSlide+xml"/>
  <Override PartName="/ppt/notesSlides/notesSlide327.xml" ContentType="application/vnd.openxmlformats-officedocument.presentationml.notesSlide+xml"/>
  <Override PartName="/ppt/notesSlides/notesSlide328.xml" ContentType="application/vnd.openxmlformats-officedocument.presentationml.notesSlide+xml"/>
  <Override PartName="/ppt/notesSlides/notesSlide32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30.xml" ContentType="application/vnd.openxmlformats-officedocument.presentationml.notesSlide+xml"/>
  <Override PartName="/ppt/notesSlides/notesSlide331.xml" ContentType="application/vnd.openxmlformats-officedocument.presentationml.notesSlide+xml"/>
  <Override PartName="/ppt/notesSlides/notesSlide332.xml" ContentType="application/vnd.openxmlformats-officedocument.presentationml.notesSlide+xml"/>
  <Override PartName="/ppt/notesSlides/notesSlide333.xml" ContentType="application/vnd.openxmlformats-officedocument.presentationml.notesSlide+xml"/>
  <Override PartName="/ppt/notesSlides/notesSlide334.xml" ContentType="application/vnd.openxmlformats-officedocument.presentationml.notesSlide+xml"/>
  <Override PartName="/ppt/notesSlides/notesSlide335.xml" ContentType="application/vnd.openxmlformats-officedocument.presentationml.notesSlide+xml"/>
  <Override PartName="/ppt/notesSlides/notesSlide336.xml" ContentType="application/vnd.openxmlformats-officedocument.presentationml.notesSlide+xml"/>
  <Override PartName="/ppt/notesSlides/notesSlide337.xml" ContentType="application/vnd.openxmlformats-officedocument.presentationml.notesSlide+xml"/>
  <Override PartName="/ppt/notesSlides/notesSlide338.xml" ContentType="application/vnd.openxmlformats-officedocument.presentationml.notesSlide+xml"/>
  <Override PartName="/ppt/notesSlides/notesSlide339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40.xml" ContentType="application/vnd.openxmlformats-officedocument.presentationml.notesSlide+xml"/>
  <Override PartName="/ppt/notesSlides/notesSlide341.xml" ContentType="application/vnd.openxmlformats-officedocument.presentationml.notesSlide+xml"/>
  <Override PartName="/ppt/notesSlides/notesSlide342.xml" ContentType="application/vnd.openxmlformats-officedocument.presentationml.notesSlide+xml"/>
  <Override PartName="/ppt/notesSlides/notesSlide343.xml" ContentType="application/vnd.openxmlformats-officedocument.presentationml.notesSlide+xml"/>
  <Override PartName="/ppt/notesSlides/notesSlide344.xml" ContentType="application/vnd.openxmlformats-officedocument.presentationml.notesSlide+xml"/>
  <Override PartName="/ppt/notesSlides/notesSlide345.xml" ContentType="application/vnd.openxmlformats-officedocument.presentationml.notesSlide+xml"/>
  <Override PartName="/ppt/notesSlides/notesSlide346.xml" ContentType="application/vnd.openxmlformats-officedocument.presentationml.notesSlide+xml"/>
  <Override PartName="/ppt/notesSlides/notesSlide347.xml" ContentType="application/vnd.openxmlformats-officedocument.presentationml.notesSlide+xml"/>
  <Override PartName="/ppt/notesSlides/notesSlide348.xml" ContentType="application/vnd.openxmlformats-officedocument.presentationml.notesSlide+xml"/>
  <Override PartName="/ppt/notesSlides/notesSlide349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50.xml" ContentType="application/vnd.openxmlformats-officedocument.presentationml.notesSlide+xml"/>
  <Override PartName="/ppt/notesSlides/notesSlide351.xml" ContentType="application/vnd.openxmlformats-officedocument.presentationml.notesSlide+xml"/>
  <Override PartName="/ppt/notesSlides/notesSlide352.xml" ContentType="application/vnd.openxmlformats-officedocument.presentationml.notesSlide+xml"/>
  <Override PartName="/ppt/notesSlides/notesSlide353.xml" ContentType="application/vnd.openxmlformats-officedocument.presentationml.notesSlide+xml"/>
  <Override PartName="/ppt/notesSlides/notesSlide354.xml" ContentType="application/vnd.openxmlformats-officedocument.presentationml.notesSlide+xml"/>
  <Override PartName="/ppt/notesSlides/notesSlide355.xml" ContentType="application/vnd.openxmlformats-officedocument.presentationml.notesSlide+xml"/>
  <Override PartName="/ppt/notesSlides/notesSlide356.xml" ContentType="application/vnd.openxmlformats-officedocument.presentationml.notesSlide+xml"/>
  <Override PartName="/ppt/notesSlides/notesSlide357.xml" ContentType="application/vnd.openxmlformats-officedocument.presentationml.notesSlide+xml"/>
  <Override PartName="/ppt/notesSlides/notesSlide358.xml" ContentType="application/vnd.openxmlformats-officedocument.presentationml.notesSlide+xml"/>
  <Override PartName="/ppt/notesSlides/notesSlide359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60.xml" ContentType="application/vnd.openxmlformats-officedocument.presentationml.notesSlide+xml"/>
  <Override PartName="/ppt/notesSlides/notesSlide361.xml" ContentType="application/vnd.openxmlformats-officedocument.presentationml.notesSlide+xml"/>
  <Override PartName="/ppt/notesSlides/notesSlide362.xml" ContentType="application/vnd.openxmlformats-officedocument.presentationml.notesSlide+xml"/>
  <Override PartName="/ppt/notesSlides/notesSlide363.xml" ContentType="application/vnd.openxmlformats-officedocument.presentationml.notesSlide+xml"/>
  <Override PartName="/ppt/notesSlides/notesSlide364.xml" ContentType="application/vnd.openxmlformats-officedocument.presentationml.notesSlide+xml"/>
  <Override PartName="/ppt/notesSlides/notesSlide365.xml" ContentType="application/vnd.openxmlformats-officedocument.presentationml.notesSlide+xml"/>
  <Override PartName="/ppt/notesSlides/notesSlide366.xml" ContentType="application/vnd.openxmlformats-officedocument.presentationml.notesSlide+xml"/>
  <Override PartName="/ppt/notesSlides/notesSlide367.xml" ContentType="application/vnd.openxmlformats-officedocument.presentationml.notesSlide+xml"/>
  <Override PartName="/ppt/notesSlides/notesSlide368.xml" ContentType="application/vnd.openxmlformats-officedocument.presentationml.notesSlide+xml"/>
  <Override PartName="/ppt/notesSlides/notesSlide369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70.xml" ContentType="application/vnd.openxmlformats-officedocument.presentationml.notesSlide+xml"/>
  <Override PartName="/ppt/notesSlides/notesSlide371.xml" ContentType="application/vnd.openxmlformats-officedocument.presentationml.notesSlide+xml"/>
  <Override PartName="/ppt/notesSlides/notesSlide372.xml" ContentType="application/vnd.openxmlformats-officedocument.presentationml.notesSlide+xml"/>
  <Override PartName="/ppt/notesSlides/notesSlide373.xml" ContentType="application/vnd.openxmlformats-officedocument.presentationml.notesSlide+xml"/>
  <Override PartName="/ppt/notesSlides/notesSlide374.xml" ContentType="application/vnd.openxmlformats-officedocument.presentationml.notesSlide+xml"/>
  <Override PartName="/ppt/notesSlides/notesSlide375.xml" ContentType="application/vnd.openxmlformats-officedocument.presentationml.notesSlide+xml"/>
  <Override PartName="/ppt/notesSlides/notesSlide376.xml" ContentType="application/vnd.openxmlformats-officedocument.presentationml.notesSlide+xml"/>
  <Override PartName="/ppt/notesSlides/notesSlide377.xml" ContentType="application/vnd.openxmlformats-officedocument.presentationml.notesSlide+xml"/>
  <Override PartName="/ppt/notesSlides/notesSlide378.xml" ContentType="application/vnd.openxmlformats-officedocument.presentationml.notesSlide+xml"/>
  <Override PartName="/ppt/notesSlides/notesSlide37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80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  <p:sldId id="495" r:id="rId247"/>
    <p:sldId id="496" r:id="rId248"/>
    <p:sldId id="497" r:id="rId249"/>
    <p:sldId id="498" r:id="rId250"/>
    <p:sldId id="499" r:id="rId251"/>
    <p:sldId id="500" r:id="rId252"/>
    <p:sldId id="501" r:id="rId253"/>
    <p:sldId id="502" r:id="rId254"/>
    <p:sldId id="503" r:id="rId255"/>
    <p:sldId id="504" r:id="rId256"/>
    <p:sldId id="505" r:id="rId257"/>
    <p:sldId id="506" r:id="rId258"/>
    <p:sldId id="507" r:id="rId259"/>
    <p:sldId id="508" r:id="rId260"/>
    <p:sldId id="509" r:id="rId261"/>
    <p:sldId id="510" r:id="rId262"/>
    <p:sldId id="511" r:id="rId263"/>
    <p:sldId id="512" r:id="rId264"/>
    <p:sldId id="513" r:id="rId265"/>
    <p:sldId id="514" r:id="rId266"/>
    <p:sldId id="515" r:id="rId267"/>
    <p:sldId id="516" r:id="rId268"/>
    <p:sldId id="517" r:id="rId269"/>
    <p:sldId id="518" r:id="rId270"/>
    <p:sldId id="519" r:id="rId271"/>
    <p:sldId id="520" r:id="rId272"/>
    <p:sldId id="521" r:id="rId273"/>
    <p:sldId id="522" r:id="rId274"/>
    <p:sldId id="523" r:id="rId275"/>
    <p:sldId id="524" r:id="rId276"/>
    <p:sldId id="525" r:id="rId277"/>
    <p:sldId id="526" r:id="rId278"/>
    <p:sldId id="527" r:id="rId279"/>
    <p:sldId id="528" r:id="rId280"/>
    <p:sldId id="529" r:id="rId281"/>
    <p:sldId id="530" r:id="rId282"/>
    <p:sldId id="531" r:id="rId283"/>
    <p:sldId id="532" r:id="rId284"/>
    <p:sldId id="533" r:id="rId285"/>
    <p:sldId id="534" r:id="rId286"/>
    <p:sldId id="535" r:id="rId287"/>
    <p:sldId id="536" r:id="rId288"/>
    <p:sldId id="537" r:id="rId289"/>
    <p:sldId id="538" r:id="rId290"/>
    <p:sldId id="539" r:id="rId291"/>
    <p:sldId id="540" r:id="rId292"/>
    <p:sldId id="541" r:id="rId293"/>
    <p:sldId id="542" r:id="rId294"/>
    <p:sldId id="543" r:id="rId295"/>
    <p:sldId id="544" r:id="rId296"/>
    <p:sldId id="545" r:id="rId297"/>
    <p:sldId id="546" r:id="rId298"/>
    <p:sldId id="547" r:id="rId299"/>
    <p:sldId id="548" r:id="rId300"/>
    <p:sldId id="549" r:id="rId301"/>
    <p:sldId id="550" r:id="rId302"/>
    <p:sldId id="551" r:id="rId303"/>
    <p:sldId id="552" r:id="rId304"/>
    <p:sldId id="553" r:id="rId305"/>
    <p:sldId id="554" r:id="rId306"/>
    <p:sldId id="555" r:id="rId307"/>
    <p:sldId id="556" r:id="rId308"/>
    <p:sldId id="557" r:id="rId309"/>
    <p:sldId id="558" r:id="rId310"/>
    <p:sldId id="559" r:id="rId311"/>
    <p:sldId id="560" r:id="rId312"/>
    <p:sldId id="561" r:id="rId313"/>
    <p:sldId id="562" r:id="rId314"/>
    <p:sldId id="563" r:id="rId315"/>
    <p:sldId id="564" r:id="rId316"/>
    <p:sldId id="565" r:id="rId317"/>
    <p:sldId id="566" r:id="rId318"/>
    <p:sldId id="567" r:id="rId319"/>
    <p:sldId id="568" r:id="rId320"/>
    <p:sldId id="569" r:id="rId321"/>
    <p:sldId id="570" r:id="rId322"/>
    <p:sldId id="571" r:id="rId323"/>
    <p:sldId id="572" r:id="rId324"/>
    <p:sldId id="573" r:id="rId325"/>
    <p:sldId id="574" r:id="rId326"/>
    <p:sldId id="575" r:id="rId327"/>
    <p:sldId id="576" r:id="rId328"/>
    <p:sldId id="577" r:id="rId329"/>
    <p:sldId id="578" r:id="rId330"/>
    <p:sldId id="579" r:id="rId331"/>
    <p:sldId id="580" r:id="rId332"/>
    <p:sldId id="581" r:id="rId333"/>
    <p:sldId id="582" r:id="rId334"/>
    <p:sldId id="583" r:id="rId335"/>
    <p:sldId id="584" r:id="rId336"/>
    <p:sldId id="585" r:id="rId337"/>
    <p:sldId id="586" r:id="rId338"/>
    <p:sldId id="587" r:id="rId339"/>
    <p:sldId id="588" r:id="rId340"/>
    <p:sldId id="589" r:id="rId341"/>
    <p:sldId id="590" r:id="rId342"/>
    <p:sldId id="591" r:id="rId343"/>
    <p:sldId id="592" r:id="rId344"/>
    <p:sldId id="593" r:id="rId345"/>
    <p:sldId id="594" r:id="rId346"/>
    <p:sldId id="595" r:id="rId347"/>
    <p:sldId id="596" r:id="rId348"/>
    <p:sldId id="597" r:id="rId349"/>
    <p:sldId id="598" r:id="rId350"/>
    <p:sldId id="599" r:id="rId351"/>
    <p:sldId id="600" r:id="rId352"/>
    <p:sldId id="601" r:id="rId353"/>
    <p:sldId id="602" r:id="rId354"/>
    <p:sldId id="603" r:id="rId355"/>
    <p:sldId id="604" r:id="rId356"/>
    <p:sldId id="605" r:id="rId357"/>
    <p:sldId id="606" r:id="rId358"/>
    <p:sldId id="607" r:id="rId359"/>
    <p:sldId id="608" r:id="rId360"/>
    <p:sldId id="609" r:id="rId361"/>
    <p:sldId id="610" r:id="rId362"/>
    <p:sldId id="611" r:id="rId363"/>
    <p:sldId id="612" r:id="rId364"/>
    <p:sldId id="613" r:id="rId365"/>
    <p:sldId id="614" r:id="rId366"/>
    <p:sldId id="615" r:id="rId367"/>
    <p:sldId id="616" r:id="rId368"/>
    <p:sldId id="617" r:id="rId369"/>
    <p:sldId id="618" r:id="rId370"/>
    <p:sldId id="619" r:id="rId371"/>
    <p:sldId id="620" r:id="rId372"/>
    <p:sldId id="621" r:id="rId373"/>
    <p:sldId id="622" r:id="rId374"/>
    <p:sldId id="623" r:id="rId375"/>
    <p:sldId id="624" r:id="rId376"/>
    <p:sldId id="625" r:id="rId377"/>
    <p:sldId id="626" r:id="rId378"/>
    <p:sldId id="627" r:id="rId379"/>
    <p:sldId id="628" r:id="rId380"/>
    <p:sldId id="629" r:id="rId381"/>
    <p:sldId id="630" r:id="rId382"/>
    <p:sldId id="631" r:id="rId383"/>
    <p:sldId id="632" r:id="rId384"/>
    <p:sldId id="633" r:id="rId385"/>
    <p:sldId id="634" r:id="rId386"/>
    <p:sldId id="635" r:id="rId38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Relationship Id="rId243" Type="http://schemas.openxmlformats.org/officeDocument/2006/relationships/slide" Target="slides/slide236.xml"/><Relationship Id="rId244" Type="http://schemas.openxmlformats.org/officeDocument/2006/relationships/slide" Target="slides/slide237.xml"/><Relationship Id="rId245" Type="http://schemas.openxmlformats.org/officeDocument/2006/relationships/slide" Target="slides/slide238.xml"/><Relationship Id="rId246" Type="http://schemas.openxmlformats.org/officeDocument/2006/relationships/slide" Target="slides/slide239.xml"/><Relationship Id="rId247" Type="http://schemas.openxmlformats.org/officeDocument/2006/relationships/slide" Target="slides/slide240.xml"/><Relationship Id="rId248" Type="http://schemas.openxmlformats.org/officeDocument/2006/relationships/slide" Target="slides/slide241.xml"/><Relationship Id="rId249" Type="http://schemas.openxmlformats.org/officeDocument/2006/relationships/slide" Target="slides/slide242.xml"/><Relationship Id="rId250" Type="http://schemas.openxmlformats.org/officeDocument/2006/relationships/slide" Target="slides/slide243.xml"/><Relationship Id="rId251" Type="http://schemas.openxmlformats.org/officeDocument/2006/relationships/slide" Target="slides/slide244.xml"/><Relationship Id="rId252" Type="http://schemas.openxmlformats.org/officeDocument/2006/relationships/slide" Target="slides/slide245.xml"/><Relationship Id="rId253" Type="http://schemas.openxmlformats.org/officeDocument/2006/relationships/slide" Target="slides/slide246.xml"/><Relationship Id="rId254" Type="http://schemas.openxmlformats.org/officeDocument/2006/relationships/slide" Target="slides/slide247.xml"/><Relationship Id="rId255" Type="http://schemas.openxmlformats.org/officeDocument/2006/relationships/slide" Target="slides/slide248.xml"/><Relationship Id="rId256" Type="http://schemas.openxmlformats.org/officeDocument/2006/relationships/slide" Target="slides/slide249.xml"/><Relationship Id="rId257" Type="http://schemas.openxmlformats.org/officeDocument/2006/relationships/slide" Target="slides/slide250.xml"/><Relationship Id="rId258" Type="http://schemas.openxmlformats.org/officeDocument/2006/relationships/slide" Target="slides/slide251.xml"/><Relationship Id="rId259" Type="http://schemas.openxmlformats.org/officeDocument/2006/relationships/slide" Target="slides/slide252.xml"/><Relationship Id="rId260" Type="http://schemas.openxmlformats.org/officeDocument/2006/relationships/slide" Target="slides/slide253.xml"/><Relationship Id="rId261" Type="http://schemas.openxmlformats.org/officeDocument/2006/relationships/slide" Target="slides/slide254.xml"/><Relationship Id="rId262" Type="http://schemas.openxmlformats.org/officeDocument/2006/relationships/slide" Target="slides/slide255.xml"/><Relationship Id="rId263" Type="http://schemas.openxmlformats.org/officeDocument/2006/relationships/slide" Target="slides/slide256.xml"/><Relationship Id="rId264" Type="http://schemas.openxmlformats.org/officeDocument/2006/relationships/slide" Target="slides/slide257.xml"/><Relationship Id="rId265" Type="http://schemas.openxmlformats.org/officeDocument/2006/relationships/slide" Target="slides/slide258.xml"/><Relationship Id="rId266" Type="http://schemas.openxmlformats.org/officeDocument/2006/relationships/slide" Target="slides/slide259.xml"/><Relationship Id="rId267" Type="http://schemas.openxmlformats.org/officeDocument/2006/relationships/slide" Target="slides/slide260.xml"/><Relationship Id="rId268" Type="http://schemas.openxmlformats.org/officeDocument/2006/relationships/slide" Target="slides/slide261.xml"/><Relationship Id="rId269" Type="http://schemas.openxmlformats.org/officeDocument/2006/relationships/slide" Target="slides/slide262.xml"/><Relationship Id="rId270" Type="http://schemas.openxmlformats.org/officeDocument/2006/relationships/slide" Target="slides/slide263.xml"/><Relationship Id="rId271" Type="http://schemas.openxmlformats.org/officeDocument/2006/relationships/slide" Target="slides/slide264.xml"/><Relationship Id="rId272" Type="http://schemas.openxmlformats.org/officeDocument/2006/relationships/slide" Target="slides/slide265.xml"/><Relationship Id="rId273" Type="http://schemas.openxmlformats.org/officeDocument/2006/relationships/slide" Target="slides/slide266.xml"/><Relationship Id="rId274" Type="http://schemas.openxmlformats.org/officeDocument/2006/relationships/slide" Target="slides/slide267.xml"/><Relationship Id="rId275" Type="http://schemas.openxmlformats.org/officeDocument/2006/relationships/slide" Target="slides/slide268.xml"/><Relationship Id="rId276" Type="http://schemas.openxmlformats.org/officeDocument/2006/relationships/slide" Target="slides/slide269.xml"/><Relationship Id="rId277" Type="http://schemas.openxmlformats.org/officeDocument/2006/relationships/slide" Target="slides/slide270.xml"/><Relationship Id="rId278" Type="http://schemas.openxmlformats.org/officeDocument/2006/relationships/slide" Target="slides/slide271.xml"/><Relationship Id="rId279" Type="http://schemas.openxmlformats.org/officeDocument/2006/relationships/slide" Target="slides/slide272.xml"/><Relationship Id="rId280" Type="http://schemas.openxmlformats.org/officeDocument/2006/relationships/slide" Target="slides/slide273.xml"/><Relationship Id="rId281" Type="http://schemas.openxmlformats.org/officeDocument/2006/relationships/slide" Target="slides/slide274.xml"/><Relationship Id="rId282" Type="http://schemas.openxmlformats.org/officeDocument/2006/relationships/slide" Target="slides/slide275.xml"/><Relationship Id="rId283" Type="http://schemas.openxmlformats.org/officeDocument/2006/relationships/slide" Target="slides/slide276.xml"/><Relationship Id="rId284" Type="http://schemas.openxmlformats.org/officeDocument/2006/relationships/slide" Target="slides/slide277.xml"/><Relationship Id="rId285" Type="http://schemas.openxmlformats.org/officeDocument/2006/relationships/slide" Target="slides/slide278.xml"/><Relationship Id="rId286" Type="http://schemas.openxmlformats.org/officeDocument/2006/relationships/slide" Target="slides/slide279.xml"/><Relationship Id="rId287" Type="http://schemas.openxmlformats.org/officeDocument/2006/relationships/slide" Target="slides/slide280.xml"/><Relationship Id="rId288" Type="http://schemas.openxmlformats.org/officeDocument/2006/relationships/slide" Target="slides/slide281.xml"/><Relationship Id="rId289" Type="http://schemas.openxmlformats.org/officeDocument/2006/relationships/slide" Target="slides/slide282.xml"/><Relationship Id="rId290" Type="http://schemas.openxmlformats.org/officeDocument/2006/relationships/slide" Target="slides/slide283.xml"/><Relationship Id="rId291" Type="http://schemas.openxmlformats.org/officeDocument/2006/relationships/slide" Target="slides/slide284.xml"/><Relationship Id="rId292" Type="http://schemas.openxmlformats.org/officeDocument/2006/relationships/slide" Target="slides/slide285.xml"/><Relationship Id="rId293" Type="http://schemas.openxmlformats.org/officeDocument/2006/relationships/slide" Target="slides/slide286.xml"/><Relationship Id="rId294" Type="http://schemas.openxmlformats.org/officeDocument/2006/relationships/slide" Target="slides/slide287.xml"/><Relationship Id="rId295" Type="http://schemas.openxmlformats.org/officeDocument/2006/relationships/slide" Target="slides/slide288.xml"/><Relationship Id="rId296" Type="http://schemas.openxmlformats.org/officeDocument/2006/relationships/slide" Target="slides/slide289.xml"/><Relationship Id="rId297" Type="http://schemas.openxmlformats.org/officeDocument/2006/relationships/slide" Target="slides/slide290.xml"/><Relationship Id="rId298" Type="http://schemas.openxmlformats.org/officeDocument/2006/relationships/slide" Target="slides/slide291.xml"/><Relationship Id="rId299" Type="http://schemas.openxmlformats.org/officeDocument/2006/relationships/slide" Target="slides/slide292.xml"/><Relationship Id="rId300" Type="http://schemas.openxmlformats.org/officeDocument/2006/relationships/slide" Target="slides/slide293.xml"/><Relationship Id="rId301" Type="http://schemas.openxmlformats.org/officeDocument/2006/relationships/slide" Target="slides/slide294.xml"/><Relationship Id="rId302" Type="http://schemas.openxmlformats.org/officeDocument/2006/relationships/slide" Target="slides/slide295.xml"/><Relationship Id="rId303" Type="http://schemas.openxmlformats.org/officeDocument/2006/relationships/slide" Target="slides/slide296.xml"/><Relationship Id="rId304" Type="http://schemas.openxmlformats.org/officeDocument/2006/relationships/slide" Target="slides/slide297.xml"/><Relationship Id="rId305" Type="http://schemas.openxmlformats.org/officeDocument/2006/relationships/slide" Target="slides/slide298.xml"/><Relationship Id="rId306" Type="http://schemas.openxmlformats.org/officeDocument/2006/relationships/slide" Target="slides/slide299.xml"/><Relationship Id="rId307" Type="http://schemas.openxmlformats.org/officeDocument/2006/relationships/slide" Target="slides/slide300.xml"/><Relationship Id="rId308" Type="http://schemas.openxmlformats.org/officeDocument/2006/relationships/slide" Target="slides/slide301.xml"/><Relationship Id="rId309" Type="http://schemas.openxmlformats.org/officeDocument/2006/relationships/slide" Target="slides/slide302.xml"/><Relationship Id="rId310" Type="http://schemas.openxmlformats.org/officeDocument/2006/relationships/slide" Target="slides/slide303.xml"/><Relationship Id="rId311" Type="http://schemas.openxmlformats.org/officeDocument/2006/relationships/slide" Target="slides/slide304.xml"/><Relationship Id="rId312" Type="http://schemas.openxmlformats.org/officeDocument/2006/relationships/slide" Target="slides/slide305.xml"/><Relationship Id="rId313" Type="http://schemas.openxmlformats.org/officeDocument/2006/relationships/slide" Target="slides/slide306.xml"/><Relationship Id="rId314" Type="http://schemas.openxmlformats.org/officeDocument/2006/relationships/slide" Target="slides/slide307.xml"/><Relationship Id="rId315" Type="http://schemas.openxmlformats.org/officeDocument/2006/relationships/slide" Target="slides/slide308.xml"/><Relationship Id="rId316" Type="http://schemas.openxmlformats.org/officeDocument/2006/relationships/slide" Target="slides/slide309.xml"/><Relationship Id="rId317" Type="http://schemas.openxmlformats.org/officeDocument/2006/relationships/slide" Target="slides/slide310.xml"/><Relationship Id="rId318" Type="http://schemas.openxmlformats.org/officeDocument/2006/relationships/slide" Target="slides/slide311.xml"/><Relationship Id="rId319" Type="http://schemas.openxmlformats.org/officeDocument/2006/relationships/slide" Target="slides/slide312.xml"/><Relationship Id="rId320" Type="http://schemas.openxmlformats.org/officeDocument/2006/relationships/slide" Target="slides/slide313.xml"/><Relationship Id="rId321" Type="http://schemas.openxmlformats.org/officeDocument/2006/relationships/slide" Target="slides/slide314.xml"/><Relationship Id="rId322" Type="http://schemas.openxmlformats.org/officeDocument/2006/relationships/slide" Target="slides/slide315.xml"/><Relationship Id="rId323" Type="http://schemas.openxmlformats.org/officeDocument/2006/relationships/slide" Target="slides/slide316.xml"/><Relationship Id="rId324" Type="http://schemas.openxmlformats.org/officeDocument/2006/relationships/slide" Target="slides/slide317.xml"/><Relationship Id="rId325" Type="http://schemas.openxmlformats.org/officeDocument/2006/relationships/slide" Target="slides/slide318.xml"/><Relationship Id="rId326" Type="http://schemas.openxmlformats.org/officeDocument/2006/relationships/slide" Target="slides/slide319.xml"/><Relationship Id="rId327" Type="http://schemas.openxmlformats.org/officeDocument/2006/relationships/slide" Target="slides/slide320.xml"/><Relationship Id="rId328" Type="http://schemas.openxmlformats.org/officeDocument/2006/relationships/slide" Target="slides/slide321.xml"/><Relationship Id="rId329" Type="http://schemas.openxmlformats.org/officeDocument/2006/relationships/slide" Target="slides/slide322.xml"/><Relationship Id="rId330" Type="http://schemas.openxmlformats.org/officeDocument/2006/relationships/slide" Target="slides/slide323.xml"/><Relationship Id="rId331" Type="http://schemas.openxmlformats.org/officeDocument/2006/relationships/slide" Target="slides/slide324.xml"/><Relationship Id="rId332" Type="http://schemas.openxmlformats.org/officeDocument/2006/relationships/slide" Target="slides/slide325.xml"/><Relationship Id="rId333" Type="http://schemas.openxmlformats.org/officeDocument/2006/relationships/slide" Target="slides/slide326.xml"/><Relationship Id="rId334" Type="http://schemas.openxmlformats.org/officeDocument/2006/relationships/slide" Target="slides/slide327.xml"/><Relationship Id="rId335" Type="http://schemas.openxmlformats.org/officeDocument/2006/relationships/slide" Target="slides/slide328.xml"/><Relationship Id="rId336" Type="http://schemas.openxmlformats.org/officeDocument/2006/relationships/slide" Target="slides/slide329.xml"/><Relationship Id="rId337" Type="http://schemas.openxmlformats.org/officeDocument/2006/relationships/slide" Target="slides/slide330.xml"/><Relationship Id="rId338" Type="http://schemas.openxmlformats.org/officeDocument/2006/relationships/slide" Target="slides/slide331.xml"/><Relationship Id="rId339" Type="http://schemas.openxmlformats.org/officeDocument/2006/relationships/slide" Target="slides/slide332.xml"/><Relationship Id="rId340" Type="http://schemas.openxmlformats.org/officeDocument/2006/relationships/slide" Target="slides/slide333.xml"/><Relationship Id="rId341" Type="http://schemas.openxmlformats.org/officeDocument/2006/relationships/slide" Target="slides/slide334.xml"/><Relationship Id="rId342" Type="http://schemas.openxmlformats.org/officeDocument/2006/relationships/slide" Target="slides/slide335.xml"/><Relationship Id="rId343" Type="http://schemas.openxmlformats.org/officeDocument/2006/relationships/slide" Target="slides/slide336.xml"/><Relationship Id="rId344" Type="http://schemas.openxmlformats.org/officeDocument/2006/relationships/slide" Target="slides/slide337.xml"/><Relationship Id="rId345" Type="http://schemas.openxmlformats.org/officeDocument/2006/relationships/slide" Target="slides/slide338.xml"/><Relationship Id="rId346" Type="http://schemas.openxmlformats.org/officeDocument/2006/relationships/slide" Target="slides/slide339.xml"/><Relationship Id="rId347" Type="http://schemas.openxmlformats.org/officeDocument/2006/relationships/slide" Target="slides/slide340.xml"/><Relationship Id="rId348" Type="http://schemas.openxmlformats.org/officeDocument/2006/relationships/slide" Target="slides/slide341.xml"/><Relationship Id="rId349" Type="http://schemas.openxmlformats.org/officeDocument/2006/relationships/slide" Target="slides/slide342.xml"/><Relationship Id="rId350" Type="http://schemas.openxmlformats.org/officeDocument/2006/relationships/slide" Target="slides/slide343.xml"/><Relationship Id="rId351" Type="http://schemas.openxmlformats.org/officeDocument/2006/relationships/slide" Target="slides/slide344.xml"/><Relationship Id="rId352" Type="http://schemas.openxmlformats.org/officeDocument/2006/relationships/slide" Target="slides/slide345.xml"/><Relationship Id="rId353" Type="http://schemas.openxmlformats.org/officeDocument/2006/relationships/slide" Target="slides/slide346.xml"/><Relationship Id="rId354" Type="http://schemas.openxmlformats.org/officeDocument/2006/relationships/slide" Target="slides/slide347.xml"/><Relationship Id="rId355" Type="http://schemas.openxmlformats.org/officeDocument/2006/relationships/slide" Target="slides/slide348.xml"/><Relationship Id="rId356" Type="http://schemas.openxmlformats.org/officeDocument/2006/relationships/slide" Target="slides/slide349.xml"/><Relationship Id="rId357" Type="http://schemas.openxmlformats.org/officeDocument/2006/relationships/slide" Target="slides/slide350.xml"/><Relationship Id="rId358" Type="http://schemas.openxmlformats.org/officeDocument/2006/relationships/slide" Target="slides/slide351.xml"/><Relationship Id="rId359" Type="http://schemas.openxmlformats.org/officeDocument/2006/relationships/slide" Target="slides/slide352.xml"/><Relationship Id="rId360" Type="http://schemas.openxmlformats.org/officeDocument/2006/relationships/slide" Target="slides/slide353.xml"/><Relationship Id="rId361" Type="http://schemas.openxmlformats.org/officeDocument/2006/relationships/slide" Target="slides/slide354.xml"/><Relationship Id="rId362" Type="http://schemas.openxmlformats.org/officeDocument/2006/relationships/slide" Target="slides/slide355.xml"/><Relationship Id="rId363" Type="http://schemas.openxmlformats.org/officeDocument/2006/relationships/slide" Target="slides/slide356.xml"/><Relationship Id="rId364" Type="http://schemas.openxmlformats.org/officeDocument/2006/relationships/slide" Target="slides/slide357.xml"/><Relationship Id="rId365" Type="http://schemas.openxmlformats.org/officeDocument/2006/relationships/slide" Target="slides/slide358.xml"/><Relationship Id="rId366" Type="http://schemas.openxmlformats.org/officeDocument/2006/relationships/slide" Target="slides/slide359.xml"/><Relationship Id="rId367" Type="http://schemas.openxmlformats.org/officeDocument/2006/relationships/slide" Target="slides/slide360.xml"/><Relationship Id="rId368" Type="http://schemas.openxmlformats.org/officeDocument/2006/relationships/slide" Target="slides/slide361.xml"/><Relationship Id="rId369" Type="http://schemas.openxmlformats.org/officeDocument/2006/relationships/slide" Target="slides/slide362.xml"/><Relationship Id="rId370" Type="http://schemas.openxmlformats.org/officeDocument/2006/relationships/slide" Target="slides/slide363.xml"/><Relationship Id="rId371" Type="http://schemas.openxmlformats.org/officeDocument/2006/relationships/slide" Target="slides/slide364.xml"/><Relationship Id="rId372" Type="http://schemas.openxmlformats.org/officeDocument/2006/relationships/slide" Target="slides/slide365.xml"/><Relationship Id="rId373" Type="http://schemas.openxmlformats.org/officeDocument/2006/relationships/slide" Target="slides/slide366.xml"/><Relationship Id="rId374" Type="http://schemas.openxmlformats.org/officeDocument/2006/relationships/slide" Target="slides/slide367.xml"/><Relationship Id="rId375" Type="http://schemas.openxmlformats.org/officeDocument/2006/relationships/slide" Target="slides/slide368.xml"/><Relationship Id="rId376" Type="http://schemas.openxmlformats.org/officeDocument/2006/relationships/slide" Target="slides/slide369.xml"/><Relationship Id="rId377" Type="http://schemas.openxmlformats.org/officeDocument/2006/relationships/slide" Target="slides/slide370.xml"/><Relationship Id="rId378" Type="http://schemas.openxmlformats.org/officeDocument/2006/relationships/slide" Target="slides/slide371.xml"/><Relationship Id="rId379" Type="http://schemas.openxmlformats.org/officeDocument/2006/relationships/slide" Target="slides/slide372.xml"/><Relationship Id="rId380" Type="http://schemas.openxmlformats.org/officeDocument/2006/relationships/slide" Target="slides/slide373.xml"/><Relationship Id="rId381" Type="http://schemas.openxmlformats.org/officeDocument/2006/relationships/slide" Target="slides/slide374.xml"/><Relationship Id="rId382" Type="http://schemas.openxmlformats.org/officeDocument/2006/relationships/slide" Target="slides/slide375.xml"/><Relationship Id="rId383" Type="http://schemas.openxmlformats.org/officeDocument/2006/relationships/slide" Target="slides/slide376.xml"/><Relationship Id="rId384" Type="http://schemas.openxmlformats.org/officeDocument/2006/relationships/slide" Target="slides/slide377.xml"/><Relationship Id="rId385" Type="http://schemas.openxmlformats.org/officeDocument/2006/relationships/slide" Target="slides/slide378.xml"/><Relationship Id="rId386" Type="http://schemas.openxmlformats.org/officeDocument/2006/relationships/slide" Target="slides/slide379.xml"/><Relationship Id="rId387" Type="http://schemas.openxmlformats.org/officeDocument/2006/relationships/slide" Target="slides/slide38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_rels/notesSlide2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0.xml"/></Relationships>
</file>

<file path=ppt/notesSlides/_rels/notesSlide2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1.xml"/></Relationships>
</file>

<file path=ppt/notesSlides/_rels/notesSlide2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2.xml"/></Relationships>
</file>

<file path=ppt/notesSlides/_rels/notesSlide2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3.xml"/></Relationships>
</file>

<file path=ppt/notesSlides/_rels/notesSlide2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4.xml"/></Relationships>
</file>

<file path=ppt/notesSlides/_rels/notesSlide2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5.xml"/></Relationships>
</file>

<file path=ppt/notesSlides/_rels/notesSlide2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6.xml"/></Relationships>
</file>

<file path=ppt/notesSlides/_rels/notesSlide2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7.xml"/></Relationships>
</file>

<file path=ppt/notesSlides/_rels/notesSlide2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8.xml"/></Relationships>
</file>

<file path=ppt/notesSlides/_rels/notesSlide2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9.xml"/></Relationships>
</file>

<file path=ppt/notesSlides/_rels/notesSlide2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0.xml"/></Relationships>
</file>

<file path=ppt/notesSlides/_rels/notesSlide2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1.xml"/></Relationships>
</file>

<file path=ppt/notesSlides/_rels/notesSlide2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2.xml"/></Relationships>
</file>

<file path=ppt/notesSlides/_rels/notesSlide2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3.xml"/></Relationships>
</file>

<file path=ppt/notesSlides/_rels/notesSlide2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4.xml"/></Relationships>
</file>

<file path=ppt/notesSlides/_rels/notesSlide2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5.xml"/></Relationships>
</file>

<file path=ppt/notesSlides/_rels/notesSlide2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6.xml"/></Relationships>
</file>

<file path=ppt/notesSlides/_rels/notesSlide2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7.xml"/></Relationships>
</file>

<file path=ppt/notesSlides/_rels/notesSlide2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8.xml"/></Relationships>
</file>

<file path=ppt/notesSlides/_rels/notesSlide2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9.xml"/></Relationships>
</file>

<file path=ppt/notesSlides/_rels/notesSlide2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0.xml"/></Relationships>
</file>

<file path=ppt/notesSlides/_rels/notesSlide2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1.xml"/></Relationships>
</file>

<file path=ppt/notesSlides/_rels/notesSlide2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2.xml"/></Relationships>
</file>

<file path=ppt/notesSlides/_rels/notesSlide2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3.xml"/></Relationships>
</file>

<file path=ppt/notesSlides/_rels/notesSlide2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4.xml"/></Relationships>
</file>

<file path=ppt/notesSlides/_rels/notesSlide2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5.xml"/></Relationships>
</file>

<file path=ppt/notesSlides/_rels/notesSlide2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6.xml"/></Relationships>
</file>

<file path=ppt/notesSlides/_rels/notesSlide2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7.xml"/></Relationships>
</file>

<file path=ppt/notesSlides/_rels/notesSlide2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8.xml"/></Relationships>
</file>

<file path=ppt/notesSlides/_rels/notesSlide2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9.xml"/></Relationships>
</file>

<file path=ppt/notesSlides/_rels/notesSlide2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0.xml"/></Relationships>
</file>

<file path=ppt/notesSlides/_rels/notesSlide2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1.xml"/></Relationships>
</file>

<file path=ppt/notesSlides/_rels/notesSlide2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2.xml"/></Relationships>
</file>

<file path=ppt/notesSlides/_rels/notesSlide2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3.xml"/></Relationships>
</file>

<file path=ppt/notesSlides/_rels/notesSlide2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4.xml"/></Relationships>
</file>

<file path=ppt/notesSlides/_rels/notesSlide2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5.xml"/></Relationships>
</file>

<file path=ppt/notesSlides/_rels/notesSlide2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6.xml"/></Relationships>
</file>

<file path=ppt/notesSlides/_rels/notesSlide2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7.xml"/></Relationships>
</file>

<file path=ppt/notesSlides/_rels/notesSlide2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8.xml"/></Relationships>
</file>

<file path=ppt/notesSlides/_rels/notesSlide2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9.xml"/></Relationships>
</file>

<file path=ppt/notesSlides/_rels/notesSlide2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0.xml"/></Relationships>
</file>

<file path=ppt/notesSlides/_rels/notesSlide2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1.xml"/></Relationships>
</file>

<file path=ppt/notesSlides/_rels/notesSlide2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2.xml"/></Relationships>
</file>

<file path=ppt/notesSlides/_rels/notesSlide2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3.xml"/></Relationships>
</file>

<file path=ppt/notesSlides/_rels/notesSlide2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4.xml"/></Relationships>
</file>

<file path=ppt/notesSlides/_rels/notesSlide2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5.xml"/></Relationships>
</file>

<file path=ppt/notesSlides/_rels/notesSlide2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6.xml"/></Relationships>
</file>

<file path=ppt/notesSlides/_rels/notesSlide2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7.xml"/></Relationships>
</file>

<file path=ppt/notesSlides/_rels/notesSlide2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8.xml"/></Relationships>
</file>

<file path=ppt/notesSlides/_rels/notesSlide2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9.xml"/></Relationships>
</file>

<file path=ppt/notesSlides/_rels/notesSlide3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0.xml"/></Relationships>
</file>

<file path=ppt/notesSlides/_rels/notesSlide3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1.xml"/></Relationships>
</file>

<file path=ppt/notesSlides/_rels/notesSlide3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2.xml"/></Relationships>
</file>

<file path=ppt/notesSlides/_rels/notesSlide3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3.xml"/></Relationships>
</file>

<file path=ppt/notesSlides/_rels/notesSlide3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4.xml"/></Relationships>
</file>

<file path=ppt/notesSlides/_rels/notesSlide3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5.xml"/></Relationships>
</file>

<file path=ppt/notesSlides/_rels/notesSlide3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6.xml"/></Relationships>
</file>

<file path=ppt/notesSlides/_rels/notesSlide3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7.xml"/></Relationships>
</file>

<file path=ppt/notesSlides/_rels/notesSlide3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8.xml"/></Relationships>
</file>

<file path=ppt/notesSlides/_rels/notesSlide3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9.xml"/></Relationships>
</file>

<file path=ppt/notesSlides/_rels/notesSlide3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0.xml"/></Relationships>
</file>

<file path=ppt/notesSlides/_rels/notesSlide3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1.xml"/></Relationships>
</file>

<file path=ppt/notesSlides/_rels/notesSlide3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2.xml"/></Relationships>
</file>

<file path=ppt/notesSlides/_rels/notesSlide3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3.xml"/></Relationships>
</file>

<file path=ppt/notesSlides/_rels/notesSlide3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4.xml"/></Relationships>
</file>

<file path=ppt/notesSlides/_rels/notesSlide3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5.xml"/></Relationships>
</file>

<file path=ppt/notesSlides/_rels/notesSlide3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6.xml"/></Relationships>
</file>

<file path=ppt/notesSlides/_rels/notesSlide3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7.xml"/></Relationships>
</file>

<file path=ppt/notesSlides/_rels/notesSlide3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8.xml"/></Relationships>
</file>

<file path=ppt/notesSlides/_rels/notesSlide3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9.xml"/></Relationships>
</file>

<file path=ppt/notesSlides/_rels/notesSlide3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0.xml"/></Relationships>
</file>

<file path=ppt/notesSlides/_rels/notesSlide3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1.xml"/></Relationships>
</file>

<file path=ppt/notesSlides/_rels/notesSlide3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2.xml"/></Relationships>
</file>

<file path=ppt/notesSlides/_rels/notesSlide3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3.xml"/></Relationships>
</file>

<file path=ppt/notesSlides/_rels/notesSlide3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4.xml"/></Relationships>
</file>

<file path=ppt/notesSlides/_rels/notesSlide3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5.xml"/></Relationships>
</file>

<file path=ppt/notesSlides/_rels/notesSlide3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6.xml"/></Relationships>
</file>

<file path=ppt/notesSlides/_rels/notesSlide3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7.xml"/></Relationships>
</file>

<file path=ppt/notesSlides/_rels/notesSlide3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8.xml"/></Relationships>
</file>

<file path=ppt/notesSlides/_rels/notesSlide3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9.xml"/></Relationships>
</file>

<file path=ppt/notesSlides/_rels/notesSlide3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0.xml"/></Relationships>
</file>

<file path=ppt/notesSlides/_rels/notesSlide3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1.xml"/></Relationships>
</file>

<file path=ppt/notesSlides/_rels/notesSlide3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2.xml"/></Relationships>
</file>

<file path=ppt/notesSlides/_rels/notesSlide3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3.xml"/></Relationships>
</file>

<file path=ppt/notesSlides/_rels/notesSlide3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4.xml"/></Relationships>
</file>

<file path=ppt/notesSlides/_rels/notesSlide3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5.xml"/></Relationships>
</file>

<file path=ppt/notesSlides/_rels/notesSlide3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6.xml"/></Relationships>
</file>

<file path=ppt/notesSlides/_rels/notesSlide3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7.xml"/></Relationships>
</file>

<file path=ppt/notesSlides/_rels/notesSlide3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8.xml"/></Relationships>
</file>

<file path=ppt/notesSlides/_rels/notesSlide3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9.xml"/></Relationships>
</file>

<file path=ppt/notesSlides/_rels/notesSlide3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0.xml"/></Relationships>
</file>

<file path=ppt/notesSlides/_rels/notesSlide3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1.xml"/></Relationships>
</file>

<file path=ppt/notesSlides/_rels/notesSlide3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2.xml"/></Relationships>
</file>

<file path=ppt/notesSlides/_rels/notesSlide3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3.xml"/></Relationships>
</file>

<file path=ppt/notesSlides/_rels/notesSlide3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4.xml"/></Relationships>
</file>

<file path=ppt/notesSlides/_rels/notesSlide3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5.xml"/></Relationships>
</file>

<file path=ppt/notesSlides/_rels/notesSlide3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6.xml"/></Relationships>
</file>

<file path=ppt/notesSlides/_rels/notesSlide3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7.xml"/></Relationships>
</file>

<file path=ppt/notesSlides/_rels/notesSlide3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8.xml"/></Relationships>
</file>

<file path=ppt/notesSlides/_rels/notesSlide3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9.xml"/></Relationships>
</file>

<file path=ppt/notesSlides/_rels/notesSlide3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0.xml"/></Relationships>
</file>

<file path=ppt/notesSlides/_rels/notesSlide3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1.xml"/></Relationships>
</file>

<file path=ppt/notesSlides/_rels/notesSlide3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2.xml"/></Relationships>
</file>

<file path=ppt/notesSlides/_rels/notesSlide3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3.xml"/></Relationships>
</file>

<file path=ppt/notesSlides/_rels/notesSlide3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4.xml"/></Relationships>
</file>

<file path=ppt/notesSlides/_rels/notesSlide3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5.xml"/></Relationships>
</file>

<file path=ppt/notesSlides/_rels/notesSlide3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6.xml"/></Relationships>
</file>

<file path=ppt/notesSlides/_rels/notesSlide3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7.xml"/></Relationships>
</file>

<file path=ppt/notesSlides/_rels/notesSlide3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8.xml"/></Relationships>
</file>

<file path=ppt/notesSlides/_rels/notesSlide3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9.xml"/></Relationships>
</file>

<file path=ppt/notesSlides/_rels/notesSlide3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0.xml"/></Relationships>
</file>

<file path=ppt/notesSlides/_rels/notesSlide3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1.xml"/></Relationships>
</file>

<file path=ppt/notesSlides/_rels/notesSlide3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2.xml"/></Relationships>
</file>

<file path=ppt/notesSlides/_rels/notesSlide3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3.xml"/></Relationships>
</file>

<file path=ppt/notesSlides/_rels/notesSlide3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4.xml"/></Relationships>
</file>

<file path=ppt/notesSlides/_rels/notesSlide3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5.xml"/></Relationships>
</file>

<file path=ppt/notesSlides/_rels/notesSlide3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6.xml"/></Relationships>
</file>

<file path=ppt/notesSlides/_rels/notesSlide3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7.xml"/></Relationships>
</file>

<file path=ppt/notesSlides/_rels/notesSlide3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8.xml"/></Relationships>
</file>

<file path=ppt/notesSlides/_rels/notesSlide3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9.xml"/></Relationships>
</file>

<file path=ppt/notesSlides/_rels/notesSlide3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0.xml"/></Relationships>
</file>

<file path=ppt/notesSlides/_rels/notesSlide3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1.xml"/></Relationships>
</file>

<file path=ppt/notesSlides/_rels/notesSlide3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2.xml"/></Relationships>
</file>

<file path=ppt/notesSlides/_rels/notesSlide3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3.xml"/></Relationships>
</file>

<file path=ppt/notesSlides/_rels/notesSlide3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4.xml"/></Relationships>
</file>

<file path=ppt/notesSlides/_rels/notesSlide3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5.xml"/></Relationships>
</file>

<file path=ppt/notesSlides/_rels/notesSlide3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6.xml"/></Relationships>
</file>

<file path=ppt/notesSlides/_rels/notesSlide3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7.xml"/></Relationships>
</file>

<file path=ppt/notesSlides/_rels/notesSlide3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8.xml"/></Relationships>
</file>

<file path=ppt/notesSlides/_rels/notesSlide3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9.xml"/></Relationships>
</file>

<file path=ppt/notesSlides/_rels/notesSlide3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Portada con los primeros cuatro párrafos completos del resumen de Word. Los grupos de círculos solo representan conservación del número de carbonos.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Esta diapositiva añade instrucciones de uso; no sustituye ningún contenido del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T001. Filas originales 1–2;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P0005, P0006, P0007.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P0008.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P0010, P0011.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P0012, P0013.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Recuadro completo del Word, tabla T002. El texto es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P0015, P0016, P0017, P0018, P0019, P0020.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P0021, P0022, P0023, P0024, P0025, P0026.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P0027, P0028, P0029.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P0031, P0032, P0033, P0034.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P0035.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Inicio de sección; se conserva el encabezado completo del documento de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P0038.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P0039.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P0040.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P0041.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T003. Filas originales 1–2;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T003. Filas originales 3–4;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T003. Filas originales 5–6;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T003. Filas originales 7–7;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Imagen original íntegra del resumen; SHA256 6d4380f3fcbaee40099fbceff794b1faeaaf40aa1c1943c2cc2a360586907a82. Su pie y su explicación están transcritos sin abreviar. La imagen conserva la nitidez disponible en el PDF comprimido.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Figura 11-1. Panorama de las rutas de la glucosa. Fuente: capítulo proporcionado, p. 244 del libro (p. 2 del PDF). Ubicación en esta guía: § 1.3.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Figura 11-1. Panorama de las rutas de la glucosa. Fuente: capítulo proporcionado, p. 244 del libro (p. 2 del PDF). Ubicación en esta guía: § 1.3.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Figura 11-1. Panorama de las rutas de la glucosa. Fuente: capítulo proporcionado, p. 244 del libro (p. 2 del PDF). Ubicación en esta guía: § 1.3.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P0045.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P0046.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P0047.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P0049.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P0050.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T004. Filas originales 1–5;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T004. Filas originales 6–6;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Recuadro completo del Word, tabla T005. El texto es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Inicio de sección; se conserva el encabezado completo del documento de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P0054.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P0055.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P0056.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P0057.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P0059.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P0060.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T006. Filas originales 1–2;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T006. Filas originales 3–5;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T006. Filas originales 6–6;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P0062.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Imagen original íntegra del resumen; SHA256 9391c7f153e960c14451788f6641e9646423eb45725d2f087ac6889e329e952b. Su pie y su explicación están transcritos sin abreviar. La imagen conserva la nitidez disponible en el PDF comprimido.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Figura 11-2. Digestión del almidón y absorción intestinal. Fuente: capítulo proporcionado, p. 247 del libro (p. 5 del PDF). Ubicación en esta guía: § 2.3.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Figura 11-2. Digestión del almidón y absorción intestinal. Fuente: capítulo proporcionado, p. 247 del libro (p. 5 del PDF). Ubicación en esta guía: § 2.3.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Figura 11-2. Digestión del almidón y absorción intestinal. Fuente: capítulo proporcionado, p. 247 del libro (p. 5 del PDF). Ubicación en esta guía: § 2.3.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P0065, P0066.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P0067.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P0069.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T007. Filas originales 1–3;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T007. Filas originales 4–5;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T007. Filas originales 6–7;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P0070.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P0072, P0073.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Recuadro completo del Word, tabla T008. El texto es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P0075, P0076.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P0077.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Inicio de sección; se conserva el encabezado completo del documento de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P0080, P0081.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P0082.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P0084.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P0085.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T009. Filas originales 1–5;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Imagen original íntegra del resumen; SHA256 dfbdd27e5af7050cd07fc18bc018f58a58fa4217d6d442ce68455dbbbd7a1ada. Su pie y su explicación están transcritos sin abreviar. La imagen conserva la nitidez disponible en el PDF comprimido.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P0088.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P0089, P0090.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T010. Filas originales 1–5;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T010. Filas originales 6–9;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P0092, P0093.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P0095, P0096.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T011. Filas originales 1–3;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T011. Filas originales 4–5;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T011. Filas originales 6–6;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Recuadro completo del Word, tabla T012. El texto es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Inicio de sección; se conserva el encabezado completo del documento de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P0099, P0100.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T013. Filas originales 1–4;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T013. Filas originales 5–6;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P0103.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Esquema Q01 redibujado con todos los nombres, grupos químicos y enlaces del modelo del Word. Letras y leyenda &gt;=18 pt; elementos editables. No se ha cambiado la reacción.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P0104.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P0105, P0106.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P0107, P0108.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P0109.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P0111.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Esquema Q02 redibujado con todos los nombres, grupos químicos y enlaces del modelo del Word. Letras y leyenda &gt;=18 pt; elementos editables. No se ha cambiado la reacción.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P0112.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P0113, P0114.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P0115, P0116.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P0117.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P0119.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Esquema Q03 redibujado con todos los nombres, grupos químicos y enlaces del modelo del Word. Letras y leyenda &gt;=18 pt; elementos editables. No se ha cambiado la reacción.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P0120.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P0121, P0122.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P0123, P0124.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P0125.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P0127.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Esquema Q04 redibujado con todos los nombres, grupos químicos y enlaces del modelo del Word. Letras y leyenda &gt;=18 pt; elementos editables. No se ha cambiado la reacción.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P0128.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P0129, P0130.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P0131, P0132.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P0133.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P0135.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Esquema Q05 redibujado con todos los nombres, grupos químicos y enlaces del modelo del Word. Letras y leyenda &gt;=18 pt; elementos editables. No se ha cambiado la reacción.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P0136.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P0137, P0138.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P0139, P0140.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P0141.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P0143.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Esquema Q06 redibujado con todos los nombres, grupos químicos y enlaces del modelo del Word. Letras y leyenda &gt;=18 pt; elementos editables. No se ha cambiado la reacción.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P0144.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P0145, P0146.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P0147, P0148.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P0149.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P0151.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Esquema Q07 redibujado con todos los nombres, grupos químicos y enlaces del modelo del Word. Letras y leyenda &gt;=18 pt; elementos editables. No se ha cambiado la reacción.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P0152.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P0153, P0154.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P0155, P0156.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P0157.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P0159.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Esquema Q08 redibujado con todos los nombres, grupos químicos y enlaces del modelo del Word. Letras y leyenda &gt;=18 pt; elementos editables. No se ha cambiado la reacción.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P0160.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P0161, P0162.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P0163, P0164.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P0165.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P0167.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Esquema Q09 redibujado con todos los nombres, grupos químicos y enlaces del modelo del Word. Letras y leyenda &gt;=18 pt; elementos editables. No se ha cambiado la reacción.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P0168.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P0169, P0170.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P0171, P0172.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P0173.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P0175.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Esquema Q10 redibujado con todos los nombres, grupos químicos y enlaces del modelo del Word. Letras y leyenda &gt;=18 pt; elementos editables. No se ha cambiado la reacción.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P0176.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P0177, P0178.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P0179, P0180.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P0181.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Inicio de sección; se conserva el encabezado completo del documento de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P0184.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T014. Filas originales 1–6;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T014. Filas originales 7–9;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P0185, P0186.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P0187.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P0189, P0190, P0191.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P0192.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Imagen original íntegra del resumen; SHA256 da42c3342c5dc69d254e7ad922cffb6e9985ee05d1f7d02896bf0014726615a4. Su pie y su explicación están transcritos sin abreviar. La imagen conserva la nitidez disponible en el PDF comprimido.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Figura 11-4. Regulación alostérica y hormonal de la glucólisis. Fuente: capítulo proporcionado, p. 252 del libro (p. 10 del PDF). Ubicación en esta guía: § 5.3.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Figura 11-4. Regulación alostérica y hormonal de la glucólisis. Fuente: capítulo proporcionado, p. 252 del libro (p. 10 del PDF). Ubicación en esta guía: § 5.3.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P0195, P0196.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P0197.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T015. Filas originales 1–2;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T015. Filas originales 3–4;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P0198, P0199.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P0201.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T016. Filas originales 1–3;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T016. Filas originales 4–5;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Imagen original íntegra del resumen; SHA256 d4f4158e715714feef230bfb68b45d60d52cc1a9802c261a6a7bef3b69eff168. Su pie y su explicación están transcritos sin abreviar. La imagen conserva la nitidez disponible en el PDF comprimido.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Lámina del recuadro 11-3. Glucoquinasa: compartimentación y secreción de insulina. Fuente: capítulo proporcionado, p. 253 del libro (p. 11 del PDF). Ubicación en esta guía: § 5.4.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Lámina del recuadro 11-3. Glucoquinasa: compartimentación y secreción de insulina. Fuente: capítulo proporcionado, p. 253 del libro (p. 11 del PDF). Ubicación en esta guía: § 5.4.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P0203.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P0204.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P0206, P0207.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Recuadro completo del Word, tabla T017. El texto es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P0209.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P0210, P0211.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Inicio de sección; se conserva el encabezado completo del documento de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P0214.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Imagen original íntegra del resumen; SHA256 e09b2894a7f66e8b5293b9f63e2ce9589ac508218384ef203ab3b322c2570f95. Su pie y su explicación están transcritos sin abreviar. La imagen conserva la nitidez disponible en el PDF comprimido.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Figura 11-5. Entrada de otros monosacáridos en la glucólisis. Fuente: capítulo proporcionado, p. 254 del libro (p. 12 del PDF). Ubicación en esta guía: § 6.1.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Figura 11-5. Entrada de otros monosacáridos en la glucólisis. Fuente: capítulo proporcionado, p. 254 del libro (p. 12 del PDF). Ubicación en esta guía: § 6.1.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Figura 11-5. Entrada de otros monosacáridos en la glucólisis. Fuente: capítulo proporcionado, p. 254 del libro (p. 12 del PDF). Ubicación en esta guía: § 6.1.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P0216.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P0217.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P0219, P0220.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P0221.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P0223.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T018. Filas originales 1–3;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T018. Filas originales 4–4;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P0224.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P0226, P0227.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P0228.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P0229.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T019. Filas originales 1–2;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T019. Filas originales 3–4;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T019. Filas originales 5–5;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P0231.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Inicio de sección; se conserva el encabezado completo del documento de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P0234.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P0235.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P0236.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Recuadro completo del Word, tabla T020. El texto es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Imagen original íntegra del resumen; SHA256 c5be842eb37c130c85ec772b9adc70b5ace4804cf71103fb754d9950affbe790. Su pie y su explicación están transcritos sin abreviar. La imagen conserva la nitidez disponible en el PDF comprimido.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Figura 11-6. Glucólisis frente a gluconeogénesis. Fuente: capítulo proporcionado, p. 256 del libro (p. 14 del PDF). Ubicación en esta guía: § 7.2.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Figura 11-6. Glucólisis frente a gluconeogénesis. Fuente: capítulo proporcionado, p. 256 del libro (p. 14 del PDF). Ubicación en esta guía: § 7.2.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P0239.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P0240, P0241, P0242.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P0243, P0244.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P0245, P0246, P0247.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P0248.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T021. Filas originales 1–4;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T021. Filas originales 5–8;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P0250, P0251.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P0252.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Imagen original íntegra del resumen; SHA256 75f35ee0731d1d4ee7c80fa32a2c0bb950b39473a020bf03550bf5e990e08bb7. Su pie y su explicación están transcritos sin abreviar. La imagen conserva la nitidez disponible en el PDF comprimido.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Figura 11-7. Regulación recíproca y ciclos de sustrato. Fuente: capítulo proporcionado, p. 258 del libro (p. 16 del PDF). Ubicación en esta guía: § 7.4.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Figura 11-7. Regulación recíproca y ciclos de sustrato. Fuente: capítulo proporcionado, p. 258 del libro (p. 16 del PDF). Ubicación en esta guía: § 7.4.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P0255.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P0256.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T022. Filas originales 1–2;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T022. Filas originales 3–4;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P0258.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P0259.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Recuadro completo del Word, tabla T023. El texto es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P0261, P0262.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Inicio de sección; se conserva el encabezado completo del documento de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Imagen original íntegra del resumen; SHA256 281172adf0975cf30bafc1cbf7018bcf4988603cbbe6d8b4a7c17eca31236141. Su pie y su explicación están transcritos sin abreviar. La imagen conserva la nitidez disponible en el PDF comprimido.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Figura 11-8. Ciclo de Cori y ciclo de la glucosa-alanina. Fuente: capítulo proporcionado, p. 259 del libro (p. 17 del PDF). Ubicación en esta guía: § 8.1.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Figura 11-8. Ciclo de Cori y ciclo de la glucosa-alanina. Fuente: capítulo proporcionado, p. 259 del libro (p. 17 del PDF). Ubicación en esta guía: § 8.1.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P0266, P0267.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P0269, P0270.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T024. Filas originales 1–5;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T024. Filas originales 6–6;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P0273, P0274.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T025. Filas originales 1–4;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T025. Filas originales 5–6;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P0275.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Inicio de sección; se conserva el encabezado completo del documento de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P0278.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Imagen original íntegra del resumen; SHA256 5d4d2389241da7cd54ee8b95c1cc178f218e5a90433fc39d9aadb931ecca09dc. Su pie y su explicación están transcritos sin abreviar. La imagen conserva la nitidez disponible en el PDF comprimido.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P0280, P0281.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P0283, P0284.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P0285.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P0287, P0288.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P0289, P0290, P0291.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Imagen original íntegra del resumen; SHA256 8e9ff66e45fff276a507f636e9e12d94001a05a0d1b567caa6ef9da53e9d8c62. Su pie y su explicación están transcritos sin abreviar. La imagen conserva la nitidez disponible en el PDF comprimido.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P0294, P0295.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P0296, P0297.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T026. Filas originales 1–2;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T026. Filas originales 3–3;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P0299.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Recuadro completo del Word, tabla T027. El texto es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T028. Filas originales 1–3;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T028. Filas originales 4–5;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P0300.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Imagen original íntegra del resumen; SHA256 f98d4e251f82dbb4b734cb37f7317800be6ec9c27828e713e0f67955704f0f9a. Su pie y su explicación están transcritos sin abreviar. La imagen conserva la nitidez disponible en el PDF comprimido.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P0303, P0304.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T029. Filas originales 1–3;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T029. Filas originales 4–5;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Inicio de sección; se conserva el encabezado completo del documento de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P0307.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P0308, P0309.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Imagen original íntegra del resumen; SHA256 49986a40dda69bf73019993cbf3428a04f665675f2ac8b1c22dd6d509915013d. Su pie y su explicación están transcritos sin abreviar. La imagen conserva la nitidez disponible en el PDF comprimido.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Figura 11-12. Fases oxidativa y no oxidativa de las pentosas fosfato. Fuente: capítulo proporcionado, p. 263 del libro (p. 21 del PDF). Ubicación en esta guía: § 10.2.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Figura 11-12. Fases oxidativa y no oxidativa de las pentosas fosfato. Fuente: capítulo proporcionado, p. 263 del libro (p. 21 del PDF). Ubicación en esta guía: § 10.2.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Figura 11-12. Fases oxidativa y no oxidativa de las pentosas fosfato. Fuente: capítulo proporcionado, p. 263 del libro (p. 21 del PDF). Ubicación en esta guía: § 10.2.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P0312, P0313.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T030. Filas originales 1–3;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P0315, P0316.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P0318.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T031. Filas originales 1–2;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T031. Filas originales 3–3;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P0319, P0320.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P0321, P0322.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P0324, P0325.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P0326, P0327.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P0329.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P0330.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T032. Filas originales 1–5;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Inicio de sección; se conserva el encabezado completo del documento de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P0334.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P0335.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P0336.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T033. Filas originales 1–3;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T033. Filas originales 4–6;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P0338, P0339.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P0340, P0341, P0342.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Imagen original íntegra del resumen; SHA256 2620b0ea38411e7c4466aa83eb21b1492b5bd607d95105056d8069f839e73719. Su pie y su explicación están transcritos sin abreviar. La imagen conserva la nitidez disponible en el PDF comprimido.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Figura 11-13. Activación de la glucosa como UDP-glucosa. Fuente: capítulo proporcionado, p. 266 del libro (p. 24 del PDF). Ubicación en esta guía: § 11.2.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Figura 11-13. Activación de la glucosa como UDP-glucosa. Fuente: capítulo proporcionado, p. 266 del libro (p. 24 del PDF). Ubicación en esta guía: § 11.2.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P0344, P0345.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P0346.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P0348, P0349.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Imagen original íntegra del resumen; SHA256 8854ce91a5830393a06024fcd4793f652e0e54b16226a085d2c28a78b66878d9. Su pie y su explicación están transcritos sin abreviar. La imagen conserva la nitidez disponible en el PDF comprimido.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P0351, P0352.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T034. Filas originales 1–6;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P0355, P0356.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P0357.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Imagen original íntegra del resumen; SHA256 9352c1b18c19bbd7309367bd362f126714e85ed0d4ca6bbc0240d4d58a17d052. Su pie y su explicación están transcritos sin abreviar. La imagen conserva la nitidez disponible en el PDF comprimido.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P0359, P0360.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P0361.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T035. Filas originales 1–5;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T035. Filas originales 6–8;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P0363, P0364.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Imagen original íntegra del resumen; SHA256 018af92da1fd35400c1b45c3351b0724a53609e3649ae46e14605c32601e03ac. Su pie y su explicación están transcritos sin abreviar. La imagen conserva la nitidez disponible en el PDF comprimido.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P0367.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P0368.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P0369.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P0370.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Recuadro completo del Word, tabla T036. El texto es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P0372.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P0373.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Inicio de sección; se conserva el encabezado completo del documento de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P0376.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P0377.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P0378.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T037. Filas originales 1–2;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T037. Filas originales 3–4;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T037. Filas originales 5–5;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T038. Filas originales 1–4;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T038. Filas originales 5–8;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T038. Filas originales 9–9;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T039. Filas originales 1–3;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T039. Filas originales 4–6;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T039. Filas originales 7–9;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T039. Filas originales 10–12;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P0381.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Imagen original íntegra del resumen; SHA256 07c5dbac37bd6db663c97dfdb7cace9b902f096a0d42e6e625b293a194420266. Su pie y su explicación están transcritos sin abreviar. La imagen conserva la nitidez disponible en el PDF comprimido.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Lámina de integración A. Esquema original de regulación hormonal. Fuente: capítulo proporcionado, p. 270 del libro (p. 28 del PDF). Ubicación en esta guía: § 12.4.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Lámina de integración A. Esquema original de regulación hormonal. Fuente: capítulo proporcionado, p. 270 del libro (p. 28 del PDF). Ubicación en esta guía: § 12.4.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P0384, P0385.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Imagen original íntegra del resumen; SHA256 4450ee55d802d668702c1178594f2cbd81608506f833df626b69a23a0d14c845. Su pie y su explicación están transcritos sin abreviar. La imagen conserva la nitidez disponible en el PDF comprimido.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Lámina de integración B. Esquema original de regulación alostérica. Fuente: capítulo proporcionado, p. 270 del libro (p. 28 del PDF). Ubicación en esta guía: § 12.4.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Recorte adicional para lectura; no reemplaza ni modifica la imagen original. Fuente: Lámina de integración B. Esquema original de regulación alostérica. Fuente: capítulo proporcionado, p. 270 del libro (p. 28 del PDF). Ubicación en esta guía: § 12.4. Imagen original recortada, no redibujada.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P0387.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P0388.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P0390, P0391, P0392, P0393, P0394.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P0395, P0396, P0397, P0398, P0399.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P0400, P0401, P0402, P0403.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P0404, P0405, P0406, P0407.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P0408, P0409.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Inicio de sección; se conserva el encabezado completo del documento de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P0412, P0413, P0414, P0415.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P0416, P0417, P0418, P0419.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P0420, P0421, P0422, P0423.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P0425, P0426.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P0427, P0428, P0429.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P0430, P0431.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P0432, P0433.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P0434, P0435, P0436.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P0438, P0439.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P0441, P0442.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P0444, P0445.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P0447, P0448.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P0450, P0451.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P0453, P0454.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P0456, P0457.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Inicio de sección; se conserva el encabezado completo del documento de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T040. Filas originales 1–4;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T040. Filas originales 5–9;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T040. Filas originales 10–14;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T040. Filas originales 15–19;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T040. Filas originales 20–24;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T040. Filas originales 25–29;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T040. Filas originales 30–34;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T040. Filas originales 35–35;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P0461.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P0462.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P0463.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P0464.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Inicio de sección; se conserva el encabezado completo del documento de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P0467.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T041. Filas originales 1–2;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T041. Filas originales 3–4;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T041. Filas originales 5–6;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T041. Filas originales 7–9;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T041. Filas originales 10–11;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T041. Filas originales 12–13;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T041. Filas originales 14–16;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T041. Filas originales 17–18;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Cuadro nativo y editable de Word T041. Filas originales 19–19; encabezados repetidos para comprensión. No se elimina ninguna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P0468.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P0470, P0471.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P0473, P0474.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P0475, P0476, P0477.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P0479, P0480.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rPr sz="1800">
                <a:latin typeface="Arial"/>
              </a:rPr>
              <a:t>Transcripción literal de unidades del Word: P0481. El ajuste es únicamente de paginación y tipografía; no se ha condensado 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slide" Target="slide14.xml"/><Relationship Id="rId4" Type="http://schemas.openxmlformats.org/officeDocument/2006/relationships/slide" Target="slide35.xml"/><Relationship Id="rId5" Type="http://schemas.openxmlformats.org/officeDocument/2006/relationships/slide" Target="slide61.xml"/><Relationship Id="rId6" Type="http://schemas.openxmlformats.org/officeDocument/2006/relationships/slide" Target="slide78.xml"/><Relationship Id="rId7" Type="http://schemas.openxmlformats.org/officeDocument/2006/relationships/slide" Target="slide142.xml"/><Relationship Id="rId8" Type="http://schemas.openxmlformats.org/officeDocument/2006/relationships/slide" Target="slide17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slide" Target="slide191.xml"/><Relationship Id="rId4" Type="http://schemas.openxmlformats.org/officeDocument/2006/relationships/slide" Target="slide219.xml"/><Relationship Id="rId5" Type="http://schemas.openxmlformats.org/officeDocument/2006/relationships/slide" Target="slide231.xml"/><Relationship Id="rId6" Type="http://schemas.openxmlformats.org/officeDocument/2006/relationships/slide" Target="slide253.xml"/><Relationship Id="rId7" Type="http://schemas.openxmlformats.org/officeDocument/2006/relationships/slide" Target="slide273.xml"/><Relationship Id="rId8" Type="http://schemas.openxmlformats.org/officeDocument/2006/relationships/slide" Target="slide30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slide" Target="slide335.xml"/><Relationship Id="rId4" Type="http://schemas.openxmlformats.org/officeDocument/2006/relationships/slide" Target="slide351.xml"/><Relationship Id="rId5" Type="http://schemas.openxmlformats.org/officeDocument/2006/relationships/slide" Target="slide36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io.libretexts.org/Bookshelves/Biochemistry/Fundamentals_of_Biochemistry_(Jakubowski_and_Flatt)/02:_Unit_II-_Bioenergetics_and_Metabolism/13:_Glycolysis_Gluconeogenesis_and_the_Pentose_Phosphate_Pathway/13.01:_Glycolysis" TargetMode="External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7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7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cbi.nlm.nih.gov/sites/books/NBK541119/" TargetMode="External"/><Relationship Id="rId3" Type="http://schemas.openxmlformats.org/officeDocument/2006/relationships/notesSlide" Target="../notesSlides/notesSlide195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196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9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98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9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0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3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4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5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6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3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4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5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6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8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9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20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21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22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3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4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5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6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8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9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0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1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33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4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8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0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1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4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uweb2.gonzaga.edu/faculty/cronk/CHEM245pub/L26.html" TargetMode="External"/><Relationship Id="rId3" Type="http://schemas.openxmlformats.org/officeDocument/2006/relationships/notesSlide" Target="../notesSlides/notesSlide245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6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8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249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0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1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2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3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4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5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256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25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258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259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0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1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2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3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4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5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6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8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9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0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1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2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3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4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5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6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8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9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0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281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282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283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4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5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6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28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8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9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0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1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292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3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4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5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6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298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9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0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1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2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3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4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5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6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8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9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0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1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2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3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4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5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6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8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9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0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321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322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323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4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325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326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32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8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9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0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1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2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3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4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5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6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8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9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0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1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2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3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4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5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6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8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9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0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1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2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3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4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5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6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8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9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0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1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2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3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4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5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6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8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9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0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1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2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3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4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5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clasescastillejos-source/CAP.11.METABOLISMO-DE-CARBOHIDRATOS/blob/main/CAP.11.METABOLISMO%20DE%20CARBOHIDRATOS_compressed.pdf" TargetMode="External"/><Relationship Id="rId3" Type="http://schemas.openxmlformats.org/officeDocument/2006/relationships/notesSlide" Target="../notesSlides/notesSlide376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io.libretexts.org/Bookshelves/Biochemistry/Fundamentals_of_Biochemistry_(Jakubowski_and_Flatt)/02:_Unit_II-_Bioenergetics_and_Metabolism/13:_Glycolysis_Gluconeogenesis_and_the_Pentose_Phosphate_Pathway/13.01:_Glycolysis" TargetMode="External"/><Relationship Id="rId3" Type="http://schemas.openxmlformats.org/officeDocument/2006/relationships/hyperlink" Target="https://www.ncbi.nlm.nih.gov/sites/books/NBK541119/" TargetMode="External"/><Relationship Id="rId4" Type="http://schemas.openxmlformats.org/officeDocument/2006/relationships/notesSlide" Target="../notesSlides/notesSlide37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uweb2.gonzaga.edu/faculty/cronk/CHEM245pub/L26.html" TargetMode="External"/><Relationship Id="rId3" Type="http://schemas.openxmlformats.org/officeDocument/2006/relationships/hyperlink" Target="https://medlineplus.gov/genetics/gene/slc37a4/" TargetMode="External"/><Relationship Id="rId4" Type="http://schemas.openxmlformats.org/officeDocument/2006/relationships/notesSlide" Target="../notesSlides/notesSlide378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9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3358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5" name="FUENTE__P0001__0__24"/>
          <p:cNvSpPr txBox="1"/>
          <p:nvPr/>
        </p:nvSpPr>
        <p:spPr>
          <a:xfrm>
            <a:off x="584200" y="342900"/>
            <a:ext cx="11023600" cy="2895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A6E7E7"/>
                </a:solidFill>
                <a:latin typeface="Arial"/>
              </a:rPr>
              <a:t>BIOQUÍMICA · CAPÍTULO 11</a:t>
            </a:r>
          </a:p>
        </p:txBody>
      </p:sp>
      <p:sp>
        <p:nvSpPr>
          <p:cNvPr id="6" name="FUENTE__P0002__0__38"/>
          <p:cNvSpPr txBox="1"/>
          <p:nvPr/>
        </p:nvSpPr>
        <p:spPr>
          <a:xfrm>
            <a:off x="584200" y="1089660"/>
            <a:ext cx="11023600" cy="1155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4000">
                <a:latin typeface="Arial"/>
              </a:defRPr>
            </a:pPr>
            <a:r>
              <a:rPr sz="4000" b="1" lang="es-MX">
                <a:solidFill>
                  <a:srgbClr val="FFFFFF"/>
                </a:solidFill>
                <a:latin typeface="Arial"/>
              </a:rPr>
              <a:t>METABOLISMO DE LOS HIDRATOS DE</a:t>
            </a:r>
            <a:br/>
            <a:r>
              <a:rPr sz="4000" b="1" lang="es-MX">
                <a:solidFill>
                  <a:srgbClr val="FFFFFF"/>
                </a:solidFill>
                <a:latin typeface="Arial"/>
              </a:rPr>
              <a:t>CARBONO</a:t>
            </a:r>
          </a:p>
        </p:txBody>
      </p:sp>
      <p:sp>
        <p:nvSpPr>
          <p:cNvPr id="7" name="FUENTE__P0003__0__53"/>
          <p:cNvSpPr txBox="1"/>
          <p:nvPr/>
        </p:nvSpPr>
        <p:spPr>
          <a:xfrm>
            <a:off x="584200" y="2626360"/>
            <a:ext cx="11023600" cy="3733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400">
                <a:latin typeface="Arial"/>
              </a:defRPr>
            </a:pPr>
            <a:r>
              <a:rPr sz="2400" b="1" lang="es-MX">
                <a:solidFill>
                  <a:srgbClr val="5DE2D2"/>
                </a:solidFill>
                <a:latin typeface="Arial"/>
              </a:rPr>
              <a:t>Resumen extenso, explicado y orientado al aprendizaje</a:t>
            </a:r>
          </a:p>
        </p:txBody>
      </p:sp>
      <p:sp>
        <p:nvSpPr>
          <p:cNvPr id="8" name="FUENTE__P0004__0__129"/>
          <p:cNvSpPr txBox="1"/>
          <p:nvPr/>
        </p:nvSpPr>
        <p:spPr>
          <a:xfrm>
            <a:off x="584200" y="3317240"/>
            <a:ext cx="11023600" cy="6527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20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DDEBF0"/>
                </a:solidFill>
                <a:latin typeface="Arial"/>
              </a:rPr>
              <a:t>Énfasis especial en la glucólisis:</a:t>
            </a:r>
            <a:r>
              <a:rPr sz="2200" b="0" lang="es-MX">
                <a:solidFill>
                  <a:srgbClr val="DDEBF0"/>
                </a:solidFill>
                <a:latin typeface="Arial"/>
              </a:rPr>
              <a:t> diez reacciones, estructuras, enzimas,</a:t>
            </a:r>
            <a:br/>
            <a:r>
              <a:rPr sz="2200" b="0" lang="es-MX">
                <a:solidFill>
                  <a:srgbClr val="DDEBF0"/>
                </a:solidFill>
                <a:latin typeface="Arial"/>
              </a:rPr>
              <a:t>coenzimas, cofactores, regulación y balance energético.</a:t>
            </a:r>
          </a:p>
        </p:txBody>
      </p:sp>
      <p:sp>
        <p:nvSpPr>
          <p:cNvPr id="9" name="Oval 8"/>
          <p:cNvSpPr/>
          <p:nvPr/>
        </p:nvSpPr>
        <p:spPr>
          <a:xfrm>
            <a:off x="584200" y="5435600"/>
            <a:ext cx="342900" cy="342900"/>
          </a:xfrm>
          <a:prstGeom prst="ellipse">
            <a:avLst/>
          </a:prstGeom>
          <a:solidFill>
            <a:srgbClr val="285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4200" y="5461000"/>
            <a:ext cx="3429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1079500" y="5435600"/>
            <a:ext cx="342900" cy="342900"/>
          </a:xfrm>
          <a:prstGeom prst="ellipse">
            <a:avLst/>
          </a:prstGeom>
          <a:solidFill>
            <a:srgbClr val="285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9500" y="5461000"/>
            <a:ext cx="3429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1574800" y="5435600"/>
            <a:ext cx="342900" cy="342900"/>
          </a:xfrm>
          <a:prstGeom prst="ellipse">
            <a:avLst/>
          </a:prstGeom>
          <a:solidFill>
            <a:srgbClr val="285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74800" y="5461000"/>
            <a:ext cx="3429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Oval 14"/>
          <p:cNvSpPr/>
          <p:nvPr/>
        </p:nvSpPr>
        <p:spPr>
          <a:xfrm>
            <a:off x="2070100" y="5435600"/>
            <a:ext cx="342900" cy="342900"/>
          </a:xfrm>
          <a:prstGeom prst="ellipse">
            <a:avLst/>
          </a:prstGeom>
          <a:solidFill>
            <a:srgbClr val="285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70100" y="5461000"/>
            <a:ext cx="3429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7" name="Oval 16"/>
          <p:cNvSpPr/>
          <p:nvPr/>
        </p:nvSpPr>
        <p:spPr>
          <a:xfrm>
            <a:off x="2565400" y="5435600"/>
            <a:ext cx="342900" cy="342900"/>
          </a:xfrm>
          <a:prstGeom prst="ellipse">
            <a:avLst/>
          </a:prstGeom>
          <a:solidFill>
            <a:srgbClr val="285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5400" y="5461000"/>
            <a:ext cx="3429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9" name="Oval 18"/>
          <p:cNvSpPr/>
          <p:nvPr/>
        </p:nvSpPr>
        <p:spPr>
          <a:xfrm>
            <a:off x="3060700" y="5435600"/>
            <a:ext cx="342900" cy="342900"/>
          </a:xfrm>
          <a:prstGeom prst="ellipse">
            <a:avLst/>
          </a:prstGeom>
          <a:solidFill>
            <a:srgbClr val="285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0700" y="5461000"/>
            <a:ext cx="3429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75100" y="5613400"/>
            <a:ext cx="1422400" cy="0"/>
          </a:xfrm>
          <a:prstGeom prst="line">
            <a:avLst/>
          </a:prstGeom>
          <a:ln w="35560">
            <a:solidFill>
              <a:srgbClr val="55DC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994400" y="5435600"/>
            <a:ext cx="342900" cy="342900"/>
          </a:xfrm>
          <a:prstGeom prst="ellipse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94400" y="5461000"/>
            <a:ext cx="3429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24" name="Oval 23"/>
          <p:cNvSpPr/>
          <p:nvPr/>
        </p:nvSpPr>
        <p:spPr>
          <a:xfrm>
            <a:off x="6489700" y="5435600"/>
            <a:ext cx="342900" cy="342900"/>
          </a:xfrm>
          <a:prstGeom prst="ellipse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9700" y="5461000"/>
            <a:ext cx="3429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26" name="Oval 25"/>
          <p:cNvSpPr/>
          <p:nvPr/>
        </p:nvSpPr>
        <p:spPr>
          <a:xfrm>
            <a:off x="6985000" y="5435600"/>
            <a:ext cx="342900" cy="342900"/>
          </a:xfrm>
          <a:prstGeom prst="ellipse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5000" y="5461000"/>
            <a:ext cx="3429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28" name="Oval 27"/>
          <p:cNvSpPr/>
          <p:nvPr/>
        </p:nvSpPr>
        <p:spPr>
          <a:xfrm>
            <a:off x="8191500" y="5435600"/>
            <a:ext cx="342900" cy="342900"/>
          </a:xfrm>
          <a:prstGeom prst="ellipse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1500" y="5461000"/>
            <a:ext cx="3429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0" y="5435600"/>
            <a:ext cx="342900" cy="342900"/>
          </a:xfrm>
          <a:prstGeom prst="ellipse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5461000"/>
            <a:ext cx="3429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32" name="Oval 31"/>
          <p:cNvSpPr/>
          <p:nvPr/>
        </p:nvSpPr>
        <p:spPr>
          <a:xfrm>
            <a:off x="9182100" y="5435600"/>
            <a:ext cx="342900" cy="342900"/>
          </a:xfrm>
          <a:prstGeom prst="ellipse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2100" y="5461000"/>
            <a:ext cx="3429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001 / 380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Cómo está organizada esta presentación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12136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689100"/>
            <a:ext cx="106680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Se conserva íntegramente la información del resumen de Word: párrafos,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celdas de cuadros, explicaciones de imágenes, balances, referencias,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glosario y ejercicios. No se han reemplazado por versiones abreviadas.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4200" y="3352800"/>
            <a:ext cx="11023600" cy="15377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3454400"/>
            <a:ext cx="106680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El texto editable utiliza tamaños de 18 puntos o mayores. La información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se distribuye en tantas diapositivas como requiere su lectura. Las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indicaciones de formato del Word original se mantienen como datos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ese documento, no como el formato de esta presentación.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4200" y="5092700"/>
            <a:ext cx="11023600" cy="1125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5194300"/>
            <a:ext cx="10668000" cy="9220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>
                <a:latin typeface="Arial"/>
              </a:defRPr>
            </a:pPr>
            <a:r>
              <a:rPr sz="2000" b="0" lang="es-MX">
                <a:solidFill>
                  <a:srgbClr val="243C4C"/>
                </a:solidFill>
                <a:latin typeface="Arial"/>
              </a:rPr>
              <a:t>Las imágenes originales del libro se conservan y se acompañan de vistas</a:t>
            </a:r>
            <a:br/>
            <a:r>
              <a:rPr sz="2000" b="0" lang="es-MX">
                <a:solidFill>
                  <a:srgbClr val="243C4C"/>
                </a:solidFill>
                <a:latin typeface="Arial"/>
              </a:rPr>
              <a:t>ampliadas. Su nitidez sigue limitada por el PDF comprimido. Los diez esquemas</a:t>
            </a:r>
            <a:br/>
            <a:r>
              <a:rPr sz="2000" b="0" lang="es-MX">
                <a:solidFill>
                  <a:srgbClr val="243C4C"/>
                </a:solidFill>
                <a:latin typeface="Arial"/>
              </a:rPr>
              <a:t>químicos se reconstruyen como elementos editables y legibles.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002 / 380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Datos introductorios del resumen original de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Word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01__1"/>
          <p:cNvGraphicFramePr>
            <a:graphicFrameLocks noGrp="1"/>
          </p:cNvGraphicFramePr>
          <p:nvPr/>
        </p:nvGraphicFramePr>
        <p:xfrm>
          <a:off x="584200" y="1881124"/>
          <a:ext cx="11023600" cy="180593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27552"/>
                <a:gridCol w="7496048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IDEA CENTRAL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RESULTADO DE LA GLUCÓLISIS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1 glucosa de 6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carbonos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→ 2 piruvatos de 3 carbonos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Balance neto de la vía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2 ATP + 2 NADH por glucosa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003 / 380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Datos introductorios del resumen original de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Word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239011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05__0__199"/>
          <p:cNvSpPr txBox="1"/>
          <p:nvPr/>
        </p:nvSpPr>
        <p:spPr>
          <a:xfrm>
            <a:off x="800100" y="1995424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Incluye las 16 figuras numeradas del libro, tres láminas complementarias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del capítulo y diez esquemas químicos propios de alta resolución. Los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cuadros comparativos y sinópticos son editables en Word.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272536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272536"/>
            <a:ext cx="50800" cy="1239011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006__0__127"/>
          <p:cNvSpPr txBox="1"/>
          <p:nvPr/>
        </p:nvSpPr>
        <p:spPr>
          <a:xfrm>
            <a:off x="800100" y="3386836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Fuente principal: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archivo «CAP.11.METABOLISMO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CARBOHIDRATOS_compressed.pdf», páginas 243–270 del libro (28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páginas del PDF).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4200" y="4663948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4200" y="4663948"/>
            <a:ext cx="50800" cy="914907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UENTE__P0007__0__98"/>
          <p:cNvSpPr txBox="1"/>
          <p:nvPr/>
        </p:nvSpPr>
        <p:spPr>
          <a:xfrm>
            <a:off x="800100" y="4778248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Formato: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A4 · texto, títulos, cuadros y pies de 14 puntos · elaboración: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30 de septiembre de 2026.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004 / 380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Datos introductorios del resumen original de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Word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914907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08__0__93"/>
          <p:cNvSpPr txBox="1"/>
          <p:nvPr/>
        </p:nvSpPr>
        <p:spPr>
          <a:xfrm>
            <a:off x="800100" y="1995424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Material de estudio. No sustituye al capítulo original ni a la orientación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docente o clínica.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005 / 380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009__0__23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Cómo utilizar esta guía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10__0__355"/>
          <p:cNvSpPr txBox="1"/>
          <p:nvPr/>
        </p:nvSpPr>
        <p:spPr>
          <a:xfrm>
            <a:off x="800100" y="1701800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Este documento desarrolla el capítulo 11, «Metabolismo de los hidratos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carbono», y conserva sus grandes temas: digestión, glucólisis,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gluconeogénesis, destinos del piruvato, pentosas fosfato y metabolismo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del glucógeno. No es una transcripción: reorganiza las ideas, explica las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relaciones y añade apoyos para comprender la lógica química de las rutas.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627120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627120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011__0__348"/>
          <p:cNvSpPr txBox="1"/>
          <p:nvPr/>
        </p:nvSpPr>
        <p:spPr>
          <a:xfrm>
            <a:off x="800100" y="3741420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Ruta de lectura recomendada: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comience por el panorama general y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digestión; estudie después las dos fases de la glucólisis y sus diez fichas;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compruebe el balance energético; finalmente, conecte la vía con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síntesis de glucosa, el piruvato, las pentosas y el glucógeno. Al terminar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cada apartado, intente explicar el proceso sin mirar el texto.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006 / 380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Cómo utilizar esta guía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12__0__333"/>
          <p:cNvSpPr txBox="1"/>
          <p:nvPr/>
        </p:nvSpPr>
        <p:spPr>
          <a:xfrm>
            <a:off x="800100" y="1701800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Cómo están identificados los recursos: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las figuras 11-1 a 11-16 son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imágenes originales del capítulo. Q01 a Q10 son esquemas químicos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propios, preparados para esta guía. Los cuadros comparativos y los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cuadros sinópticos son tablas nativas de Word: puede cambiar sus textos,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añadir filas y reorganizarlos sin convertirlos en imágenes.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627120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627120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013__0__404"/>
          <p:cNvSpPr txBox="1"/>
          <p:nvPr/>
        </p:nvSpPr>
        <p:spPr>
          <a:xfrm>
            <a:off x="800100" y="3741420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Origen y alcance: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se utilizó íntegramente el PDF del repositorio, con 28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páginas que corresponden a las páginas impresas 243–270. El archivo no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contiene la portada bibliográfica completa del libro; por ello, no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atribuyen autores, editorial ni edición que no estén verificados. Las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ampliaciones mecanísticas y las precisiones científicas se distinguen del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resumen del capítulo y se documentan al final.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007 / 380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Cómo utilizar esta guía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2986532"/>
          </a:xfrm>
          <a:prstGeom prst="roundRect">
            <a:avLst>
              <a:gd name="adj" fmla="val 8000"/>
            </a:avLst>
          </a:prstGeom>
          <a:solidFill>
            <a:srgbClr val="E6F1F2"/>
          </a:solidFill>
          <a:ln w="8890">
            <a:solidFill>
              <a:srgbClr val="80B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UENTE__T002R000C00__0__476"/>
          <p:cNvSpPr txBox="1"/>
          <p:nvPr/>
        </p:nvSpPr>
        <p:spPr>
          <a:xfrm>
            <a:off x="812800" y="1765300"/>
            <a:ext cx="10566400" cy="26309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Acerca de la resolución de las imágenes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Las figuras originales proceden de un PDF comprimido y conservan las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limitaciones de nitidez de ese archivo. Se recortan y exportan a 300 ppp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para su inserción, pero este procedimiento no recupera detalles que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compresión haya eliminado. Para apoyar la lectura se añaden diez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esquemas químicos nuevos de alta resolución y explicaciones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completamente editables. No se presentan imágenes redibujadas como si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fueran originales del libro.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008 / 380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014__0__19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Índice de secciones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15__0__56">
            <a:hlinkClick action="ppaction://hlinksldjump" r:id="rId3"/>
          </p:cNvPr>
          <p:cNvSpPr txBox="1"/>
          <p:nvPr/>
        </p:nvSpPr>
        <p:spPr>
          <a:xfrm>
            <a:off x="800100" y="1701800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1. Panorama general del metabolismo de los carbohidratos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2330704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2330704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016__0__57">
            <a:hlinkClick action="ppaction://hlinksldjump" r:id="rId4"/>
          </p:cNvPr>
          <p:cNvSpPr txBox="1"/>
          <p:nvPr/>
        </p:nvSpPr>
        <p:spPr>
          <a:xfrm>
            <a:off x="800100" y="2445004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2. Digestión y absorción de los carbohidratos de la dieta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4200" y="3073907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4200" y="3073907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UENTE__P0017__0__43">
            <a:hlinkClick action="ppaction://hlinksldjump" r:id="rId5"/>
          </p:cNvPr>
          <p:cNvSpPr txBox="1"/>
          <p:nvPr/>
        </p:nvSpPr>
        <p:spPr>
          <a:xfrm>
            <a:off x="800100" y="3188207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3. Glucólisis: conceptos y lógica de la vía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4200" y="3817111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4200" y="3817111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UENTE__P0018__0__63">
            <a:hlinkClick action="ppaction://hlinksldjump" r:id="rId6"/>
          </p:cNvPr>
          <p:cNvSpPr txBox="1"/>
          <p:nvPr/>
        </p:nvSpPr>
        <p:spPr>
          <a:xfrm>
            <a:off x="800100" y="3931411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4. Las diez reacciones de la glucólisis, explicadas paso a paso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4200" y="4560315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4200" y="4560315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UENTE__P0019__0__51">
            <a:hlinkClick action="ppaction://hlinksldjump" r:id="rId7"/>
          </p:cNvPr>
          <p:cNvSpPr txBox="1"/>
          <p:nvPr/>
        </p:nvSpPr>
        <p:spPr>
          <a:xfrm>
            <a:off x="800100" y="4674615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5. Balance energético y regulación de la glucólisis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4200" y="5303519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4200" y="5303519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UENTE__P0020__0__50">
            <a:hlinkClick action="ppaction://hlinksldjump" r:id="rId8"/>
          </p:cNvPr>
          <p:cNvSpPr txBox="1"/>
          <p:nvPr/>
        </p:nvSpPr>
        <p:spPr>
          <a:xfrm>
            <a:off x="800100" y="5417819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6. Entrada de otros monosacáridos en la glucólisis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009 / 380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Índice de secciones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21__0__54">
            <a:hlinkClick action="ppaction://hlinksldjump" r:id="rId3"/>
          </p:cNvPr>
          <p:cNvSpPr txBox="1"/>
          <p:nvPr/>
        </p:nvSpPr>
        <p:spPr>
          <a:xfrm>
            <a:off x="800100" y="1701800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7. Gluconeogénesis: fabricar glucosa cuando hace falta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2330704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2330704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022__0__46">
            <a:hlinkClick action="ppaction://hlinksldjump" r:id="rId4"/>
          </p:cNvPr>
          <p:cNvSpPr txBox="1"/>
          <p:nvPr/>
        </p:nvSpPr>
        <p:spPr>
          <a:xfrm>
            <a:off x="800100" y="2445004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8. Ciclo de Cori y ciclo de la glucosa-alanina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4200" y="3073907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4200" y="3073907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UENTE__P0023__0__59">
            <a:hlinkClick action="ppaction://hlinksldjump" r:id="rId5"/>
          </p:cNvPr>
          <p:cNvSpPr txBox="1"/>
          <p:nvPr/>
        </p:nvSpPr>
        <p:spPr>
          <a:xfrm>
            <a:off x="800100" y="3188207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9. Destinos del piruvato y complejo piruvato deshidrogenasa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4200" y="3817111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4200" y="3817111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UENTE__P0024__0__32">
            <a:hlinkClick action="ppaction://hlinksldjump" r:id="rId6"/>
          </p:cNvPr>
          <p:cNvSpPr txBox="1"/>
          <p:nvPr/>
        </p:nvSpPr>
        <p:spPr>
          <a:xfrm>
            <a:off x="800100" y="3931411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10. Ruta de las pentosas fosfato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4200" y="4560315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4200" y="4560315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UENTE__P0025__0__29">
            <a:hlinkClick action="ppaction://hlinksldjump" r:id="rId7"/>
          </p:cNvPr>
          <p:cNvSpPr txBox="1"/>
          <p:nvPr/>
        </p:nvSpPr>
        <p:spPr>
          <a:xfrm>
            <a:off x="800100" y="4674615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11. Metabolismo del glucógeno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4200" y="5303519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4200" y="5303519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UENTE__P0026__0__62">
            <a:hlinkClick action="ppaction://hlinksldjump" r:id="rId8"/>
          </p:cNvPr>
          <p:cNvSpPr txBox="1"/>
          <p:nvPr/>
        </p:nvSpPr>
        <p:spPr>
          <a:xfrm>
            <a:off x="800100" y="5417819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12. Integración del metabolismo y cuadros sinópticos editables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010 / 380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Índice de secciones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27__0__41">
            <a:hlinkClick action="ppaction://hlinksldjump" r:id="rId3"/>
          </p:cNvPr>
          <p:cNvSpPr txBox="1"/>
          <p:nvPr/>
        </p:nvSpPr>
        <p:spPr>
          <a:xfrm>
            <a:off x="800100" y="1701800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13. Autoevaluación y ejercicios resueltos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2330704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2330704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028__0__38">
            <a:hlinkClick action="ppaction://hlinksldjump" r:id="rId4"/>
          </p:cNvPr>
          <p:cNvSpPr txBox="1"/>
          <p:nvPr/>
        </p:nvSpPr>
        <p:spPr>
          <a:xfrm>
            <a:off x="800100" y="2445004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14. Glosario y precisiones científicas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4200" y="3073907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4200" y="3073907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UENTE__P0029__0__36">
            <a:hlinkClick action="ppaction://hlinksldjump" r:id="rId5"/>
          </p:cNvPr>
          <p:cNvSpPr txBox="1"/>
          <p:nvPr/>
        </p:nvSpPr>
        <p:spPr>
          <a:xfrm>
            <a:off x="800100" y="3188207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15. Índice de imágenes y referencias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011 / 380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030__0__24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Objetivos de aprendizaje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914907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31__0__94"/>
          <p:cNvSpPr txBox="1"/>
          <p:nvPr/>
        </p:nvSpPr>
        <p:spPr>
          <a:xfrm>
            <a:off x="800100" y="1701800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Identificar qué obtiene la célula de cada ruta: ATP, NADH, NADPH,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glucosa, ribosa o glucógeno.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2654808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2654808"/>
            <a:ext cx="50800" cy="1239011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032__0__142"/>
          <p:cNvSpPr txBox="1"/>
          <p:nvPr/>
        </p:nvSpPr>
        <p:spPr>
          <a:xfrm>
            <a:off x="800100" y="2769108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Explicar cada reacción glucolítica mediante cuatro preguntas: ¿qué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cambia?, ¿qué enzima actúa?, ¿qué necesita? y ¿qué gana o pierde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célula?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4200" y="4046219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4200" y="4046219"/>
            <a:ext cx="50800" cy="914907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UENTE__P0033__0__107"/>
          <p:cNvSpPr txBox="1"/>
          <p:nvPr/>
        </p:nvSpPr>
        <p:spPr>
          <a:xfrm>
            <a:off x="800100" y="4160519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Reconocer los tres pasos irreversibles de la glucólisis y las enzimas que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los evitan en la gluconeogénesis.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4200" y="5113528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4200" y="5113528"/>
            <a:ext cx="50800" cy="914907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UENTE__P0034__0__118"/>
          <p:cNvSpPr txBox="1"/>
          <p:nvPr/>
        </p:nvSpPr>
        <p:spPr>
          <a:xfrm>
            <a:off x="800100" y="5227828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Relacionar el metabolismo con la alimentación, el ayuno, la contracción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muscular y las necesidades de los eritrocitos.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012 / 380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Objetivos de aprendizaje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914907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35__0__82"/>
          <p:cNvSpPr txBox="1"/>
          <p:nvPr/>
        </p:nvSpPr>
        <p:spPr>
          <a:xfrm>
            <a:off x="800100" y="1701800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Diferenciar una enzima de una coenzima, un cofactor, un cosustrato y un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regulador.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013 / 380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3358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381000"/>
            <a:ext cx="11023600" cy="330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99DEDF"/>
                </a:solidFill>
                <a:latin typeface="Arial"/>
              </a:rPr>
              <a:t>CAPÍTULO 11 · SECCIÓN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016000"/>
            <a:ext cx="2413000" cy="1270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defRPr sz="8000">
                <a:latin typeface="Arial"/>
              </a:defRPr>
            </a:pPr>
            <a:r>
              <a:rPr sz="8000" b="1" lang="es-MX">
                <a:solidFill>
                  <a:srgbClr val="37D3C6"/>
                </a:solidFill>
                <a:latin typeface="Arial"/>
              </a:rPr>
              <a:t>01</a:t>
            </a:r>
          </a:p>
        </p:txBody>
      </p:sp>
      <p:sp>
        <p:nvSpPr>
          <p:cNvPr id="7" name="FUENTE__P0036__0__56"/>
          <p:cNvSpPr txBox="1"/>
          <p:nvPr/>
        </p:nvSpPr>
        <p:spPr>
          <a:xfrm>
            <a:off x="584200" y="2730500"/>
            <a:ext cx="11023600" cy="11384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31"/>
              </a:lnSpc>
              <a:spcBef>
                <a:spcPts val="0"/>
              </a:spcBef>
              <a:spcAft>
                <a:spcPts val="0"/>
              </a:spcAft>
              <a:defRPr sz="3800">
                <a:latin typeface="Arial"/>
              </a:defRPr>
            </a:pPr>
            <a:r>
              <a:rPr sz="3800" b="1" lang="es-MX">
                <a:solidFill>
                  <a:srgbClr val="FFFFFF"/>
                </a:solidFill>
                <a:latin typeface="Arial"/>
              </a:rPr>
              <a:t>1. Panorama general del metabolismo</a:t>
            </a:r>
            <a:br/>
            <a:r>
              <a:rPr sz="3800" b="1" lang="es-MX">
                <a:solidFill>
                  <a:srgbClr val="FFFFFF"/>
                </a:solidFill>
                <a:latin typeface="Arial"/>
              </a:rPr>
              <a:t>de los carbohidratos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5461000"/>
            <a:ext cx="110236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>
                <a:latin typeface="Arial"/>
              </a:defRPr>
            </a:pPr>
            <a:r>
              <a:rPr sz="2000" b="0" lang="es-MX">
                <a:solidFill>
                  <a:srgbClr val="D1E6ED"/>
                </a:solidFill>
                <a:latin typeface="Arial"/>
              </a:rPr>
              <a:t>Contenido íntegro · lectura didáctica · cuadros y estructuras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014 / 380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037__0__49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1.1. La glucosa como centro de una red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metabólica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38__0__381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glucosa es una hexosa, es decir, un monosacárido de seis carbonos. Su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importancia no depende únicamente de que pueda proporcionar energía: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también constituye un punto de distribución de carbono hacia sustancias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 reserva y hacia moléculas necesarias para la célula. Por eso, estudiar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su metabolismo exige mirar una red de vías relacionadas y no una lista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aislada de reacciones.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015 / 380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1.1. La glucosa como centro de una red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metabólica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535428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535428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39__0__430"/>
          <p:cNvSpPr txBox="1"/>
          <p:nvPr/>
        </p:nvSpPr>
        <p:spPr>
          <a:xfrm>
            <a:off x="800100" y="1995424"/>
            <a:ext cx="10591800" cy="23068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El capítulo distingue procesos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catabólicos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 que degradan moléculas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permiten recuperar energía, y procesos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anabólicos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 que utilizan energía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para formar nuevas moléculas. La glucólisis es catabólica;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gluconeogénesis y la síntesis de glucógeno tienen finalidad biosintética.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 ruta de las pentosas fosfato permite obtener poder reductor y azúcares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utilizados en biosíntesis, por lo que su utilidad no se resume en producir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ATP.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016 / 380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1.1. La glucosa como centro de una red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metabólica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859532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859532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40__0__504"/>
          <p:cNvSpPr txBox="1"/>
          <p:nvPr/>
        </p:nvSpPr>
        <p:spPr>
          <a:xfrm>
            <a:off x="800100" y="1995424"/>
            <a:ext cx="10591800" cy="26309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glucosa puede proceder de los alimentos, de la degradación del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glucógeno o de la síntesis a partir de precursores no glucídicos. Una vez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incorporada a muchas células se fosforila 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glucosa-6-fosfato, G6P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Esta modificación la retiene en el compartimento celular y la sitúa en una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encrucijada: puede dirigirse hacia la glucólisis, las pentosas fosfato o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formación de glucógeno. En tejidos capaces de producir glucosa libre,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también puede desfosforilarse y contribuir al mantenimiento de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glucemia.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017 / 380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1.1. La glucosa como centro de una red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metabólica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41__0__376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idea principal es la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adaptación a la necesidad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. Si la célula necesita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ATP con rapidez, aumenta el flujo glucolítico. Si necesita NADPH o ribosa,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utiliza las pentosas fosfato. Si el organismo dispone de glucosa después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 comer, puede almacenarla. Si la disponibilidad de alimentos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disminuye, el hígado y otros tejidos gluconeogénicos ayudan a sostener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glucosa sanguínea.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018 / 380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042__0__48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1.2. Cuadro comparativo de las principales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rutas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03__1"/>
          <p:cNvGraphicFramePr>
            <a:graphicFrameLocks noGrp="1"/>
          </p:cNvGraphicFramePr>
          <p:nvPr/>
        </p:nvGraphicFramePr>
        <p:xfrm>
          <a:off x="584200" y="1881124"/>
          <a:ext cx="11023600" cy="296417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Ruta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Sustrato o punto de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partida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Finalidad y resultado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principal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Glucólisis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Glucosa; otros azúcares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incorporados como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intermediarios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Forma 2 piruvatos, 2 ATP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netos y 2 NADH por glucosa.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Ocurre en el citosol.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Gluconeogénesis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Lactato, piruvato, glicerol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y aminoácidos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glucogénicos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Produce glucosa con inversión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de energía. Es importante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durante el ayuno.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019 / 380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1.2. Cuadro comparativo de las principales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rutas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03__2"/>
          <p:cNvGraphicFramePr>
            <a:graphicFrameLocks noGrp="1"/>
          </p:cNvGraphicFramePr>
          <p:nvPr/>
        </p:nvGraphicFramePr>
        <p:xfrm>
          <a:off x="584200" y="1881124"/>
          <a:ext cx="11023600" cy="354329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Ruta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Sustrato o punto de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partida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Finalidad y resultado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principal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Pentosas fosfato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Glucosa-6-fosfato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Genera NADPH y azúcares,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especialmente ribosa-5-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fosfato. No produce ATP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directamente.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Glucogenogénesis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Glucosa-6-fosfato →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glucosa-1-fosfato → UDP-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glucosa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Almacena unidades 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glucosa en glucógeno.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Predomina en condiciones 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abundancia.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020 / 380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1.2. Cuadro comparativo de las principales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rutas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03__3"/>
          <p:cNvGraphicFramePr>
            <a:graphicFrameLocks noGrp="1"/>
          </p:cNvGraphicFramePr>
          <p:nvPr/>
        </p:nvGraphicFramePr>
        <p:xfrm>
          <a:off x="584200" y="1881124"/>
          <a:ext cx="11023600" cy="325373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Ruta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Sustrato o punto de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partida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Finalidad y resultado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principal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Glucogenólisis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Glucógeno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Moviliza principalmente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glucosa-1-fosfato; también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libera glucosa libre en las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ramificaciones.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Fermentación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láctica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Piruvato y NADH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Forma lactato y regenera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NAD⁺, permitiendo que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continúe la glucólisis.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021 / 380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1.2. Cuadro comparativo de las principales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rutas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03__4"/>
          <p:cNvGraphicFramePr>
            <a:graphicFrameLocks noGrp="1"/>
          </p:cNvGraphicFramePr>
          <p:nvPr/>
        </p:nvGraphicFramePr>
        <p:xfrm>
          <a:off x="584200" y="1881124"/>
          <a:ext cx="11023600" cy="216915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Ruta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Sustrato o punto de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partida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Finalidad y resultado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principal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Descarboxilación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oxidativa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Piruvato, CoA-SH y NAD⁺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Forma acetil-CoA, CO₂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NADH; conecta la glucólisis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con el metabolismo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mitocondrial.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022 / 380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043__0__48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1.3. Imagen del libro: cómo leer el mapa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general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241548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MAGEN_FUENTE__I01" descr="Panorama de las rutas de la glucos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514" y="1957324"/>
            <a:ext cx="3304971" cy="3089148"/>
          </a:xfrm>
          <a:prstGeom prst="rect">
            <a:avLst/>
          </a:prstGeom>
        </p:spPr>
      </p:pic>
      <p:sp>
        <p:nvSpPr>
          <p:cNvPr id="11" name="FUENTE__P0044__0__187"/>
          <p:cNvSpPr txBox="1"/>
          <p:nvPr/>
        </p:nvSpPr>
        <p:spPr>
          <a:xfrm>
            <a:off x="660400" y="5236972"/>
            <a:ext cx="10871200" cy="8336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536A78"/>
                </a:solidFill>
                <a:latin typeface="Arial"/>
              </a:rPr>
              <a:t>Figura 11-1. Panorama de las rutas de la glucosa.</a:t>
            </a:r>
            <a:r>
              <a:rPr sz="1800" b="0" lang="es-MX">
                <a:solidFill>
                  <a:srgbClr val="536A78"/>
                </a:solidFill>
                <a:latin typeface="Arial"/>
              </a:rPr>
              <a:t> Fuente: capítulo proporcionado, p.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244 del libro (p. 2 del PDF). Ubicación en esta guía: § 1.3. Imagen original recortada, no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redibujada.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023 / 380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11-1 · Vista ampliada: Polímeros de la dieta y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glucógeno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481324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olímeros de la dieta y glucóge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563" y="1970024"/>
            <a:ext cx="7824872" cy="33035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024 / 380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11-1 · Vista ampliada: Glucosa, pentosas y vías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opuestas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481324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lucosa, pentosas y vías opuest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328" y="1970024"/>
            <a:ext cx="6977342" cy="33035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025 / 380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11-1 · Vista ampliada: Piruvato, lactato y acetil-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481324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iruvato, lactato y acetil-Co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472" y="1970024"/>
            <a:ext cx="7589054" cy="33035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026 / 380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1.3. Imagen del libro: cómo leer el mapa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general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45__0__367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Lectura de la figura 11-1.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En la zona superior aparecen polímeros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glucosa: el almidón de la dieta y el glucógeno de reserva. Ambos pueden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originar unidades de glucosa, pero no cumplen la misma función ni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degradan mediante idénticos procesos. El almidón debe digerirse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absorberse; el glucógeno intracelular puede movilizarse directamente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dentro de los tejidos.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027 / 380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1.3. Imagen del libro: cómo leer el mapa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general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46__0__413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En la zona central se sitúa la glucosa. Las flechas hacia piruvato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representan la glucólisis; las flechas en dirección contraria representan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gluconeogénesis, que no es una simple inversión de todas las reacciones.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Hacia la izquierda, la ruta de las pentosas fosfato muestra que también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pueden obtener azúcares de cinco carbonos. En la zona inferior,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piruvato puede convertirse en lactato o en acetil-CoA.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028 / 380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1.3. Imagen del libro: cómo leer el mapa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general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47__0__324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Qué debe aprender de la imagen: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 glucosa comunica reservas,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obtención de energía y biosíntesis. No todo el carbono tiene que terminar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 piruvato ni todo el piruvato tiene que terminar en lactato. Las flechas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describen alternativas cuya utilización depende del tejido, del estado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hormonal y de las necesidades metabólicas.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029 / 380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048__0__47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1.4. Compartimentos y cooperación entre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tejidos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49__0__423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ubicación de una reacción determina con qué otros procesos puede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acoplarse. La glucólisis y las pentosas fosfato son citosólicas. En células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humanas con mitocondrias, el complejo piruvato deshidrogenasa actúa 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 matriz mitocondrial. La gluconeogénesis distribuye sus reacciones entre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mitocondria, citosol y retículo endoplasmático; la síntesis y degradación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del glucógeno se organizan en torno a gránulos citosólicos.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030 / 380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1.4. Compartimentos y cooperación entre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tejidos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50__0__438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El hígado contribuye a mantener la glucosa de la sangre, mientras que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músculo utiliza buena parte de sus reservas para sí mismo. Los eritrocitos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maduros carecen de mitocondrias: dependen de la glucólisis para obtener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ATP y de la ruta de las pentosas para sostener la defensa antioxidante.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encéfalo necesita un suministro importante de glucosa, aunque durante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ayuno prolongado puede utilizar cuerpos cetónicos en mayor proporción.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031 / 380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051__0__59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Cuadro sinóptico editable: destinos de la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glucosa-6-fosfato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04__1"/>
          <p:cNvGraphicFramePr>
            <a:graphicFrameLocks noGrp="1"/>
          </p:cNvGraphicFramePr>
          <p:nvPr/>
        </p:nvGraphicFramePr>
        <p:xfrm>
          <a:off x="584200" y="1881124"/>
          <a:ext cx="11023600" cy="390143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27552"/>
                <a:gridCol w="7496048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Cuadro sinóptico: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punto de decisión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Rama metabólica y significado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Glucosa → G6P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Fosforilación inicial: permite captar y distribuir carbono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dentro de la célula.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↳ Necesidad de ATP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G6P → fructosa-6-P → glucólisis → piruvato.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↳ Necesidad de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NADPH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G6P → fase oxidativa de las pentosas fosfato → NADPH.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↳ Necesidad de ribosa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Pentosas fosfato → ribosa-5-P → nucleótidos.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↳ Exceso de glucosa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G6P → G1P → UDP-glucosa → glucógeno.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032 / 380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Cuadro sinóptico editable: destinos de la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glucosa-6-fosfato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04__2"/>
          <p:cNvGraphicFramePr>
            <a:graphicFrameLocks noGrp="1"/>
          </p:cNvGraphicFramePr>
          <p:nvPr/>
        </p:nvGraphicFramePr>
        <p:xfrm>
          <a:off x="584200" y="1881124"/>
          <a:ext cx="11023600" cy="159003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27552"/>
                <a:gridCol w="7496048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Cuadro sinóptico: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punto de decisión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Rama metabólica y significado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↳ Necesidad de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glucosa sanguínea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En tejidos con el sistema glucosa-6-fosfatasa: G6P →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glucosa libre → sangre.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033 / 380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Cuadro sinóptico editable: destinos de la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glucosa-6-fosfato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690115"/>
          </a:xfrm>
          <a:prstGeom prst="roundRect">
            <a:avLst>
              <a:gd name="adj" fmla="val 8000"/>
            </a:avLst>
          </a:prstGeom>
          <a:solidFill>
            <a:srgbClr val="E6F1F2"/>
          </a:solidFill>
          <a:ln w="8890">
            <a:solidFill>
              <a:srgbClr val="80B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UENTE__T005R000C00__0__232"/>
          <p:cNvSpPr txBox="1"/>
          <p:nvPr/>
        </p:nvSpPr>
        <p:spPr>
          <a:xfrm>
            <a:off x="812800" y="2058924"/>
            <a:ext cx="10566400" cy="13345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Idea para recordar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 glucosa-6-fosfato es una encrucijada, no un intermediario exclusivo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 glucólisis. Esta es la razón por la que la reacción de la PFK-1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considera el paso de compromiso más específico de la vía glucolítica.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034 / 380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3358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381000"/>
            <a:ext cx="11023600" cy="330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99DEDF"/>
                </a:solidFill>
                <a:latin typeface="Arial"/>
              </a:rPr>
              <a:t>CAPÍTULO 11 · SECCIÓN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016000"/>
            <a:ext cx="2413000" cy="1270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defRPr sz="8000">
                <a:latin typeface="Arial"/>
              </a:defRPr>
            </a:pPr>
            <a:r>
              <a:rPr sz="8000" b="1" lang="es-MX">
                <a:solidFill>
                  <a:srgbClr val="37D3C6"/>
                </a:solidFill>
                <a:latin typeface="Arial"/>
              </a:rPr>
              <a:t>02</a:t>
            </a:r>
          </a:p>
        </p:txBody>
      </p:sp>
      <p:sp>
        <p:nvSpPr>
          <p:cNvPr id="7" name="FUENTE__P0052__0__57"/>
          <p:cNvSpPr txBox="1"/>
          <p:nvPr/>
        </p:nvSpPr>
        <p:spPr>
          <a:xfrm>
            <a:off x="584200" y="2730500"/>
            <a:ext cx="11023600" cy="11384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31"/>
              </a:lnSpc>
              <a:spcBef>
                <a:spcPts val="0"/>
              </a:spcBef>
              <a:spcAft>
                <a:spcPts val="0"/>
              </a:spcAft>
              <a:defRPr sz="3800">
                <a:latin typeface="Arial"/>
              </a:defRPr>
            </a:pPr>
            <a:r>
              <a:rPr sz="3800" b="1" lang="es-MX">
                <a:solidFill>
                  <a:srgbClr val="FFFFFF"/>
                </a:solidFill>
                <a:latin typeface="Arial"/>
              </a:rPr>
              <a:t>2. Digestión y absorción de los</a:t>
            </a:r>
            <a:br/>
            <a:r>
              <a:rPr sz="3800" b="1" lang="es-MX">
                <a:solidFill>
                  <a:srgbClr val="FFFFFF"/>
                </a:solidFill>
                <a:latin typeface="Arial"/>
              </a:rPr>
              <a:t>carbohidratos de la dieta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5461000"/>
            <a:ext cx="110236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>
                <a:latin typeface="Arial"/>
              </a:defRPr>
            </a:pPr>
            <a:r>
              <a:rPr sz="2000" b="0" lang="es-MX">
                <a:solidFill>
                  <a:srgbClr val="D1E6ED"/>
                </a:solidFill>
                <a:latin typeface="Arial"/>
              </a:rPr>
              <a:t>Contenido íntegro · lectura didáctica · cuadros y estructuras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035 / 380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053__0__68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2.1. Qué carbohidratos se digieren y cuáles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forman parte de la fibra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54__0__351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El aparato digestivo no absorbe normalmente los grandes polisacáridos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como tales: debe convertirlos en monosacáridos que puedan atravesar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epitelio intestinal. Los carbohidratos digeribles incluyen almidón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disacáridos como sacarosa y lactosa. La capacidad de digerirlos depende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 disponer de enzimas capaces de reconocer sus enlaces glucosídicos.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036 / 380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2.1. Qué carbohidratos se digieren y cuáles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forman parte de la fibra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55__0__401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El almidón está constituido por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amilosa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 predominantemente lineal, y</a:t>
            </a:r>
            <a:br/>
            <a:r>
              <a:rPr sz="2200" b="1" lang="es-MX">
                <a:solidFill>
                  <a:srgbClr val="243C4C"/>
                </a:solidFill>
                <a:latin typeface="Arial"/>
              </a:rPr>
              <a:t>amilopectina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 ramificada. La amilosa presenta enlaces α(1→4);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amilopectina añade puntos de ramificación α(1→6). El glucógeno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origen animal tiene una organización comparable, con abundantes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ramificaciones. Esta diferencia estructural explica por qué no basta una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única enzima para degradar completamente un polímero ramificado.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037 / 380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2.1. Qué carbohidratos se digieren y cuáles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forman parte de la fibra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535428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535428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56__0__463"/>
          <p:cNvSpPr txBox="1"/>
          <p:nvPr/>
        </p:nvSpPr>
        <p:spPr>
          <a:xfrm>
            <a:off x="800100" y="1995424"/>
            <a:ext cx="10591800" cy="23068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Los componentes de la fibra, como la celulosa y diversos polisacáridos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vegetales, resisten la digestión por las enzimas humanas. Ello no significa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que carezcan de efectos fisiológicos. Favorecen el tránsito intestinal,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pueden contribuir a la saciedad y modificar la velocidad de absorción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nutrientes. Como ampliación del capítulo, parte de la fibra es fermentada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por la microbiota y origina metabolitos aprovechables, entre ellos ácidos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grasos de cadena corta.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038 / 380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2.1. Qué carbohidratos se digieren y cuáles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forman parte de la fibra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57__0__375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Relación estructura-función: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los humanos poseen enzimas para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muchos enlaces α de los carbohidratos alimentarios, pero no disponen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celulasas para hidrolizar eficientemente los enlaces β(1→4) de la celulosa.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 distinción entre digerible y no digerible es, por tanto, una propiedad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 interacción entre la estructura del alimento y el repertorio enzimático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del organismo.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039 / 380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058__0__52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2.2. Proceso digestivo: del polímero al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monosacárido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59__0__343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digestión del almidón comienza en la boca por la amilasa salival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continúa de forma importante en el intestino delgado gracias a la amilasa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pancreática. Las α-amilasas son endohidrolasas: rompen enlaces α(1→4)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internos y originan maltosa, maltotriosa y dextrinas límite. No resuelven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por sí mismas los enlaces α(1→6) de las ramificaciones.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040 / 380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2.2. Proceso digestivo: del polímero al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monosacárido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60__0__401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Las enzimas del borde en cepillo completan la digestión. Las actividades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 maltasa y glucoamilasa liberan glucosa desde pequeños oligómeros;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complejo sacarasa-isomaltasa contribuye tanto a la digestión de sacarosa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como a la de productos del almidón y sus ramificaciones. La lactasa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rompe la lactosa en glucosa y galactosa. El resultado final es una mezcla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 monosacáridos que puede ser absorbida.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041 / 380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061__0__59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Cuadro comparativo: sustratos, enlaces,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enzimas y productos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06__1"/>
          <p:cNvGraphicFramePr>
            <a:graphicFrameLocks noGrp="1"/>
          </p:cNvGraphicFramePr>
          <p:nvPr/>
        </p:nvGraphicFramePr>
        <p:xfrm>
          <a:off x="584200" y="1881124"/>
          <a:ext cx="11023600" cy="325373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Sustrato / enlace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relevante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Enzima o actividad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Productos y sentido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fisiológico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Almidón: enlaces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α(1→4) internos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Amilasa salival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pancreática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Maltosa, maltotriosa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dextrinas límite; no hidroliza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las ramificaciones α(1→6).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Maltosa y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pequeños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oligómeros de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glucosa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Maltasa y otras α-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glucosidasas del borde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en cepillo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Glucosa lista para su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absorción.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042 / 380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Cuadro comparativo: sustratos, enlaces,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enzimas y productos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06__2"/>
          <p:cNvGraphicFramePr>
            <a:graphicFrameLocks noGrp="1"/>
          </p:cNvGraphicFramePr>
          <p:nvPr/>
        </p:nvGraphicFramePr>
        <p:xfrm>
          <a:off x="584200" y="1881124"/>
          <a:ext cx="11023600" cy="346963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Sustrato / enlace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relevante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Enzima o actividad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Productos y sentido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fisiológico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Dextrinas con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ramificaciones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α(1→6)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Isomaltasa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Resuelve puntos 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ramificación y facilita la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digestión completa.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Sacarosa: glucosa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+ fructosa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Sacarasa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Libera una glucosa y una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fructosa.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Lactosa: enlace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β(1→4)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Lactasa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Libera una glucosa y una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galactosa.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043 / 380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Cuadro comparativo: sustratos, enlaces,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enzimas y productos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06__3"/>
          <p:cNvGraphicFramePr>
            <a:graphicFrameLocks noGrp="1"/>
          </p:cNvGraphicFramePr>
          <p:nvPr/>
        </p:nvGraphicFramePr>
        <p:xfrm>
          <a:off x="584200" y="1881124"/>
          <a:ext cx="11023600" cy="216915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Sustrato / enlace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relevante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Enzima o actividad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Productos y sentido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fisiológico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Celulosa: enlaces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β(1→4)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No existe una actividad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celulasa digestiva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humana eficaz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Permanece como parte de la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fibra; no se convierte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directamente en glucosa por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enzimas humanas.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044 / 380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Cuadro comparativo: sustratos, enlaces,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enzimas y productos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62__0__315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No confunda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hidrólisis digestiva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con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fosforólisis intracelular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. En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digestión se utiliza agua para romper enlaces y obtener azúcares libres.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 la glucogenólisis, la glucógeno fosforilasa emplea fosfato inorgánico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libera glucosa-1-fosfato, lo que conserva parte del potencial energético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 unidad de glucosa.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045 / 380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063__0__5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2.3. Imagen del libro: digestión y absorción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intestinal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241548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MAGEN_FUENTE__I02" descr="Digestión del almidón y absorción intestin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610" y="1957324"/>
            <a:ext cx="4898779" cy="3089148"/>
          </a:xfrm>
          <a:prstGeom prst="rect">
            <a:avLst/>
          </a:prstGeom>
        </p:spPr>
      </p:pic>
      <p:sp>
        <p:nvSpPr>
          <p:cNvPr id="11" name="FUENTE__P0064__0__196"/>
          <p:cNvSpPr txBox="1"/>
          <p:nvPr/>
        </p:nvSpPr>
        <p:spPr>
          <a:xfrm>
            <a:off x="660400" y="5236972"/>
            <a:ext cx="10871200" cy="8336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536A78"/>
                </a:solidFill>
                <a:latin typeface="Arial"/>
              </a:rPr>
              <a:t>Figura 11-2. Digestión del almidón y absorción intestinal.</a:t>
            </a:r>
            <a:r>
              <a:rPr sz="1800" b="0" lang="es-MX">
                <a:solidFill>
                  <a:srgbClr val="536A78"/>
                </a:solidFill>
                <a:latin typeface="Arial"/>
              </a:rPr>
              <a:t> Fuente: capítulo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proporcionado, p. 247 del libro (p. 5 del PDF). Ubicación en esta guía: § 2.3. Imagen original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recortada, no redibujada.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046 / 380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11-2 · Vista ampliada: Panel a: productos de la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digestión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481324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nel a: productos de la digestió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93336"/>
            <a:ext cx="10820400" cy="26568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047 / 380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11-2 · Vista ampliada: Panel b: enzimas y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monosacáridos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481324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nel b: enzimas y monosacárido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086" y="1970024"/>
            <a:ext cx="5149826" cy="33035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048 / 380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11-2 · Vista ampliada: Panel b: transporte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intestinal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481324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nel b: transporte intestin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061" y="1970024"/>
            <a:ext cx="3633876" cy="33035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049 / 380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2.3. Imagen del libro: digestión y absorción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intestinal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65__0__327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Panel a.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Compare la cadena de amilosa con la amilopectina. La amilasa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puede cortar los segmentos lineales, pero alrededor de los puntos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ramificación quedan fragmentos que requieren otras actividades.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presencia de maltosa, maltotriosa y dextrinas límite no indica una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digestión fallida: son productos intermedios normales.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92074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920744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066__0__350"/>
          <p:cNvSpPr txBox="1"/>
          <p:nvPr/>
        </p:nvSpPr>
        <p:spPr>
          <a:xfrm>
            <a:off x="800100" y="403504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Panel b.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Siga la secuencia de izquierda a derecha: sustrato alimentario →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enzima digestiva → monosacárido → transportador. Glucosa y galactosa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ingresan principalmente mediante SGLT-1; la fructosa lo hace mediante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GLUT-5. Después, los monosacáridos salen del enterocito hacia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circulación por la membrana basolateral, donde tiene importancia GLUT-2.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050 / 380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2.3. Imagen del libro: digestión y absorción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intestinal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67__0__270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bomba Na⁺/K⁺-ATPasa mantiene el gradiente de sodio que permite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funcionar al cotransporte. Así, SGLT-1 no utiliza directamente ATP en cada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transporte, pero depende de un gradiente cuya conservación sí requiere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energía. Esta es la base del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transporte activo secundario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051 / 380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068__0__47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2.4. Transportadores: no son enzimas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digestivas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69__0__383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Un transportador mueve un soluto a través de una membrana; una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enzima modifica químicamente un sustrato. La lactasa y SGLT-1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participan en el aprovechamiento de un alimento, pero hacen trabajos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diferentes. Las proteínas GLUT median difusión facilitada: el movimiento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depende del gradiente y no requiere hidrólisis directa de ATP. Las SGLT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acoplan el transporte de azúcar al de sodio.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052 / 380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2.4. Transportadores: no son enzimas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digestivas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07__1"/>
          <p:cNvGraphicFramePr>
            <a:graphicFrameLocks noGrp="1"/>
          </p:cNvGraphicFramePr>
          <p:nvPr/>
        </p:nvGraphicFramePr>
        <p:xfrm>
          <a:off x="584200" y="1881124"/>
          <a:ext cx="11023600" cy="404875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Transportador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Dónde o cómo actúa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Qué debe recordar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SGLT-1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Membrana apical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intestinal; también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participa en el riñón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Cotransporta Na⁺ con glucosa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o galactosa; transporte activo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secundario.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SGLT-2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Principalmente túbulo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proximal renal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Recupera gran parte de la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glucosa filtrada; no es el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principal transportador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intestinal.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GLUT-1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Eritrocitos y otros tejidos;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barreras de suministro al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sistema nervioso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Participa en la captación basal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de glucosa.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053 / 380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2.4. Transportadores: no son enzimas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digestivas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07__2"/>
          <p:cNvGraphicFramePr>
            <a:graphicFrameLocks noGrp="1"/>
          </p:cNvGraphicFramePr>
          <p:nvPr/>
        </p:nvGraphicFramePr>
        <p:xfrm>
          <a:off x="584200" y="1881124"/>
          <a:ext cx="11023600" cy="267461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Transportador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Dónde o cómo actúa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Qué debe recordar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GLUT-2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Hígado y membrana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basolateral intestinal;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otros tejidos según la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especie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Permite intercambio 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monosacáridos y tiene alta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capacidad. No es GLUT-4.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GLUT-3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Destaca en neuronas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Favorece captación de glucosa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con elevada afinidad.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054 / 380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2.4. Transportadores: no son enzimas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digestivas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07__3"/>
          <p:cNvGraphicFramePr>
            <a:graphicFrameLocks noGrp="1"/>
          </p:cNvGraphicFramePr>
          <p:nvPr/>
        </p:nvGraphicFramePr>
        <p:xfrm>
          <a:off x="584200" y="1881124"/>
          <a:ext cx="11023600" cy="296417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Transportador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Dónde o cómo actúa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Qué debe recordar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66370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GLUT-4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Músculo esquelético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cardíaco y tejido adiposo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La insulina favorece su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translocación a la membrana;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la contracción muscular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también puede estimular su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movilización.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GLUT-5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Membrana apical del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intestino delgado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Es importante para el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transporte de fructosa.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055 / 380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2.4. Transportadores: no son enzimas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digestivas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70__0__410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tabla 11-1 del capítulo presenta varios miembros de estas familias.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Para esta guía se priorizan los de mayor utilidad para comprender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digestión, captación y regulación.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Precisión: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el transportador de G6P del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retículo endoplasmático es G6PT, codificado por SLC37A4; no debe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identificarse sin más con el GLUT-7 de la tabla original. Esta nomenclatura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se explica en la referencia complementaria de MedlinePlus.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056 / 380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071__0__63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2.5. Intolerancias digestivas: por qué aparecen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gases y diarrea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72__0__329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El recuadro 11-1 explica que, cuando un disacárido no se hidroliza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adecuadamente, permanece en la luz intestinal. Aumenta la carga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osmótica y favorece la entrada o retención de agua. Además,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microbiota puede fermentarlo y generar gases y ácidos. Por esta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combinación aparecen distensión, meteorismo, dolor abdominal y diarrea.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92074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920744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073__0__326"/>
          <p:cNvSpPr txBox="1"/>
          <p:nvPr/>
        </p:nvSpPr>
        <p:spPr>
          <a:xfrm>
            <a:off x="800100" y="403504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malabsorción de lactosa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se relaciona con una actividad insuficiente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 lactasa. Conviene diferenciarla de la alergia a proteínas de la leche,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que tiene mecanismos inmunológicos. También hay deficiencias del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complejo sacarasa-isomaltasa, que dificultan el aprovechamiento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sacarosa y de determinados productos del almidón.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057 / 380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2.5. Intolerancias digestivas: por qué aparecen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gases y diarrea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662428"/>
          </a:xfrm>
          <a:prstGeom prst="roundRect">
            <a:avLst>
              <a:gd name="adj" fmla="val 8000"/>
            </a:avLst>
          </a:prstGeom>
          <a:solidFill>
            <a:srgbClr val="E6F1F2"/>
          </a:solidFill>
          <a:ln w="8890">
            <a:solidFill>
              <a:srgbClr val="80B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UENTE__T008R000C00__0__417"/>
          <p:cNvSpPr txBox="1"/>
          <p:nvPr/>
        </p:nvSpPr>
        <p:spPr>
          <a:xfrm>
            <a:off x="812800" y="2058924"/>
            <a:ext cx="10566400" cy="23068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Precisión importante sobre la lactasa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 reducción de lactasa en muchos adultos tiene una base de desarrollo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genética; no se explica simplemente por «dejar de beber leche».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tolerancia depende también de la cantidad ingerida y de otros factores.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recuadro original contiene recomendaciones muy generales: no deben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utilizarse como pautas de alimentación para lactantes ni como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indicaciones clínicas individuales.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058 / 380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074__0__74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2.6. Índice glucémico: velocidad de respuesta,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no cantidad total de azúcar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75__0__306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El recuadro 11-2 presenta el índice glucémico, IG, como una medida de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respuesta de glucosa sanguínea producida por un alimento con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carbohidratos disponibles, comparada con un alimento de referencia.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concepto sirve para entender que diferentes alimentos pueden elevar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glucemia con distinta rapidez.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92074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920744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076__0__307"/>
          <p:cNvSpPr txBox="1"/>
          <p:nvPr/>
        </p:nvSpPr>
        <p:spPr>
          <a:xfrm>
            <a:off x="800100" y="403504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No debe confundirse el IG con la cantidad absoluta de carbohidratos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una porción ni con la calidad nutricional global del alimento. La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carga</a:t>
            </a:r>
            <a:br/>
            <a:r>
              <a:rPr sz="2200" b="1" lang="es-MX">
                <a:solidFill>
                  <a:srgbClr val="243C4C"/>
                </a:solidFill>
                <a:latin typeface="Arial"/>
              </a:rPr>
              <a:t>glucémica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 como ampliación didáctica, combina el IG con los gramos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carbohidratos disponibles de la porción: carga glucémica ≈ IG × gramos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 carbohidratos / 100.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059 / 380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2.6. Índice glucémico: velocidad de respuesta,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no cantidad total de azúcar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77__0__374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composición, la cocción, el procesamiento, el contenido de fibra y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combinación con otros alimentos modifican la respuesta. Los valores de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tabla del capítulo son ejemplos, no constantes universales. Para estudiar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 bioquímica, la idea esencial es que la velocidad de digestión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absorción afecta la llegada de glucosa a la sangre y, con ello, la respuesta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hormonal.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060 / 380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3358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381000"/>
            <a:ext cx="11023600" cy="330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99DEDF"/>
                </a:solidFill>
                <a:latin typeface="Arial"/>
              </a:rPr>
              <a:t>CAPÍTULO 11 · SECCIÓN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016000"/>
            <a:ext cx="2413000" cy="1270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defRPr sz="8000">
                <a:latin typeface="Arial"/>
              </a:defRPr>
            </a:pPr>
            <a:r>
              <a:rPr sz="8000" b="1" lang="es-MX">
                <a:solidFill>
                  <a:srgbClr val="37D3C6"/>
                </a:solidFill>
                <a:latin typeface="Arial"/>
              </a:rPr>
              <a:t>03</a:t>
            </a:r>
          </a:p>
        </p:txBody>
      </p:sp>
      <p:sp>
        <p:nvSpPr>
          <p:cNvPr id="7" name="FUENTE__P0078__0__43"/>
          <p:cNvSpPr txBox="1"/>
          <p:nvPr/>
        </p:nvSpPr>
        <p:spPr>
          <a:xfrm>
            <a:off x="584200" y="2730500"/>
            <a:ext cx="11023600" cy="11384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31"/>
              </a:lnSpc>
              <a:spcBef>
                <a:spcPts val="0"/>
              </a:spcBef>
              <a:spcAft>
                <a:spcPts val="0"/>
              </a:spcAft>
              <a:defRPr sz="3800">
                <a:latin typeface="Arial"/>
              </a:defRPr>
            </a:pPr>
            <a:r>
              <a:rPr sz="3800" b="1" lang="es-MX">
                <a:solidFill>
                  <a:srgbClr val="FFFFFF"/>
                </a:solidFill>
                <a:latin typeface="Arial"/>
              </a:rPr>
              <a:t>3. Glucólisis: conceptos y lógica de la</a:t>
            </a:r>
            <a:br/>
            <a:r>
              <a:rPr sz="3800" b="1" lang="es-MX">
                <a:solidFill>
                  <a:srgbClr val="FFFFFF"/>
                </a:solidFill>
                <a:latin typeface="Arial"/>
              </a:rPr>
              <a:t>vía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5461000"/>
            <a:ext cx="110236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>
                <a:latin typeface="Arial"/>
              </a:defRPr>
            </a:pPr>
            <a:r>
              <a:rPr sz="2000" b="0" lang="es-MX">
                <a:solidFill>
                  <a:srgbClr val="D1E6ED"/>
                </a:solidFill>
                <a:latin typeface="Arial"/>
              </a:rPr>
              <a:t>Contenido íntegro · lectura didáctica · cuadros y estructuras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061 / 380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079__0__41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3.1. Definición, localización y finalidad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80__0__325"/>
          <p:cNvSpPr txBox="1"/>
          <p:nvPr/>
        </p:nvSpPr>
        <p:spPr>
          <a:xfrm>
            <a:off x="800100" y="1701800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glucólisis, o vía de Embden–Meyerhof–Parnas, es una secuencia de</a:t>
            </a:r>
            <a:br/>
            <a:r>
              <a:rPr sz="2200" b="1" lang="es-MX">
                <a:solidFill>
                  <a:srgbClr val="243C4C"/>
                </a:solidFill>
                <a:latin typeface="Arial"/>
              </a:rPr>
              <a:t>diez reacciones enzimáticas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que transforma una glucosa de seis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carbonos en dos piruvatos de tres carbonos. En las células humanas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ocurre en el citosol. Permite generar ATP mediante fosforilación a nivel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sustrato y NADH mediante una reacción de oxidación.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627120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627120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081__0__358"/>
          <p:cNvSpPr txBox="1"/>
          <p:nvPr/>
        </p:nvSpPr>
        <p:spPr>
          <a:xfrm>
            <a:off x="800100" y="3741420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La vía no consume oxígeno directamente.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Puede funcionar tanto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cuando el metabolismo mitocondrial reoxida los equivalentes reductores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como cuando el piruvato se reduce a lactato. Las expresiones «glucólisis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aerobia» y «anaerobia», utilizadas en el capítulo, se refieren al contexto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al destino de los productos, no a dos secuencias distintas de diez enzimas.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062 / 380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3.1. Definición, localización y finalidad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82__0__327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Su rapidez es útil para responder a demandas energéticas. Además, sus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intermediarios pueden servir como puntos de conexión con otras rutas.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Que produzca solo dos ATP netos no la vuelve poco importante: en los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eritrocitos maduros constituye la fuente esencial de ATP, y en el músculo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ayuda a sostener cambios rápidos de trabajo.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063 / 380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083__0__54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3.2. Dos fases que deben entenderse antes de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memorizar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84__0__344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fase preparativa o de inversión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 reacciones 1–5, utiliza dos ATP.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Primero fosforila y reorganiza la hexosa; después la divide en dos triosas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fosfato. Solo el gliceraldehído-3-fosfato continúa directamente por la fase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siguiente, por lo que la dihidroxiacetona fosfato se isomeriza para formar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una segunda molécula de gliceraldehído-3-fosfato.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064 / 380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3.2. Dos fases que deben entenderse antes de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memorizar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85__0__383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fase de rendimiento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 reacciones 6–10, se ejecuta dos veces por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glucosa: una por cada triosa que se procesa. En conjunto forma cuatro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ATP y dos NADH. Al restar los dos ATP invertidos, el resultado neto es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dos</a:t>
            </a:r>
            <a:br/>
            <a:r>
              <a:rPr sz="2200" b="1" lang="es-MX">
                <a:solidFill>
                  <a:srgbClr val="243C4C"/>
                </a:solidFill>
                <a:latin typeface="Arial"/>
              </a:rPr>
              <a:t>ATP por glucosa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. En esta fase, la única oxidación de la ruta se acopla 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 conservación de energía en un intermediario con elevado potencial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transferencia de fosforilo.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065 / 380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3.2. Dos fases que deben entenderse antes de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memorizar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09__1"/>
          <p:cNvGraphicFramePr>
            <a:graphicFrameLocks noGrp="1"/>
          </p:cNvGraphicFramePr>
          <p:nvPr/>
        </p:nvGraphicFramePr>
        <p:xfrm>
          <a:off x="584200" y="1881124"/>
          <a:ext cx="11023600" cy="419099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Característica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Fase preparativa: 1–5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Fase de rendimiento: 6–10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Transformación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principal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1 hexosa → 2 triosas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procesables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2 triosas → 2 piruvatos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ATP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Consume 2 ATP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Produce 4 ATP en total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NADH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No produce NADH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Produce 2 NADH en total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Lógica química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Activar, reorganizar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dividir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Oxidar, conservar energía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formar ATP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Número de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ejecuciones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Una por molécula 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glucosa; la isomerización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procesa la DHAP formada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Dos por glucosa, porque hay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dos moléculas de GAP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066 / 380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086__0__58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3.3. Imagen del libro: recorrido completo de la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glucólisis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241548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MAGEN_FUENTE__I03" descr="Las diez reacciones y las dos fases de la glucólisi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401" y="1957324"/>
            <a:ext cx="3093196" cy="3089148"/>
          </a:xfrm>
          <a:prstGeom prst="rect">
            <a:avLst/>
          </a:prstGeom>
        </p:spPr>
      </p:pic>
      <p:sp>
        <p:nvSpPr>
          <p:cNvPr id="11" name="FUENTE__P0087__0__204"/>
          <p:cNvSpPr txBox="1"/>
          <p:nvPr/>
        </p:nvSpPr>
        <p:spPr>
          <a:xfrm>
            <a:off x="660400" y="5236972"/>
            <a:ext cx="10871200" cy="8336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536A78"/>
                </a:solidFill>
                <a:latin typeface="Arial"/>
              </a:rPr>
              <a:t>Figura 11-3. Las diez reacciones y las dos fases de la glucólisis.</a:t>
            </a:r>
            <a:r>
              <a:rPr sz="1800" b="0" lang="es-MX">
                <a:solidFill>
                  <a:srgbClr val="536A78"/>
                </a:solidFill>
                <a:latin typeface="Arial"/>
              </a:rPr>
              <a:t> Fuente: capítulo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proporcionado, p. 250 del libro (p. 8 del PDF). Ubicación en esta guía: § 3.3. Imagen original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recortada, no redibujada.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067 / 380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3.3. Imagen del libro: recorrido completo de la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glucólisis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88__0__360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Cómo recorrer la figura 11-3.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Empiece en la parte superior de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columna izquierda y siga las reacciones numeradas. Las dos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fosforilaciones iniciales gastan ATP. La aldolasa divide la fructosa-1,6-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bisfosfato en DHAP y GAP; la isomerasa conecta ambos productos. Pase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entonces a la columna derecha, donde todos los intermediarios aparecen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duplicados por glucosa.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068 / 380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3.3. Imagen del libro: recorrido completo de la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glucólisis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89__0__353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En el paso 6 observe la entrada de fosfato inorgánico y la reducción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NAD⁺. En el paso 7 se produce el primer ATP. Los pasos 8 y 9 reorganizan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el intermediario y eliminan agua para formar PEP. El paso 10 produce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segundo ATP de cada triosa y forma piruvato. Las flechas de sentido único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señalan pasos fuertemente favorables en condiciones celulares.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92074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92074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090__0__257"/>
          <p:cNvSpPr txBox="1"/>
          <p:nvPr/>
        </p:nvSpPr>
        <p:spPr>
          <a:xfrm>
            <a:off x="800100" y="403504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Mensaje que debe extraer: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el gasto inicial no se recupera porque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«desaparezcan los fosfatos» sin más. Se recupera mediante dos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transferencias de fosforilo a ADP por cada triosa, utilizando intermediarios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adecuados: 1,3-bisfosfoglicerato y fosfoenolpiruvato.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069 / 380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091__0__46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3.4. Nombres y abreviaturas que evitan errores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10__1"/>
          <p:cNvGraphicFramePr>
            <a:graphicFrameLocks noGrp="1"/>
          </p:cNvGraphicFramePr>
          <p:nvPr/>
        </p:nvGraphicFramePr>
        <p:xfrm>
          <a:off x="584200" y="1587500"/>
          <a:ext cx="11023600" cy="419099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Nombre completo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Abreviatura utilizada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Rasgo que debe reconocer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Glucosa-6-fosfato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G6P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Hexosa fosforilada en C6.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Fructosa-6-fosfato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F6P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Cetosa fosforilada en C6.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Fructosa-1,6-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bisfosfato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F1,6BP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Dos fosfatos separados: uno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en C1 y otro en C6.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Dihidroxiacetona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fosfato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DHAP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Triosa cetónica.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Gliceraldehído-3-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fosfato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GAP o G3P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Triosa con grupo aldehído; en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esta guía se usa GAP para no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confundirla con glicerol-3-P.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070 / 380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3.4. Nombres y abreviaturas que evitan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errores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10__2"/>
          <p:cNvGraphicFramePr>
            <a:graphicFrameLocks noGrp="1"/>
          </p:cNvGraphicFramePr>
          <p:nvPr/>
        </p:nvGraphicFramePr>
        <p:xfrm>
          <a:off x="584200" y="1881124"/>
          <a:ext cx="11023600" cy="368553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Nombre completo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Abreviatura utilizada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Rasgo que debe reconocer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1,3-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bisfosfoglicerato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1,3-BPG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Fosfato de acilo en C1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fosfoéster en C3.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3-fosfoglicerato /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2-fosfoglicerato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3-PG / 2-PG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Difieren en la posición del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fosfato.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Fosfoenolpiruvato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PEP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Enol fosfato con elevado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potencial de transferencia.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Fructosa-2,6-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bisfosfato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F2,6BP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Regulador; no es el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intermediario F1,6BP.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071 / 380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3.4. Nombres y abreviaturas que evitan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errores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92__0__270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Bisfosfato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significa que hay dos grupos fosfato unidos a posiciones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diferentes de la molécula.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Difosfato o pirofosfato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indica dos fosfatos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unidos entre sí. Por eso, fructosa-1,6-bisfosfato no debe dibujarse como si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llevara una cadena de dos fosfatos en un único carbono.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596640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596640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093__0__332"/>
          <p:cNvSpPr txBox="1"/>
          <p:nvPr/>
        </p:nvSpPr>
        <p:spPr>
          <a:xfrm>
            <a:off x="800100" y="3710940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En las fórmulas de esta guía,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C1, C2…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designan posiciones del esqueleto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carbonado;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Pi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es fosfato inorgánico y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PPi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es pirofosfato. Las formas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lineales se utilizan para comparar los grupos funcionales. En solución, las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hexosas también presentan formas cíclicas; representar una cadena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abierta no significa que sea su única forma real.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072 / 380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094__0__44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3.5. Enzima, coenzima, cofactor y cosustrato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2535428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2535428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95__0__431"/>
          <p:cNvSpPr txBox="1"/>
          <p:nvPr/>
        </p:nvSpPr>
        <p:spPr>
          <a:xfrm>
            <a:off x="800100" y="1701800"/>
            <a:ext cx="10591800" cy="23068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enzima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es el catalizador: acelera la reacción, pero no altera su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equilibrio final ni se consume estequiométricamente. Un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cofactor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es un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componente no proteico necesario para la actividad; puede ser un ion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como Mg²⁺ o una molécula orgánica. Una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coenzima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es un cofactor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orgánico, por ejemplo NAD⁺. Cuando participa como reactivo y después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regenera en otra reacción, puede describirse como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cosustrato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 como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sucede con NAD⁺/NADH.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4275328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4275328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096__0__281"/>
          <p:cNvSpPr txBox="1"/>
          <p:nvPr/>
        </p:nvSpPr>
        <p:spPr>
          <a:xfrm>
            <a:off x="800100" y="4389628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ATP y ADP se tratan aquí como cosustratos de transferencia energética; Pi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es un sustrato. Mg²⁺ ayuda a coordinar nucleótidos o estabilizar cargas.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Los residuos de lisina, cisteína, histidina o glutamato del sitio activo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forman parte de la proteína: no son coenzimas independientes.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073 / 380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3.5. Enzima, coenzima, cofactor y cosustrato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11__1"/>
          <p:cNvGraphicFramePr>
            <a:graphicFrameLocks noGrp="1"/>
          </p:cNvGraphicFramePr>
          <p:nvPr/>
        </p:nvGraphicFramePr>
        <p:xfrm>
          <a:off x="584200" y="1881124"/>
          <a:ext cx="11023600" cy="404875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Componente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Naturaleza o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estructura general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Papel dentro de la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glucólisis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ATP / ADP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Adenosina con tres o dos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fosfatos; el ATP posee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fosfatos α, β y γ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ATP dona fosforilo en 1 y 3;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ADP acepta fosforilo en 7 y 10.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Mg²⁺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Catión divalente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inorgánico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Coordina grupos fosfato; es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importante en las quinasas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en la enolasa.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NAD⁺ / NADH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Dinucleótido con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nicotinamida; derivado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de vitamina B3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Acepta un hidruro en el paso 6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y conserva equivalentes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reductores.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074 / 380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3.5. Enzima, coenzima, cofactor y cosustrato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11__2"/>
          <p:cNvGraphicFramePr>
            <a:graphicFrameLocks noGrp="1"/>
          </p:cNvGraphicFramePr>
          <p:nvPr/>
        </p:nvGraphicFramePr>
        <p:xfrm>
          <a:off x="584200" y="1881124"/>
          <a:ext cx="11023600" cy="325373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Componente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Naturaleza o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estructura general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Papel dentro de la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glucólisis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Pi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Fosfato inorgánico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Se incorpora en el paso 6; no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procede de ATP en esa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reacción.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2,3-BPG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Glicerato con fosfatos en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C2 y C3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Cofactor de cebado de la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fosfoglicerato mutasa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humana, en cantidad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catalítica.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075 / 380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3.5. Enzima, coenzima, cofactor y cosustrato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11__3"/>
          <p:cNvGraphicFramePr>
            <a:graphicFrameLocks noGrp="1"/>
          </p:cNvGraphicFramePr>
          <p:nvPr/>
        </p:nvGraphicFramePr>
        <p:xfrm>
          <a:off x="584200" y="1881124"/>
          <a:ext cx="11023600" cy="187959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Componente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Naturaleza o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estructura general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Papel dentro de la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glucólisis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K⁺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Catión monovalente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Ayuda a la actividad de la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piruvato quinasa; no se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transforma en producto.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076 / 380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3.5. Enzima, coenzima, cofactor y cosustrato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014220"/>
          </a:xfrm>
          <a:prstGeom prst="roundRect">
            <a:avLst>
              <a:gd name="adj" fmla="val 8000"/>
            </a:avLst>
          </a:prstGeom>
          <a:solidFill>
            <a:srgbClr val="E6F1F2"/>
          </a:solidFill>
          <a:ln w="8890">
            <a:solidFill>
              <a:srgbClr val="80B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UENTE__T012R000C00__0__296"/>
          <p:cNvSpPr txBox="1"/>
          <p:nvPr/>
        </p:nvSpPr>
        <p:spPr>
          <a:xfrm>
            <a:off x="812800" y="2058924"/>
            <a:ext cx="105664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Convención de las ecuaciones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Las ecuaciones enfatizan el balance metabólico. La escritura exacta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H⁺, agua y cargas depende del estado de protonación y de la convención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bioquímica. Los balances de ATP, NADH y carbono que se indican por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glucosa son los que deben utilizarse para estudiar la vía.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077 / 380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3358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381000"/>
            <a:ext cx="11023600" cy="330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99DEDF"/>
                </a:solidFill>
                <a:latin typeface="Arial"/>
              </a:rPr>
              <a:t>CAPÍTULO 11 · SECCIÓN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016000"/>
            <a:ext cx="2413000" cy="1270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defRPr sz="8000">
                <a:latin typeface="Arial"/>
              </a:defRPr>
            </a:pPr>
            <a:r>
              <a:rPr sz="8000" b="1" lang="es-MX">
                <a:solidFill>
                  <a:srgbClr val="37D3C6"/>
                </a:solidFill>
                <a:latin typeface="Arial"/>
              </a:rPr>
              <a:t>04</a:t>
            </a:r>
          </a:p>
        </p:txBody>
      </p:sp>
      <p:sp>
        <p:nvSpPr>
          <p:cNvPr id="7" name="FUENTE__P0097__0__63"/>
          <p:cNvSpPr txBox="1"/>
          <p:nvPr/>
        </p:nvSpPr>
        <p:spPr>
          <a:xfrm>
            <a:off x="584200" y="2730500"/>
            <a:ext cx="11023600" cy="11384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31"/>
              </a:lnSpc>
              <a:spcBef>
                <a:spcPts val="0"/>
              </a:spcBef>
              <a:spcAft>
                <a:spcPts val="0"/>
              </a:spcAft>
              <a:defRPr sz="3800">
                <a:latin typeface="Arial"/>
              </a:defRPr>
            </a:pPr>
            <a:r>
              <a:rPr sz="3800" b="1" lang="es-MX">
                <a:solidFill>
                  <a:srgbClr val="FFFFFF"/>
                </a:solidFill>
                <a:latin typeface="Arial"/>
              </a:rPr>
              <a:t>4. Las diez reacciones de la glucólisis,</a:t>
            </a:r>
            <a:br/>
            <a:r>
              <a:rPr sz="3800" b="1" lang="es-MX">
                <a:solidFill>
                  <a:srgbClr val="FFFFFF"/>
                </a:solidFill>
                <a:latin typeface="Arial"/>
              </a:rPr>
              <a:t>explicadas paso a paso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5461000"/>
            <a:ext cx="110236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>
                <a:latin typeface="Arial"/>
              </a:defRPr>
            </a:pPr>
            <a:r>
              <a:rPr sz="2000" b="0" lang="es-MX">
                <a:solidFill>
                  <a:srgbClr val="D1E6ED"/>
                </a:solidFill>
                <a:latin typeface="Arial"/>
              </a:rPr>
              <a:t>Contenido íntegro · lectura didáctica · cuadros y estructuras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078 / 380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098__0__29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4.0. Cómo estudiar las fichas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099__0__334"/>
          <p:cNvSpPr txBox="1"/>
          <p:nvPr/>
        </p:nvSpPr>
        <p:spPr>
          <a:xfrm>
            <a:off x="800100" y="1701800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Las fichas siguientes amplían los pasos descritos en las páginas 249–251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del libro. Cada una incluye la reacción, una comparación estructural,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enzima, sus coenzimas o cofactores y el efecto energético. Los detalles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mecanismo constituyen ampliación didáctica, contrastada con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tratamiento de glucólisis de Jakubowski y Flatt </a:t>
            </a:r>
            <a:r>
              <a:rPr sz="2200" b="0" lang="es-MX" u="sng">
                <a:solidFill>
                  <a:srgbClr val="007F88"/>
                </a:solidFill>
                <a:latin typeface="Arial"/>
                <a:hlinkClick r:id="rId2"/>
              </a:rPr>
              <a:t>1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627120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627120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100__0__297"/>
          <p:cNvSpPr txBox="1"/>
          <p:nvPr/>
        </p:nvSpPr>
        <p:spPr>
          <a:xfrm>
            <a:off x="800100" y="3741420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En las estructuras Q01–Q10, P significa PO₃²⁻ y se une al esqueleto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mediante un oxígeno. Las proyecciones lineales hacen visible el cambio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 grupo funcional; no representan la conformación tridimensional de las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enzimas. En los pasos 6–10, multiplique por dos las cantidades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expresadas por triosa.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079 / 380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101__0__59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Cuadro sinóptico editable: la lógica química en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seis verbos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13__1"/>
          <p:cNvGraphicFramePr>
            <a:graphicFrameLocks noGrp="1"/>
          </p:cNvGraphicFramePr>
          <p:nvPr/>
        </p:nvGraphicFramePr>
        <p:xfrm>
          <a:off x="584200" y="1881124"/>
          <a:ext cx="11023600" cy="368553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27552"/>
                <a:gridCol w="7496048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Cuadro sinóptico: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acción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Reacciones y significado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Fosforilar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1 y 3: invertir ATP para preparar y comprometer el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azúcar.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Isomerizar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2 y 5: conservar átomos, pero reorganizar el grupo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carbonilo.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Escindir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4: convertir una hexosa en dos triosas fosforiladas.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Oxidar y conservar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6: formar NADH y un fosfato de acilo de alto potencial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de transferencia.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080 / 380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Cuadro sinóptico editable: la lógica química en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seis verbos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13__2"/>
          <p:cNvGraphicFramePr>
            <a:graphicFrameLocks noGrp="1"/>
          </p:cNvGraphicFramePr>
          <p:nvPr/>
        </p:nvGraphicFramePr>
        <p:xfrm>
          <a:off x="584200" y="1881124"/>
          <a:ext cx="11023600" cy="238505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27552"/>
                <a:gridCol w="7496048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Cuadro sinóptico: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acción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Reacciones y significado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Transferir fosforilo a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ADP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7 y 10: obtener ATP directamente a partir de sustratos.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Reubicar y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deshidratar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8 y 9: preparar el PEP para la segunda formación 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ATP.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081 / 380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102__0__44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4.1. Reacción 1: glucosa → glucosa-6-fosfato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590804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03__0__39"/>
          <p:cNvSpPr txBox="1"/>
          <p:nvPr/>
        </p:nvSpPr>
        <p:spPr>
          <a:xfrm>
            <a:off x="800100" y="1701800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Glucosa + ATP → glucosa-6-fosfato + ADP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082 / 380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4.1. Reacción 1: glucosa → glucosa-6-fosfato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4227576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3300" y="1982724"/>
            <a:ext cx="4470400" cy="3477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8"/>
              </a:lnSpc>
              <a:spcBef>
                <a:spcPts val="0"/>
              </a:spcBef>
              <a:spcAft>
                <a:spcPts val="0"/>
              </a:spcAft>
              <a:defRPr sz="2300">
                <a:latin typeface="Arial"/>
              </a:defRPr>
            </a:pPr>
            <a:r>
              <a:rPr sz="2300" b="1" lang="es-MX">
                <a:solidFill>
                  <a:srgbClr val="173B50"/>
                </a:solidFill>
                <a:latin typeface="Arial"/>
              </a:rPr>
              <a:t>D-glucosa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38500" y="35631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38500" y="39695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38500" y="43759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38500" y="47823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38500" y="51887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92300" y="32710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CHO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8000" y="36774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67000" y="38552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67100" y="38552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739900" y="36774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60800" y="36774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8000" y="40838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67000" y="42616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67100" y="42616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739900" y="40838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60800" y="40838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8000" y="44902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667000" y="46680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467100" y="46680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39900" y="44902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60800" y="44902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48000" y="48966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667000" y="50744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67100" y="50744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739900" y="48966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60800" y="48966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92300" y="53030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CH₂OH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9100" y="1982724"/>
            <a:ext cx="4470400" cy="3477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8"/>
              </a:lnSpc>
              <a:spcBef>
                <a:spcPts val="0"/>
              </a:spcBef>
              <a:spcAft>
                <a:spcPts val="0"/>
              </a:spcAft>
              <a:defRPr sz="2300">
                <a:latin typeface="Arial"/>
              </a:defRPr>
            </a:pPr>
            <a:r>
              <a:rPr sz="2300" b="1" lang="es-MX">
                <a:solidFill>
                  <a:srgbClr val="173B50"/>
                </a:solidFill>
                <a:latin typeface="Arial"/>
              </a:rPr>
              <a:t>Glucosa-6-fosfato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004300" y="35631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004300" y="39695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04300" y="43759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004300" y="47823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004300" y="51887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658100" y="32710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CHO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13800" y="36774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432800" y="38552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232900" y="38552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505700" y="36774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26600" y="36774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13800" y="40838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432800" y="42616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32900" y="42616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505700" y="40838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26600" y="40838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13800" y="44902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432800" y="46680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232900" y="46680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505700" y="44902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26600" y="44902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13800" y="48966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432800" y="50744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232900" y="50744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505700" y="48966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26600" y="48966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58100" y="53030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A42365"/>
                </a:solidFill>
                <a:latin typeface="Arial"/>
              </a:rPr>
              <a:t>CH₂–O–P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689600" y="4452112"/>
            <a:ext cx="876300" cy="0"/>
          </a:xfrm>
          <a:prstGeom prst="line">
            <a:avLst/>
          </a:prstGeom>
          <a:ln w="38100">
            <a:solidFill>
              <a:srgbClr val="007F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36600" y="5754624"/>
            <a:ext cx="10718800" cy="3032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P = PO₃²⁻ · Conectividad simplificada; proyección lineal de la serie D.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083 / 380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4.1. Reacción 1: glucosa → glucosa-6-fosfato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04__0__224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Esquema químico Q01: reacción 1 de la glucólisis.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Elaboración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didáctica propia. P representa PO₃²⁻; el enlace al esqueleto carbonado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realiza a través de oxígeno. Las formas lineales simplifican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comparación estructural.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084 / 380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4.1. Reacción 1: glucosa → glucosa-6-fosfato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05__0__234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Enzima y cofactores.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Hexoquinasa; en el hígado y células β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pancreáticas tiene importancia la glucoquinasa, o hexoquinasa IV.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Requiere Mg²⁺: el nucleótido se utiliza coordinado como Mg-ATP. No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necesita NAD⁺, FAD ni otra coenzima redox.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596640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596640"/>
            <a:ext cx="50800" cy="1239011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106__0__192"/>
          <p:cNvSpPr txBox="1"/>
          <p:nvPr/>
        </p:nvSpPr>
        <p:spPr>
          <a:xfrm>
            <a:off x="800100" y="3710940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Cambio estructural.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El grupo –CH₂OH del C6 pasa a –CH₂–O–PO₃²⁻. No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se rompe la cadena de seis carbonos y todavía no se oxida la glucosa.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fosforilo transferido procede del fosfato γ del ATP.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085 / 380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4.1. Reacción 1: glucosa → glucosa-6-fosfato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07__0__343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Mecanismo y finalidad.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 unión del azúcar favorece un cierre del sitio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activo que facilita la transferencia de fosforilo y reduce la hidrólisis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improductiva de ATP por el agua. La G6P ya no atraviesa los GLUT como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 glucosa libre: queda disponible para el metabolismo intracelular. Puede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dirigirse a glucólisis, pentosas fosfato o glucógeno.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92074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92074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108__0__252"/>
          <p:cNvSpPr txBox="1"/>
          <p:nvPr/>
        </p:nvSpPr>
        <p:spPr>
          <a:xfrm>
            <a:off x="800100" y="403504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Energía y control.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Consume 1 ATP por glucosa. Es irreversible 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condiciones celulares y constituye un punto de control. Las hexoquinasas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I–III se inhiben por G6P; la glucoquinasa tiene una regulación distinta y no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presenta esa inhibición por producto.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086 / 380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4.1. Reacción 1: glucosa → glucosa-6-fosfato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239011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09__0__158"/>
          <p:cNvSpPr txBox="1"/>
          <p:nvPr/>
        </p:nvSpPr>
        <p:spPr>
          <a:xfrm>
            <a:off x="800100" y="1995424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Compruebe su aprendizaje.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¿Por qué esta reacción no compromete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toda la glucosa exclusivamente con la glucólisis? Porque la G6P 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compartida por varias rutas.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087 / 380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110__0__5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4.2. Reacción 2: glucosa-6-fosfato ⇌ fructosa-6-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fosfato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590804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11__0__38"/>
          <p:cNvSpPr txBox="1"/>
          <p:nvPr/>
        </p:nvSpPr>
        <p:spPr>
          <a:xfrm>
            <a:off x="800100" y="1995424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Glucosa-6-fosfato ⇌ fructosa-6-fosfato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088 / 380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4.2. Reacción 2: glucosa-6-fosfato ⇌ fructosa-6-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fosfato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4227576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3300" y="1982724"/>
            <a:ext cx="4470400" cy="3477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8"/>
              </a:lnSpc>
              <a:spcBef>
                <a:spcPts val="0"/>
              </a:spcBef>
              <a:spcAft>
                <a:spcPts val="0"/>
              </a:spcAft>
              <a:defRPr sz="2300">
                <a:latin typeface="Arial"/>
              </a:defRPr>
            </a:pPr>
            <a:r>
              <a:rPr sz="2300" b="1" lang="es-MX">
                <a:solidFill>
                  <a:srgbClr val="173B50"/>
                </a:solidFill>
                <a:latin typeface="Arial"/>
              </a:rPr>
              <a:t>Glucosa-6-fosfato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38500" y="35631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38500" y="39695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38500" y="43759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38500" y="47823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38500" y="51887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92300" y="32710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CHO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8000" y="36774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67000" y="38552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67100" y="38552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739900" y="36774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60800" y="36774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8000" y="40838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67000" y="42616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67100" y="42616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739900" y="40838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60800" y="40838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8000" y="44902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667000" y="46680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467100" y="46680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39900" y="44902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60800" y="44902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48000" y="48966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667000" y="50744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67100" y="50744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739900" y="48966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60800" y="48966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92300" y="53030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A42365"/>
                </a:solidFill>
                <a:latin typeface="Arial"/>
              </a:rPr>
              <a:t>CH₂–O–P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9100" y="1982724"/>
            <a:ext cx="4470400" cy="3477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8"/>
              </a:lnSpc>
              <a:spcBef>
                <a:spcPts val="0"/>
              </a:spcBef>
              <a:spcAft>
                <a:spcPts val="0"/>
              </a:spcAft>
              <a:defRPr sz="2300">
                <a:latin typeface="Arial"/>
              </a:defRPr>
            </a:pPr>
            <a:r>
              <a:rPr sz="2300" b="1" lang="es-MX">
                <a:solidFill>
                  <a:srgbClr val="173B50"/>
                </a:solidFill>
                <a:latin typeface="Arial"/>
              </a:rPr>
              <a:t>Fructosa-6-fosfato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004300" y="35631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004300" y="39695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04300" y="43759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004300" y="47823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004300" y="51887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658100" y="32710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CH₂OH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13800" y="36774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32900" y="38044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232900" y="38933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626600" y="36774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13800" y="40838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432800" y="42616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232900" y="42616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505700" y="40838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26600" y="40838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13800" y="44902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432800" y="46680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232900" y="46680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505700" y="44902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26600" y="44902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13800" y="48966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432800" y="50744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232900" y="50744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505700" y="48966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26600" y="48966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58100" y="53030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A42365"/>
                </a:solidFill>
                <a:latin typeface="Arial"/>
              </a:rPr>
              <a:t>CH₂–O–P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689600" y="4452112"/>
            <a:ext cx="876300" cy="0"/>
          </a:xfrm>
          <a:prstGeom prst="line">
            <a:avLst/>
          </a:prstGeom>
          <a:ln w="38100">
            <a:solidFill>
              <a:srgbClr val="007F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5689600" y="4718812"/>
            <a:ext cx="876300" cy="0"/>
          </a:xfrm>
          <a:prstGeom prst="line">
            <a:avLst/>
          </a:prstGeom>
          <a:ln w="30480">
            <a:solidFill>
              <a:srgbClr val="007F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36600" y="5754624"/>
            <a:ext cx="10718800" cy="3032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P = PO₃²⁻ · Conectividad simplificada; proyección lineal de la serie D.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089 / 380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4.2. Reacción 2: glucosa-6-fosfato ⇌ fructosa-6-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fosfato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12__0__224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Esquema químico Q02: reacción 2 de la glucólisis.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Elaboración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didáctica propia. P representa PO₃²⁻; el enlace al esqueleto carbonado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realiza a través de oxígeno. Las formas lineales simplifican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comparación estructural.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090 / 380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4.2. Reacción 2: glucosa-6-fosfato ⇌ fructosa-6-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fosfato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13__0__291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Enzima y componentes.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Fosfoglucosa isomerasa, también llamada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glucosa-6-fosfato isomerasa. No requiere una coenzima redox ni consume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ATP. La catálisis ácido-base depende de residuos del sitio activo; no debe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añadirse un cofactor metálico obligatorio a esta reacción de manera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indiscriminada.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92074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92074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114__0__249"/>
          <p:cNvSpPr txBox="1"/>
          <p:nvPr/>
        </p:nvSpPr>
        <p:spPr>
          <a:xfrm>
            <a:off x="800100" y="403504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Cambio estructural.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 hexosa pasa de aldosa a cetosa: el grupo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carbonilo de la forma abierta se desplaza de C1 a C2. El fosfato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permanece en C6. Se mantienen los seis carbonos y la composición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global; cambia su conectividad alrededor del carbonilo.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091 / 380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4.2. Reacción 2: glucosa-6-fosfato ⇌ fructosa-6-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fosfato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15__0__287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Mecanismo y finalidad.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 enzima favorece la apertura del anillo,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interconversión a través de un intermediario enediol/enediolato y el cierre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del producto. La forma cetónica prepara al azúcar para la fosforilación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C1 y para la escisión posterior en dos fragmentos de tres carbonos.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596640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596640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116__0__233"/>
          <p:cNvSpPr txBox="1"/>
          <p:nvPr/>
        </p:nvSpPr>
        <p:spPr>
          <a:xfrm>
            <a:off x="800100" y="3710940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Energía y reversibilidad.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No consume ni produce ATP o NADH. 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reversible; el flujo hacia F6P depende de las concentraciones y de su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utilización por la PFK-1. La misma enzima participa en sentido contrario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durante la gluconeogénesis.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092 / 380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4.2. Reacción 2: glucosa-6-fosfato ⇌ fructosa-6-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fosfato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914907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17__0__132"/>
          <p:cNvSpPr txBox="1"/>
          <p:nvPr/>
        </p:nvSpPr>
        <p:spPr>
          <a:xfrm>
            <a:off x="800100" y="1995424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Compruebe su aprendizaje.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¿El fosfato cambia de C6 a C1? No. Lo que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cambia es la posición del carbonilo, no la posición del fosfato.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093 / 380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118__0__61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4.3. Reacción 3: fructosa-6-fosfato → fructosa-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1,6-bisfosfato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590804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19__0__56"/>
          <p:cNvSpPr txBox="1"/>
          <p:nvPr/>
        </p:nvSpPr>
        <p:spPr>
          <a:xfrm>
            <a:off x="800100" y="1995424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Fructosa-6-fosfato + ATP → fructosa-1,6-bisfosfato + ADP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094 / 380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4.3. Reacción 3: fructosa-6-fosfato → fructosa-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1,6-bisfosfato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4227576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3300" y="1982724"/>
            <a:ext cx="4470400" cy="3477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8"/>
              </a:lnSpc>
              <a:spcBef>
                <a:spcPts val="0"/>
              </a:spcBef>
              <a:spcAft>
                <a:spcPts val="0"/>
              </a:spcAft>
              <a:defRPr sz="2300">
                <a:latin typeface="Arial"/>
              </a:defRPr>
            </a:pPr>
            <a:r>
              <a:rPr sz="2300" b="1" lang="es-MX">
                <a:solidFill>
                  <a:srgbClr val="173B50"/>
                </a:solidFill>
                <a:latin typeface="Arial"/>
              </a:rPr>
              <a:t>Fructosa-6-fosfato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38500" y="35631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38500" y="39695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38500" y="43759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38500" y="47823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38500" y="51887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92300" y="32710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CH₂OH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8000" y="36774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67100" y="38044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67100" y="38933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860800" y="36774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8000" y="40838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67000" y="42616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467100" y="42616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739900" y="40838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60800" y="40838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8000" y="44902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667000" y="46680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467100" y="46680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739900" y="44902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60800" y="44902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48000" y="48966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667000" y="50744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467100" y="50744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739900" y="48966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60800" y="48966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92300" y="53030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A42365"/>
                </a:solidFill>
                <a:latin typeface="Arial"/>
              </a:rPr>
              <a:t>CH₂–O–P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9100" y="1982724"/>
            <a:ext cx="4470400" cy="3477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8"/>
              </a:lnSpc>
              <a:spcBef>
                <a:spcPts val="0"/>
              </a:spcBef>
              <a:spcAft>
                <a:spcPts val="0"/>
              </a:spcAft>
              <a:defRPr sz="2300">
                <a:latin typeface="Arial"/>
              </a:defRPr>
            </a:pPr>
            <a:r>
              <a:rPr sz="2300" b="1" lang="es-MX">
                <a:solidFill>
                  <a:srgbClr val="173B50"/>
                </a:solidFill>
                <a:latin typeface="Arial"/>
              </a:rPr>
              <a:t>Fructosa-1,6-bisfosfato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004300" y="35631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04300" y="39695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004300" y="43759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04300" y="47823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004300" y="51887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658100" y="32710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CH₂–O–P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13800" y="36774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232900" y="38044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232900" y="38933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626600" y="36774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13800" y="40838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432800" y="42616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232900" y="42616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505700" y="40838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26600" y="40838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13800" y="44902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432800" y="46680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232900" y="46680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505700" y="44902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26600" y="44902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13800" y="48966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432800" y="50744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232900" y="50744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505700" y="48966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26600" y="48966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58100" y="53030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A42365"/>
                </a:solidFill>
                <a:latin typeface="Arial"/>
              </a:rPr>
              <a:t>CH₂–O–P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89600" y="4452112"/>
            <a:ext cx="876300" cy="0"/>
          </a:xfrm>
          <a:prstGeom prst="line">
            <a:avLst/>
          </a:prstGeom>
          <a:ln w="38100">
            <a:solidFill>
              <a:srgbClr val="007F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36600" y="5754624"/>
            <a:ext cx="10718800" cy="3032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P = PO₃²⁻ · Conectividad simplificada; proyección lineal de la serie D.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095 / 380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4.3. Reacción 3: fructosa-6-fosfato → fructosa-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1,6-bisfosfato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20__0__224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Esquema químico Q03: reacción 3 de la glucólisis.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Elaboración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didáctica propia. P representa PO₃²⁻; el enlace al esqueleto carbonado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realiza a través de oxígeno. Las formas lineales simplifican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comparación estructural.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096 / 380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4.3. Reacción 3: fructosa-6-fosfato → fructosa-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1,6-bisfosfato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239011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21__0__186"/>
          <p:cNvSpPr txBox="1"/>
          <p:nvPr/>
        </p:nvSpPr>
        <p:spPr>
          <a:xfrm>
            <a:off x="800100" y="1995424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Enzima y cofactores.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Fosfofructoquinasa-1, PFK-1. Utiliza Mg-ATP, con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Mg²⁺ como cofactor de coordinación. No utiliza NAD⁺. No debe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confundirse con PFK-2, que produce el regulador F2,6BP.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272536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272536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122__0__217"/>
          <p:cNvSpPr txBox="1"/>
          <p:nvPr/>
        </p:nvSpPr>
        <p:spPr>
          <a:xfrm>
            <a:off x="800100" y="3386836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Cambio estructural.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Se añade un fosfato al grupo hidroxilo de C1.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producto tiene fosfatos separados en C1 y C6: es un bisfosfato, no un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difosfato. Ambos fragmentos que se formen por aldolasa conservarán un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fosfato.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097 / 380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4.3. Reacción 3: fructosa-6-fosfato → fructosa-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1,6-bisfosfato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23__0__289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Mecanismo y finalidad.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Ocurre una transferencia de fosforilo desde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ATP. Esta reacción se considera el paso de compromiso de la glucólisis,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porque encamina la hexosa hacia la formación de triosas. La PFK-1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integra información sobre la carga energética y la necesidad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metabolizar glucosa.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92074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920744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124__0__313"/>
          <p:cNvSpPr txBox="1"/>
          <p:nvPr/>
        </p:nvSpPr>
        <p:spPr>
          <a:xfrm>
            <a:off x="800100" y="403504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Energía y regulación.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Consume el segundo ATP por glucosa. 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irreversible. AMP, ADP y F2,6BP favorecen su actividad; concentraciones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altas de ATP, citrato y acidez elevada la inhiben, con variaciones según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tejido. El ATP puede actuar como sustrato en el sitio catalítico y como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inhibidor en un sitio regulador.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098 / 380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4.3. Reacción 3: fructosa-6-fosfato → fructosa-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1,6-bisfosfato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914907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25__0__124"/>
          <p:cNvSpPr txBox="1"/>
          <p:nvPr/>
        </p:nvSpPr>
        <p:spPr>
          <a:xfrm>
            <a:off x="800100" y="1995424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Compruebe su aprendizaje.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¿F1,6BP y F2,6BP son la misma molécula?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No: difieren en la posición de un fosfato y en su función.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099 / 380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126__0__53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4.4. Reacción 4: fructosa-1,6-bisfosfato ⇌ GAP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+ DHAP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914907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27__0__77"/>
          <p:cNvSpPr txBox="1"/>
          <p:nvPr/>
        </p:nvSpPr>
        <p:spPr>
          <a:xfrm>
            <a:off x="800100" y="1995424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Fructosa-1,6-bisfosfato ⇌ gliceraldehído-3-fosfato +</a:t>
            </a:r>
            <a:br/>
            <a:r>
              <a:rPr sz="2200" b="1" lang="es-MX">
                <a:solidFill>
                  <a:srgbClr val="243C4C"/>
                </a:solidFill>
                <a:latin typeface="Arial"/>
              </a:rPr>
              <a:t>dihidroxiacetona fosfato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100 / 380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4.4. Reacción 4: fructosa-1,6-bisfosfato ⇌ GAP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+ DHAP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4227576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982724"/>
            <a:ext cx="3302000" cy="6573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8"/>
              </a:lnSpc>
              <a:spcBef>
                <a:spcPts val="0"/>
              </a:spcBef>
              <a:spcAft>
                <a:spcPts val="0"/>
              </a:spcAft>
              <a:defRPr sz="2300">
                <a:latin typeface="Arial"/>
              </a:defRPr>
            </a:pPr>
            <a:r>
              <a:rPr sz="2300" b="1" lang="es-MX">
                <a:solidFill>
                  <a:srgbClr val="173B50"/>
                </a:solidFill>
                <a:latin typeface="Arial"/>
              </a:rPr>
              <a:t>Fructosa-1,6-</a:t>
            </a:r>
            <a:br/>
            <a:r>
              <a:rPr sz="2300" b="1" lang="es-MX">
                <a:solidFill>
                  <a:srgbClr val="173B50"/>
                </a:solidFill>
                <a:latin typeface="Arial"/>
              </a:rPr>
              <a:t>bisfosfato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13000" y="35631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413000" y="39695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13000" y="43759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413000" y="47823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413000" y="51887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6800" y="32710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CH₂–O–P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2500" y="36774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41600" y="38044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641600" y="38933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035300" y="36774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22500" y="40838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841500" y="42616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641600" y="42616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40838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35300" y="40838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22500" y="44902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841500" y="46680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641600" y="46680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44902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35300" y="44902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22500" y="48966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841500" y="50744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641600" y="50744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4400" y="48966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35300" y="48966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6800" y="53030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A42365"/>
                </a:solidFill>
                <a:latin typeface="Arial"/>
              </a:rPr>
              <a:t>CH₂–O–P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1982724"/>
            <a:ext cx="3302000" cy="6573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8"/>
              </a:lnSpc>
              <a:spcBef>
                <a:spcPts val="0"/>
              </a:spcBef>
              <a:spcAft>
                <a:spcPts val="0"/>
              </a:spcAft>
              <a:defRPr sz="2300">
                <a:latin typeface="Arial"/>
              </a:defRPr>
            </a:pPr>
            <a:r>
              <a:rPr sz="2300" b="1" lang="es-MX">
                <a:solidFill>
                  <a:srgbClr val="173B50"/>
                </a:solidFill>
                <a:latin typeface="Arial"/>
              </a:rPr>
              <a:t>D-gliceraldehído-3-</a:t>
            </a:r>
            <a:br/>
            <a:r>
              <a:rPr sz="2300" b="1" lang="es-MX">
                <a:solidFill>
                  <a:srgbClr val="173B50"/>
                </a:solidFill>
                <a:latin typeface="Arial"/>
              </a:rPr>
              <a:t>fosfato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223000" y="41727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223000" y="45791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876800" y="38806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CHO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2500" y="42870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651500" y="44648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451600" y="44648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724400" y="42870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45300" y="42870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76800" y="46934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A42365"/>
                </a:solidFill>
                <a:latin typeface="Arial"/>
              </a:rPr>
              <a:t>CH₂–O–P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55000" y="1982724"/>
            <a:ext cx="3302000" cy="6573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8"/>
              </a:lnSpc>
              <a:spcBef>
                <a:spcPts val="0"/>
              </a:spcBef>
              <a:spcAft>
                <a:spcPts val="0"/>
              </a:spcAft>
              <a:defRPr sz="2300">
                <a:latin typeface="Arial"/>
              </a:defRPr>
            </a:pPr>
            <a:r>
              <a:rPr sz="2300" b="1" lang="es-MX">
                <a:solidFill>
                  <a:srgbClr val="173B50"/>
                </a:solidFill>
                <a:latin typeface="Arial"/>
              </a:rPr>
              <a:t>Dihidroxiacetona</a:t>
            </a:r>
            <a:br/>
            <a:r>
              <a:rPr sz="2300" b="1" lang="es-MX">
                <a:solidFill>
                  <a:srgbClr val="173B50"/>
                </a:solidFill>
                <a:latin typeface="Arial"/>
              </a:rPr>
              <a:t>fosfato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906000" y="41727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906000" y="45791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559800" y="38806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CH₂OH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15500" y="42870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134600" y="44140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134600" y="45029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0528300" y="42870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59800" y="46934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A42365"/>
                </a:solidFill>
                <a:latin typeface="Arial"/>
              </a:rPr>
              <a:t>CH₂–O–P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127500" y="4452112"/>
            <a:ext cx="762000" cy="0"/>
          </a:xfrm>
          <a:prstGeom prst="line">
            <a:avLst/>
          </a:prstGeom>
          <a:ln w="38100">
            <a:solidFill>
              <a:srgbClr val="007F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4127500" y="4718812"/>
            <a:ext cx="762000" cy="0"/>
          </a:xfrm>
          <a:prstGeom prst="line">
            <a:avLst/>
          </a:prstGeom>
          <a:ln w="30480">
            <a:solidFill>
              <a:srgbClr val="007F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178800" y="4337812"/>
            <a:ext cx="4318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007F88"/>
                </a:solidFill>
                <a:latin typeface="Arial"/>
              </a:rPr>
              <a:t>+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6600" y="5754624"/>
            <a:ext cx="10718800" cy="3032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P = PO₃²⁻ · Conectividad simplificada; proyección lineal de la serie D.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101 / 380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4.4. Reacción 4: fructosa-1,6-bisfosfato ⇌ GAP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+ DHAP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28__0__224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Esquema químico Q04: reacción 4 de la glucólisis.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Elaboración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didáctica propia. P representa PO₃²⁻; el enlace al esqueleto carbonado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realiza a través de oxígeno. Las formas lineales simplifican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comparación estructural.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102 / 380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4.4. Reacción 4: fructosa-1,6-bisfosfato ⇌ GAP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+ DHAP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29__0__280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Enzima y cofactores.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Fructosa-bisfosfato aldolasa. En humanos es una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aldolasa de clase I: utiliza una lisina del sitio activo y no requiere Zn²⁺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como cofactor obligatorio. Algunas aldolasas de clase II de otros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organismos sí utilizan un metal; no deben mezclarse ambos mecanismos.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596640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596640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130__0__211"/>
          <p:cNvSpPr txBox="1"/>
          <p:nvPr/>
        </p:nvSpPr>
        <p:spPr>
          <a:xfrm>
            <a:off x="800100" y="3710940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Cambio estructural.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Se rompe el enlace C3–C4 de la hexosa.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generan dos triosas distintas: GAP, una aldosa, y DHAP, una cetosa. Cada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producto contiene tres carbonos y un fosfato; no se pierde carbono como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103 / 380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4.4. Reacción 4: fructosa-1,6-bisfosfato ⇌ GAP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+ DHAP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31__0__300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Mecanismo y finalidad.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 lisina forma transitoriamente una base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Schiff con el sustrato, estabilizando intermediarios que permiten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escisión. Tras liberarse los productos, la enzima se regenera. El resultado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divide el esqueleto de seis carbonos en unidades adecuadas para la fase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 rendimiento.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92074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92074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132__0__239"/>
          <p:cNvSpPr txBox="1"/>
          <p:nvPr/>
        </p:nvSpPr>
        <p:spPr>
          <a:xfrm>
            <a:off x="800100" y="403504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Energía y reversibilidad.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No forma ATP ni NADH. La reacción 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reversible. Su avance glucolítico se favorece por el consumo de las triosas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 los pasos siguientes, no porque el enlace C–C «se rompa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espontáneamente» sin contexto metabólico.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104 / 380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4.4. Reacción 4: fructosa-1,6-bisfosfato ⇌ GAP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+ DHAP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239011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33__0__141"/>
          <p:cNvSpPr txBox="1"/>
          <p:nvPr/>
        </p:nvSpPr>
        <p:spPr>
          <a:xfrm>
            <a:off x="800100" y="1995424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Compruebe su aprendizaje.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¿Se forman dos GAP directamente? No: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primero se forman un GAP y una DHAP; la segunda triosa requiere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isomerización.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105 / 380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134__0__47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4.5. Reacción 5: dihidroxiacetona fosfato ⇌ GAP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590804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35__0__51"/>
          <p:cNvSpPr txBox="1"/>
          <p:nvPr/>
        </p:nvSpPr>
        <p:spPr>
          <a:xfrm>
            <a:off x="800100" y="1701800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Dihidroxiacetona fosfato ⇌ gliceraldehído-3-fosfato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106 / 380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4.5. Reacción 5: dihidroxiacetona fosfato ⇌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GAP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4227576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3300" y="1982724"/>
            <a:ext cx="4470400" cy="3477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8"/>
              </a:lnSpc>
              <a:spcBef>
                <a:spcPts val="0"/>
              </a:spcBef>
              <a:spcAft>
                <a:spcPts val="0"/>
              </a:spcAft>
              <a:defRPr sz="2300">
                <a:latin typeface="Arial"/>
              </a:defRPr>
            </a:pPr>
            <a:r>
              <a:rPr sz="2300" b="1" lang="es-MX">
                <a:solidFill>
                  <a:srgbClr val="173B50"/>
                </a:solidFill>
                <a:latin typeface="Arial"/>
              </a:rPr>
              <a:t>Dihidroxiacetona fosfato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38500" y="41727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38500" y="45791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92300" y="38806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CH₂OH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8000" y="42870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67100" y="44140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467100" y="45029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60800" y="42870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92300" y="46934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A42365"/>
                </a:solidFill>
                <a:latin typeface="Arial"/>
              </a:rPr>
              <a:t>CH₂–O–P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9100" y="1982724"/>
            <a:ext cx="4470400" cy="3477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8"/>
              </a:lnSpc>
              <a:spcBef>
                <a:spcPts val="0"/>
              </a:spcBef>
              <a:spcAft>
                <a:spcPts val="0"/>
              </a:spcAft>
              <a:defRPr sz="2300">
                <a:latin typeface="Arial"/>
              </a:defRPr>
            </a:pPr>
            <a:r>
              <a:rPr sz="2300" b="1" lang="es-MX">
                <a:solidFill>
                  <a:srgbClr val="173B50"/>
                </a:solidFill>
                <a:latin typeface="Arial"/>
              </a:rPr>
              <a:t>D-gliceraldehído-3-fosfato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04300" y="41727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04300" y="45791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658100" y="38806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CHO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3800" y="42870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32800" y="44648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232900" y="44648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505700" y="42870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26600" y="42870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8100" y="46934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A42365"/>
                </a:solidFill>
                <a:latin typeface="Arial"/>
              </a:rPr>
              <a:t>CH₂–O–P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89600" y="4452112"/>
            <a:ext cx="876300" cy="0"/>
          </a:xfrm>
          <a:prstGeom prst="line">
            <a:avLst/>
          </a:prstGeom>
          <a:ln w="38100">
            <a:solidFill>
              <a:srgbClr val="007F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5689600" y="4718812"/>
            <a:ext cx="876300" cy="0"/>
          </a:xfrm>
          <a:prstGeom prst="line">
            <a:avLst/>
          </a:prstGeom>
          <a:ln w="30480">
            <a:solidFill>
              <a:srgbClr val="007F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6600" y="5754624"/>
            <a:ext cx="10718800" cy="3032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P = PO₃²⁻ · Conectividad simplificada; proyección lineal de la serie 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107 / 380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4.5. Reacción 5: dihidroxiacetona fosfato ⇌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GAP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36__0__224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Esquema químico Q05: reacción 5 de la glucólisis.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Elaboración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didáctica propia. P representa PO₃²⁻; el enlace al esqueleto carbonado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realiza a través de oxígeno. Las formas lineales simplifican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comparación estructural.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108 / 380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4.5. Reacción 5: dihidroxiacetona fosfato ⇌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GAP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37__0__244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Enzima y componentes.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Triosa-fosfato isomerasa, TPI. No consume ATP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ni requiere NAD⁺ o FAD. Residuos del sitio activo, entre ellos glutamato 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histidina, participan en la transferencia de protones; son parte de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enzima, no coenzimas externas.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596640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596640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138__0__224"/>
          <p:cNvSpPr txBox="1"/>
          <p:nvPr/>
        </p:nvSpPr>
        <p:spPr>
          <a:xfrm>
            <a:off x="800100" y="3710940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Cambio estructural.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 cetosa DHAP se convierte en la aldosa GAP.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Cambia la posición del carbonilo, manteniéndose tres carbonos y un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grupo fosfato. El producto que continúa por la glucólisis es el D-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gliceraldehído-3-fosfato.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109 / 380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4.5. Reacción 5: dihidroxiacetona fosfato ⇌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GAP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39__0__255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Mecanismo y finalidad.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 catálisis ácido-base transcurre a través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un intermediario enediolato. Permite aprovechar el carbono de la DHAP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 los pasos de rendimiento. Al finalizar el conjunto de reacciones 4 y 5,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cada glucosa puede proporcionar dos GAP.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596640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596640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140__0__320"/>
          <p:cNvSpPr txBox="1"/>
          <p:nvPr/>
        </p:nvSpPr>
        <p:spPr>
          <a:xfrm>
            <a:off x="800100" y="3710940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Energía y precisión termodinámica.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No hay ganancia energética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directa. La reacción es reversible. El equilibrio aislado favorece DHAP; sin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embargo, la retirada continua de GAP por la reacción 6 dirige el flujo neto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hacia su formación. Se distingue así el equilibrio de una reacción aislada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del funcionamiento de una vía.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110 / 380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4.5. Reacción 5: dihidroxiacetona fosfato ⇌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GAP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239011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41__0__154"/>
          <p:cNvSpPr txBox="1"/>
          <p:nvPr/>
        </p:nvSpPr>
        <p:spPr>
          <a:xfrm>
            <a:off x="800100" y="1995424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Compruebe su aprendizaje.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¿Cuántas veces ocurre la oxidación del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GAP por glucosa? Dos, porque termina procesándose el GAP inicial y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procedente de DHAP.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111 / 380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142__0__58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4.6. Reacción 6: oxidación del GAP a 1,3-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bisfosfoglicerato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590804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43__0__51"/>
          <p:cNvSpPr txBox="1"/>
          <p:nvPr/>
        </p:nvSpPr>
        <p:spPr>
          <a:xfrm>
            <a:off x="800100" y="1995424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GAP + Pi + NAD⁺ ⇌ 1,3-bisfosfoglicerato + NADH + H⁺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112 / 380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4.6. Reacción 6: oxidación del GAP a 1,3-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bisfosfoglicerato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4227576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3300" y="1982724"/>
            <a:ext cx="4470400" cy="3477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8"/>
              </a:lnSpc>
              <a:spcBef>
                <a:spcPts val="0"/>
              </a:spcBef>
              <a:spcAft>
                <a:spcPts val="0"/>
              </a:spcAft>
              <a:defRPr sz="2300">
                <a:latin typeface="Arial"/>
              </a:defRPr>
            </a:pPr>
            <a:r>
              <a:rPr sz="2300" b="1" lang="es-MX">
                <a:solidFill>
                  <a:srgbClr val="173B50"/>
                </a:solidFill>
                <a:latin typeface="Arial"/>
              </a:rPr>
              <a:t>D-gliceraldehído-3-fosfato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38500" y="41727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38500" y="45791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92300" y="38806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8000" y="42870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67000" y="44648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467100" y="44648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39900" y="42870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60800" y="42870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2300" y="46934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A42365"/>
                </a:solidFill>
                <a:latin typeface="Arial"/>
              </a:rPr>
              <a:t>CH₂–O–P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9100" y="1982724"/>
            <a:ext cx="4470400" cy="3477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8"/>
              </a:lnSpc>
              <a:spcBef>
                <a:spcPts val="0"/>
              </a:spcBef>
              <a:spcAft>
                <a:spcPts val="0"/>
              </a:spcAft>
              <a:defRPr sz="2300">
                <a:latin typeface="Arial"/>
              </a:defRPr>
            </a:pPr>
            <a:r>
              <a:rPr sz="2300" b="1" lang="es-MX">
                <a:solidFill>
                  <a:srgbClr val="173B50"/>
                </a:solidFill>
                <a:latin typeface="Arial"/>
              </a:rPr>
              <a:t>1,3-bisfosfoglicerato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04300" y="41727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04300" y="45791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813800" y="38806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0700" y="3880612"/>
            <a:ext cx="406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83600" y="4007612"/>
            <a:ext cx="2667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483600" y="4096512"/>
            <a:ext cx="2667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232900" y="40584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613900" y="3880612"/>
            <a:ext cx="9652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A42365"/>
                </a:solidFill>
                <a:latin typeface="Arial"/>
              </a:rPr>
              <a:t>O–P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13800" y="42870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32800" y="44648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32900" y="44648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505700" y="42870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26600" y="42870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58100" y="46934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A42365"/>
                </a:solidFill>
                <a:latin typeface="Arial"/>
              </a:rPr>
              <a:t>CH₂–O–P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89600" y="4452112"/>
            <a:ext cx="876300" cy="0"/>
          </a:xfrm>
          <a:prstGeom prst="line">
            <a:avLst/>
          </a:prstGeom>
          <a:ln w="38100">
            <a:solidFill>
              <a:srgbClr val="007F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5689600" y="4718812"/>
            <a:ext cx="876300" cy="0"/>
          </a:xfrm>
          <a:prstGeom prst="line">
            <a:avLst/>
          </a:prstGeom>
          <a:ln w="30480">
            <a:solidFill>
              <a:srgbClr val="007F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36600" y="5754624"/>
            <a:ext cx="10718800" cy="3032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P = PO₃²⁻ · Conectividad simplificada; proyección lineal de la serie 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113 / 380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4.6. Reacción 6: oxidación del GAP a 1,3-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bisfosfoglicerato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44__0__224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Esquema químico Q06: reacción 6 de la glucólisis.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Elaboración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didáctica propia. P representa PO₃²⁻; el enlace al esqueleto carbonado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realiza a través de oxígeno. Las formas lineales simplifican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comparación estructural.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114 / 380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4.6. Reacción 6: oxidación del GAP a 1,3-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bisfosfoglicerato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239011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45__0__201"/>
          <p:cNvSpPr txBox="1"/>
          <p:nvPr/>
        </p:nvSpPr>
        <p:spPr>
          <a:xfrm>
            <a:off x="800100" y="1995424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Enzima y coenzima.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Gliceraldehído-3-fosfato deshidrogenasa, GAPDH.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Utiliza NAD⁺ como cosustrato oxidante, derivado de vitamina B3, y Pi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como sustrato. No consume ATP para incorporar este nuevo fosfato.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272536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272536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146__0__250"/>
          <p:cNvSpPr txBox="1"/>
          <p:nvPr/>
        </p:nvSpPr>
        <p:spPr>
          <a:xfrm>
            <a:off x="800100" y="3386836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Cambio estructural.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El aldehído de C1 se oxida y se convierte en un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fosfato de acilo: –C(=O)–O–PO₃²⁻. El fosfato de C3 permanece como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fosfoéster. Los dos fosfatos del producto no tienen el mismo entorno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químico ni el mismo potencial de transferencia.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115 / 380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4.6. Reacción 6: oxidación del GAP a 1,3-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bisfosfoglicerato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47__0__307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Mecanismo y finalidad.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Una cisteína del sitio activo forma un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intermediario covalente. La transferencia de un hidruro a NAD⁺ forma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NADH; un intermediario tioéster conserva parte de la energía de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oxidación. Después entra Pi y se libera 1,3-BPG. Así se acoplan oxidación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y fosforilación sin recurrir a ATP.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920744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920744"/>
            <a:ext cx="50800" cy="1239011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148__0__189"/>
          <p:cNvSpPr txBox="1"/>
          <p:nvPr/>
        </p:nvSpPr>
        <p:spPr>
          <a:xfrm>
            <a:off x="800100" y="4035044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Balance.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Por GAP se forma 1 NADH; por glucosa, 2 NADH. Es una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reacción reversible. Si falta NAD⁺ porque no se reoxida NADH, el flujo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frena y se compromete la producción posterior de ATP.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116 / 380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4.6. Reacción 6: oxidación del GAP a 1,3-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bisfosfoglicerato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914907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49__0__104"/>
          <p:cNvSpPr txBox="1"/>
          <p:nvPr/>
        </p:nvSpPr>
        <p:spPr>
          <a:xfrm>
            <a:off x="800100" y="1995424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Compruebe su aprendizaje.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¿De dónde procede el fosfato añadido 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C1? Del fosfato inorgánico, no de ATP.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117 / 380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150__0__58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4.7. Reacción 7: primera fosforilación a nivel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de sustrato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590804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51__0__52"/>
          <p:cNvSpPr txBox="1"/>
          <p:nvPr/>
        </p:nvSpPr>
        <p:spPr>
          <a:xfrm>
            <a:off x="800100" y="1995424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1,3-bisfosfoglicerato + ADP ⇌ 3-fosfoglicerato + ATP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118 / 380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4.7. Reacción 7: primera fosforilación a nivel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de sustrato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4227576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3300" y="1982724"/>
            <a:ext cx="4470400" cy="3477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8"/>
              </a:lnSpc>
              <a:spcBef>
                <a:spcPts val="0"/>
              </a:spcBef>
              <a:spcAft>
                <a:spcPts val="0"/>
              </a:spcAft>
              <a:defRPr sz="2300">
                <a:latin typeface="Arial"/>
              </a:defRPr>
            </a:pPr>
            <a:r>
              <a:rPr sz="2300" b="1" lang="es-MX">
                <a:solidFill>
                  <a:srgbClr val="173B50"/>
                </a:solidFill>
                <a:latin typeface="Arial"/>
              </a:rPr>
              <a:t>1,3-bisfosfoglicerato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38500" y="41727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38500" y="45791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048000" y="38806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4900" y="3880612"/>
            <a:ext cx="406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17800" y="4007612"/>
            <a:ext cx="2667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17800" y="4096512"/>
            <a:ext cx="2667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467100" y="40584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48100" y="3880612"/>
            <a:ext cx="9652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A42365"/>
                </a:solidFill>
                <a:latin typeface="Arial"/>
              </a:rPr>
              <a:t>O–P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8000" y="42870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67000" y="44648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467100" y="44648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739900" y="42870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0800" y="42870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92300" y="46934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A42365"/>
                </a:solidFill>
                <a:latin typeface="Arial"/>
              </a:rPr>
              <a:t>CH₂–O–P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9100" y="1982724"/>
            <a:ext cx="4470400" cy="3477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8"/>
              </a:lnSpc>
              <a:spcBef>
                <a:spcPts val="0"/>
              </a:spcBef>
              <a:spcAft>
                <a:spcPts val="0"/>
              </a:spcAft>
              <a:defRPr sz="2300">
                <a:latin typeface="Arial"/>
              </a:defRPr>
            </a:pPr>
            <a:r>
              <a:rPr sz="2300" b="1" lang="es-MX">
                <a:solidFill>
                  <a:srgbClr val="173B50"/>
                </a:solidFill>
                <a:latin typeface="Arial"/>
              </a:rPr>
              <a:t>3-fosfoglicerato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04300" y="41727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004300" y="45791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658100" y="38806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COO⁻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13800" y="42870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32800" y="44648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32900" y="44648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505700" y="42870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26600" y="42870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58100" y="46934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A42365"/>
                </a:solidFill>
                <a:latin typeface="Arial"/>
              </a:rPr>
              <a:t>CH₂–O–P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89600" y="4452112"/>
            <a:ext cx="876300" cy="0"/>
          </a:xfrm>
          <a:prstGeom prst="line">
            <a:avLst/>
          </a:prstGeom>
          <a:ln w="38100">
            <a:solidFill>
              <a:srgbClr val="007F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5689600" y="4718812"/>
            <a:ext cx="876300" cy="0"/>
          </a:xfrm>
          <a:prstGeom prst="line">
            <a:avLst/>
          </a:prstGeom>
          <a:ln w="30480">
            <a:solidFill>
              <a:srgbClr val="007F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36600" y="5754624"/>
            <a:ext cx="10718800" cy="3032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P = PO₃²⁻ · Conectividad simplificada; proyección lineal de la serie 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119 / 380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4.7. Reacción 7: primera fosforilación a nivel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de sustrato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52__0__224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Esquema químico Q07: reacción 7 de la glucólisis.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Elaboración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didáctica propia. P representa PO₃²⁻; el enlace al esqueleto carbonado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realiza a través de oxígeno. Las formas lineales simplifican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comparación estructural.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120 / 380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4.7. Reacción 7: primera fosforilación a nivel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de sustrato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239011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53__0__208"/>
          <p:cNvSpPr txBox="1"/>
          <p:nvPr/>
        </p:nvSpPr>
        <p:spPr>
          <a:xfrm>
            <a:off x="800100" y="1995424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Enzima y cofactor.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Fosfoglicerato quinasa. Requiere Mg²⁺ para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utilización apropiada de los nucleótidos. El ADP acepta el grupo fosforilo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se transforma en ATP. No hay una nueva oxidación ni se forma NADH.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272536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272536"/>
            <a:ext cx="50800" cy="1239011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154__0__210"/>
          <p:cNvSpPr txBox="1"/>
          <p:nvPr/>
        </p:nvSpPr>
        <p:spPr>
          <a:xfrm>
            <a:off x="800100" y="3386836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Cambio estructural.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El grupo fosfato de acilo de C1 se transfiere a ADP.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C1 queda como carboxilato, mientras que el fosfato de C3 se conserva.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Por ello el producto es 3-fosfoglicerato, no glicerato sin fosfato.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121 / 380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4.7. Reacción 7: primera fosforilación a nivel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de sustrato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55__0__255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Mecanismo y finalidad.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 enzima aproxima el donador y el aceptor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para transferir fosforilo directamente desde 1,3-BPG a ADP. Se llama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fosforilación a nivel de sustrato porque no requiere una cadena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respiratoria ni una ATP sintasa para esta transferencia.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596640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596640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156__0__309"/>
          <p:cNvSpPr txBox="1"/>
          <p:nvPr/>
        </p:nvSpPr>
        <p:spPr>
          <a:xfrm>
            <a:off x="800100" y="3710940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Balance y reversibilidad.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Produce 1 ATP por GAP procesado y 2 ATP por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glucosa. Es reversible en condiciones metabólicas; en gluconeogénesis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trabaja en sentido contrario y consume ATP. Al llegar aquí, los dos ATP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obtenidos compensan los dos que se gastaron inicialmente: todavía no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existe ganancia neta de ATP.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122 / 380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4.7. Reacción 7: primera fosforilación a nivel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de sustrato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239011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57__0__160"/>
          <p:cNvSpPr txBox="1"/>
          <p:nvPr/>
        </p:nvSpPr>
        <p:spPr>
          <a:xfrm>
            <a:off x="800100" y="1995424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Compruebe su aprendizaje.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¿Por qué esta etapa puede formar ATP?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Porque el fosfato de acilo del 1,3-BPG tiene suficiente potencial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transferencia de fosforilo.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123 / 380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158__0__52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4.8. Reacción 8: 3-fosfoglicerato ⇌ 2-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fosfoglicerato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590804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59__0__35"/>
          <p:cNvSpPr txBox="1"/>
          <p:nvPr/>
        </p:nvSpPr>
        <p:spPr>
          <a:xfrm>
            <a:off x="800100" y="1995424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3-fosfoglicerato ⇌ 2-fosfoglicerato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124 / 380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4.8. Reacción 8: 3-fosfoglicerato ⇌ 2-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fosfoglicerato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4227576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3300" y="1982724"/>
            <a:ext cx="4470400" cy="3477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8"/>
              </a:lnSpc>
              <a:spcBef>
                <a:spcPts val="0"/>
              </a:spcBef>
              <a:spcAft>
                <a:spcPts val="0"/>
              </a:spcAft>
              <a:defRPr sz="2300">
                <a:latin typeface="Arial"/>
              </a:defRPr>
            </a:pPr>
            <a:r>
              <a:rPr sz="2300" b="1" lang="es-MX">
                <a:solidFill>
                  <a:srgbClr val="173B50"/>
                </a:solidFill>
                <a:latin typeface="Arial"/>
              </a:rPr>
              <a:t>3-fosfoglicerato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38500" y="41727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38500" y="45791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92300" y="38806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COO⁻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8000" y="42870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67000" y="44648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467100" y="44648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39900" y="42870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60800" y="42870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2300" y="46934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A42365"/>
                </a:solidFill>
                <a:latin typeface="Arial"/>
              </a:rPr>
              <a:t>CH₂–O–P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9100" y="1982724"/>
            <a:ext cx="4470400" cy="3477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8"/>
              </a:lnSpc>
              <a:spcBef>
                <a:spcPts val="0"/>
              </a:spcBef>
              <a:spcAft>
                <a:spcPts val="0"/>
              </a:spcAft>
              <a:defRPr sz="2300">
                <a:latin typeface="Arial"/>
              </a:defRPr>
            </a:pPr>
            <a:r>
              <a:rPr sz="2300" b="1" lang="es-MX">
                <a:solidFill>
                  <a:srgbClr val="173B50"/>
                </a:solidFill>
                <a:latin typeface="Arial"/>
              </a:rPr>
              <a:t>2-fosfoglicerato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04300" y="41727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04300" y="45791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658100" y="38806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COO⁻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13800" y="42870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2800" y="44648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32900" y="44648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505700" y="42870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26600" y="42870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A42365"/>
                </a:solidFill>
                <a:latin typeface="Arial"/>
              </a:rPr>
              <a:t>O–P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8100" y="46934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CH₂OH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89600" y="4452112"/>
            <a:ext cx="876300" cy="0"/>
          </a:xfrm>
          <a:prstGeom prst="line">
            <a:avLst/>
          </a:prstGeom>
          <a:ln w="38100">
            <a:solidFill>
              <a:srgbClr val="007F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5689600" y="4718812"/>
            <a:ext cx="876300" cy="0"/>
          </a:xfrm>
          <a:prstGeom prst="line">
            <a:avLst/>
          </a:prstGeom>
          <a:ln w="30480">
            <a:solidFill>
              <a:srgbClr val="007F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36600" y="5754624"/>
            <a:ext cx="10718800" cy="3032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P = PO₃²⁻ · Conectividad simplificada; proyección lineal de la serie 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125 / 380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4.8. Reacción 8: 3-fosfoglicerato ⇌ 2-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fosfoglicerato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60__0__224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Esquema químico Q08: reacción 8 de la glucólisis.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Elaboración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didáctica propia. P representa PO₃²⁻; el enlace al esqueleto carbonado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realiza a través de oxígeno. Las formas lineales simplifican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comparación estructural.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126 / 380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4.8. Reacción 8: 3-fosfoglicerato ⇌ 2-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fosfoglicerato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61__0__275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Enzima y cofactor.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Fosfoglicerato mutasa. La forma humana pertenece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 la clase dependiente de 2,3-bisfosfoglicerato: pequeñas cantidades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este compuesto ceban el estado fosforilado de una histidina catalítica. No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requiere una coenzima redox ni gasto estequiométrico de ATP.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596640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596640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162__0__217"/>
          <p:cNvSpPr txBox="1"/>
          <p:nvPr/>
        </p:nvSpPr>
        <p:spPr>
          <a:xfrm>
            <a:off x="800100" y="3710940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Cambio estructural.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 posición del fosfato pasa de C3 a C2.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conservan el carboxilato y los tres carbonos. La enzima es una mutasa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porque cambia la ubicación de un grupo funcional dentro del esqueleto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del sustrato.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127 / 380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4.8. Reacción 8: 3-fosfoglicerato ⇌ 2-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fosfoglicerato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63__0__342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Mecanismo y finalidad.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 histidina fosforilada dona un fosfato al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sustrato para formar transitoriamente 2,3-BPG y luego recupera el otro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fosfato. La reubicación prepara el sustrato para la deshidratación por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enolasa. El 2,3-BPG es un intermediario de la catálisis y un cofactor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cebado; no se incorpora una molécula neta por cada reacción.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92074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92074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164__0__252"/>
          <p:cNvSpPr txBox="1"/>
          <p:nvPr/>
        </p:nvSpPr>
        <p:spPr>
          <a:xfrm>
            <a:off x="800100" y="403504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Balance y precisión.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No se forma ATP ni NADH; la reacción 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reversible. No debe atribuirse a todas las mutasas el mismo cofactor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metálico: las mutasas independientes de 2,3-BPG de otros organismos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pueden requerir metales y tener un mecanismo distinto.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128 / 380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4.8. Reacción 8: 3-fosfoglicerato ⇌ 2-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fosfoglicerato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914907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65__0__125"/>
          <p:cNvSpPr txBox="1"/>
          <p:nvPr/>
        </p:nvSpPr>
        <p:spPr>
          <a:xfrm>
            <a:off x="800100" y="1995424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Compruebe su aprendizaje.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¿Cambiar de posición el fosfato basta para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generar ATP? No. Primero debe formarse PEP en el paso 9.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129 / 380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166__0__52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4.9. Reacción 9: deshidratación del 2-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fosfoglicerato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590804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67__0__42"/>
          <p:cNvSpPr txBox="1"/>
          <p:nvPr/>
        </p:nvSpPr>
        <p:spPr>
          <a:xfrm>
            <a:off x="800100" y="1995424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2-fosfoglicerato ⇌ fosfoenolpiruvato + H₂O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130 / 380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4.9. Reacción 9: deshidratación del 2-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fosfoglicerato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4227576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3300" y="1982724"/>
            <a:ext cx="4470400" cy="3477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8"/>
              </a:lnSpc>
              <a:spcBef>
                <a:spcPts val="0"/>
              </a:spcBef>
              <a:spcAft>
                <a:spcPts val="0"/>
              </a:spcAft>
              <a:defRPr sz="2300">
                <a:latin typeface="Arial"/>
              </a:defRPr>
            </a:pPr>
            <a:r>
              <a:rPr sz="2300" b="1" lang="es-MX">
                <a:solidFill>
                  <a:srgbClr val="173B50"/>
                </a:solidFill>
                <a:latin typeface="Arial"/>
              </a:rPr>
              <a:t>2-fosfoglicerato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38500" y="41727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38500" y="45791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92300" y="38806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COO⁻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8000" y="42870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67000" y="44648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467100" y="44648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39900" y="4287012"/>
            <a:ext cx="927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60800" y="42870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A42365"/>
                </a:solidFill>
                <a:latin typeface="Arial"/>
              </a:rPr>
              <a:t>O–P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2300" y="46934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CH₂OH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9100" y="1982724"/>
            <a:ext cx="4470400" cy="3477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8"/>
              </a:lnSpc>
              <a:spcBef>
                <a:spcPts val="0"/>
              </a:spcBef>
              <a:spcAft>
                <a:spcPts val="0"/>
              </a:spcAft>
              <a:defRPr sz="2300">
                <a:latin typeface="Arial"/>
              </a:defRPr>
            </a:pPr>
            <a:r>
              <a:rPr sz="2300" b="1" lang="es-MX">
                <a:solidFill>
                  <a:srgbClr val="173B50"/>
                </a:solidFill>
                <a:latin typeface="Arial"/>
              </a:rPr>
              <a:t>Fosfoenolpiruvato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04300" y="41727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04300" y="45791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93200" y="45791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658100" y="38806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COO⁻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13800" y="42870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32900" y="44648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626600" y="42870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A42365"/>
                </a:solidFill>
                <a:latin typeface="Arial"/>
              </a:rPr>
              <a:t>O–P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8100" y="46934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CH₂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89600" y="4452112"/>
            <a:ext cx="876300" cy="0"/>
          </a:xfrm>
          <a:prstGeom prst="line">
            <a:avLst/>
          </a:prstGeom>
          <a:ln w="38100">
            <a:solidFill>
              <a:srgbClr val="007F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5689600" y="4718812"/>
            <a:ext cx="876300" cy="0"/>
          </a:xfrm>
          <a:prstGeom prst="line">
            <a:avLst/>
          </a:prstGeom>
          <a:ln w="30480">
            <a:solidFill>
              <a:srgbClr val="007F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6600" y="5754624"/>
            <a:ext cx="10718800" cy="3032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P = PO₃²⁻ · Conectividad simplificada; proyección lineal de la serie 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131 / 380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4.9. Reacción 9: deshidratación del 2-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fosfoglicerato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68__0__224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Esquema químico Q09: reacción 9 de la glucólisis.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Elaboración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didáctica propia. P representa PO₃²⁻; el enlace al esqueleto carbonado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realiza a través de oxígeno. Las formas lineales simplifican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comparación estructural.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132 / 380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4.9. Reacción 9: deshidratación del 2-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fosfoglicerato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239011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69__0__144"/>
          <p:cNvSpPr txBox="1"/>
          <p:nvPr/>
        </p:nvSpPr>
        <p:spPr>
          <a:xfrm>
            <a:off x="800100" y="1995424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Enzima y cofactor.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Enolasa. Requiere Mg²⁺ para la catálisis y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estabilización de intermediarios. No utiliza una coenzima redox ni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consume ATP.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272536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272536"/>
            <a:ext cx="50800" cy="1239011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170__0__195"/>
          <p:cNvSpPr txBox="1"/>
          <p:nvPr/>
        </p:nvSpPr>
        <p:spPr>
          <a:xfrm>
            <a:off x="800100" y="3386836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Cambio estructural.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Se elimina una molécula de agua y se forma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doble enlace C2=C3. El fosfato permanece unido al oxígeno de C2,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formando un enol fosfato. El producto es fosfoenolpiruvato, PEP.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133 / 380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4.9. Reacción 9: deshidratación del 2-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fosfoglicerato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71__0__335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Mecanismo y finalidad.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Residuos del sitio activo extraen y transfieren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protones; los iones metálicos ayudan a estabilizar el intermediario.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deshidratación cambia la naturaleza química del donador de fosforilo.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PEP tiene un potencial de transferencia elevado, relacionado con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estabilización del piruvato que se formará después.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920744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920744"/>
            <a:ext cx="50800" cy="1239011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172__0__193"/>
          <p:cNvSpPr txBox="1"/>
          <p:nvPr/>
        </p:nvSpPr>
        <p:spPr>
          <a:xfrm>
            <a:off x="800100" y="4035044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Balance y reversibilidad.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Se forma 1 H₂O por triosa y 2 por glucosa. No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se sintetiza ATP todavía. La reacción es reversible y la enolasa hidrata PEP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cuando trabaja en el sentido gluconeogénico.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134 / 380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4.9. Reacción 9: deshidratación del 2-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fosfoglicerato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239011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73__0__164"/>
          <p:cNvSpPr txBox="1"/>
          <p:nvPr/>
        </p:nvSpPr>
        <p:spPr>
          <a:xfrm>
            <a:off x="800100" y="1995424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Compruebe su aprendizaje.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¿Deshidratación significa pérdida de todos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los hidrógenos o de fosfato? No: significa eliminación de agua. El fosfato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permanece en el PEP.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135 / 380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174__0__60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4.10. Reacción 10: segunda fosforilación 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nivel de sustrato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590804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75__0__40"/>
          <p:cNvSpPr txBox="1"/>
          <p:nvPr/>
        </p:nvSpPr>
        <p:spPr>
          <a:xfrm>
            <a:off x="800100" y="1995424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Fosfoenolpiruvato + ADP → piruvato + ATP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136 / 380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4.10. Reacción 10: segunda fosforilación 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nivel de sustrato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4227576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3300" y="1982724"/>
            <a:ext cx="4470400" cy="3477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8"/>
              </a:lnSpc>
              <a:spcBef>
                <a:spcPts val="0"/>
              </a:spcBef>
              <a:spcAft>
                <a:spcPts val="0"/>
              </a:spcAft>
              <a:defRPr sz="2300">
                <a:latin typeface="Arial"/>
              </a:defRPr>
            </a:pPr>
            <a:r>
              <a:rPr sz="2300" b="1" lang="es-MX">
                <a:solidFill>
                  <a:srgbClr val="173B50"/>
                </a:solidFill>
                <a:latin typeface="Arial"/>
              </a:rPr>
              <a:t>Fosfoenolpiruvato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38500" y="41727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38500" y="45791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327400" y="45791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92300" y="38806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COO⁻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8000" y="42870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67100" y="44648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60800" y="42870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A42365"/>
                </a:solidFill>
                <a:latin typeface="Arial"/>
              </a:rPr>
              <a:t>O–P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92300" y="46934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CH₂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9100" y="1982724"/>
            <a:ext cx="4470400" cy="3477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8"/>
              </a:lnSpc>
              <a:spcBef>
                <a:spcPts val="0"/>
              </a:spcBef>
              <a:spcAft>
                <a:spcPts val="0"/>
              </a:spcAft>
              <a:defRPr sz="2300">
                <a:latin typeface="Arial"/>
              </a:defRPr>
            </a:pPr>
            <a:r>
              <a:rPr sz="2300" b="1" lang="es-MX">
                <a:solidFill>
                  <a:srgbClr val="173B50"/>
                </a:solidFill>
                <a:latin typeface="Arial"/>
              </a:rPr>
              <a:t>Piruvato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04300" y="41727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04300" y="4579112"/>
            <a:ext cx="0" cy="13970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658100" y="38806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COO⁻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3800" y="4287012"/>
            <a:ext cx="3810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32900" y="44140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232900" y="4502912"/>
            <a:ext cx="342900" cy="0"/>
          </a:xfrm>
          <a:prstGeom prst="line">
            <a:avLst/>
          </a:prstGeom>
          <a:ln w="22860">
            <a:solidFill>
              <a:srgbClr val="243C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626600" y="4287012"/>
            <a:ext cx="10541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8100" y="4693412"/>
            <a:ext cx="2692400" cy="393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>
                <a:latin typeface="Arial"/>
              </a:defRPr>
            </a:pPr>
            <a:r>
              <a:rPr sz="2500" b="0" lang="es-MX">
                <a:solidFill>
                  <a:srgbClr val="243C4C"/>
                </a:solidFill>
                <a:latin typeface="Arial"/>
              </a:rPr>
              <a:t>CH₃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89600" y="4452112"/>
            <a:ext cx="876300" cy="0"/>
          </a:xfrm>
          <a:prstGeom prst="line">
            <a:avLst/>
          </a:prstGeom>
          <a:ln w="38100">
            <a:solidFill>
              <a:srgbClr val="007F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36600" y="5754624"/>
            <a:ext cx="10718800" cy="3032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P = PO₃²⁻ · Conectividad simplificada; proyección lineal de la serie 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137 / 380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4.10. Reacción 10: segunda fosforilación 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nivel de sustrato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76__0__225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Esquema químico Q10: reacción 10 de la glucólisis.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Elaboración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didáctica propia. P representa PO₃²⁻; el enlace al esqueleto carbonado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realiza a través de oxígeno. Las formas lineales simplifican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comparación estructural.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138 / 380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4.10. Reacción 10: segunda fosforilación 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nivel de sustrato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239011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77__0__186"/>
          <p:cNvSpPr txBox="1"/>
          <p:nvPr/>
        </p:nvSpPr>
        <p:spPr>
          <a:xfrm>
            <a:off x="800100" y="1995424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Enzima y cofactores.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Piruvato quinasa. Utiliza un catión divalente,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normalmente Mg²⁺, y K⁺ como cofactor monovalente. El ADP es el aceptor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 fosforilo. No utiliza NAD⁺ en esta reacción.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272536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272536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178__0__222"/>
          <p:cNvSpPr txBox="1"/>
          <p:nvPr/>
        </p:nvSpPr>
        <p:spPr>
          <a:xfrm>
            <a:off x="800100" y="3386836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Cambio estructural.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PEP cede su fosforilo y origina inicialmente un enol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que se convierte en la forma cetónica estable del piruvato. El producto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tiene tres carbonos y un carboxilato, pero ya no contiene el fosfato del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139 / 380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4.10. Reacción 10: segunda fosforilación 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nivel de sustrato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79__0__286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Mecanismo y finalidad.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 transferencia a ADP, seguida de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tautomerización enol→ceto del producto, favorece fuertemente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reacción global. La estabilidad de los productos explica el elevado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potencial de transferencia del PEP; no basta describirlo como un «enlace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que guarda energía».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92074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920744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180__0__344"/>
          <p:cNvSpPr txBox="1"/>
          <p:nvPr/>
        </p:nvSpPr>
        <p:spPr>
          <a:xfrm>
            <a:off x="800100" y="403504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Balance y control.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Produce 1 ATP por triosa y 2 por glucosa. 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irreversible en condiciones fisiológicas. La ganancia neta de la vía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alcanza aquí: 4 ATP producidos menos 2 invertidos = 2 ATP netos. F1,6BP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 activa por anticipación; ATP y alanina pueden inhibirla. La isoforma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hepática se inactiva por fosforilación en respuesta al glucagón.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140 / 380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4.10. Reacción 10: segunda fosforilación 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nivel de sustrato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81__0__197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Compruebe su aprendizaje.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¿La piruvato quinasa puede invertir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directamente esta reacción para sintetizar PEP? No de forma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fisiológicamente útil: la gluconeogénesis necesita un rodeo de dos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enzimas.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141 / 380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3358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381000"/>
            <a:ext cx="11023600" cy="330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99DEDF"/>
                </a:solidFill>
                <a:latin typeface="Arial"/>
              </a:rPr>
              <a:t>CAPÍTULO 11 · SECCIÓN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016000"/>
            <a:ext cx="2413000" cy="1270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defRPr sz="8000">
                <a:latin typeface="Arial"/>
              </a:defRPr>
            </a:pPr>
            <a:r>
              <a:rPr sz="8000" b="1" lang="es-MX">
                <a:solidFill>
                  <a:srgbClr val="37D3C6"/>
                </a:solidFill>
                <a:latin typeface="Arial"/>
              </a:rPr>
              <a:t>05</a:t>
            </a:r>
          </a:p>
        </p:txBody>
      </p:sp>
      <p:sp>
        <p:nvSpPr>
          <p:cNvPr id="7" name="FUENTE__P0182__0__51"/>
          <p:cNvSpPr txBox="1"/>
          <p:nvPr/>
        </p:nvSpPr>
        <p:spPr>
          <a:xfrm>
            <a:off x="584200" y="2730500"/>
            <a:ext cx="11023600" cy="11384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31"/>
              </a:lnSpc>
              <a:spcBef>
                <a:spcPts val="0"/>
              </a:spcBef>
              <a:spcAft>
                <a:spcPts val="0"/>
              </a:spcAft>
              <a:defRPr sz="3800">
                <a:latin typeface="Arial"/>
              </a:defRPr>
            </a:pPr>
            <a:r>
              <a:rPr sz="3800" b="1" lang="es-MX">
                <a:solidFill>
                  <a:srgbClr val="FFFFFF"/>
                </a:solidFill>
                <a:latin typeface="Arial"/>
              </a:rPr>
              <a:t>5. Balance energético y regulación de</a:t>
            </a:r>
            <a:br/>
            <a:r>
              <a:rPr sz="3800" b="1" lang="es-MX">
                <a:solidFill>
                  <a:srgbClr val="FFFFFF"/>
                </a:solidFill>
                <a:latin typeface="Arial"/>
              </a:rPr>
              <a:t>la glucólisis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5461000"/>
            <a:ext cx="110236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>
                <a:latin typeface="Arial"/>
              </a:defRPr>
            </a:pPr>
            <a:r>
              <a:rPr sz="2000" b="0" lang="es-MX">
                <a:solidFill>
                  <a:srgbClr val="D1E6ED"/>
                </a:solidFill>
                <a:latin typeface="Arial"/>
              </a:rPr>
              <a:t>Contenido íntegro · lectura didáctica · cuadros y estructuras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142 / 380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183__0__54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5.1. Contabilidad paso a paso: siempre por una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glucosa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84__0__291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Contar correctamente exige separar inversión, producción y resultado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neto. En las reacciones 1 y 3 se consumen dos ATP. Las reacciones 7 y 10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producen dos ATP cada una por glucosa, porque cada una procesa dos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moléculas derivadas de las dos triosas. La reacción 6 genera dos NADH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por glucosa.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143 / 380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5.1. Contabilidad paso a paso: siempre por una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glucosa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14__1"/>
          <p:cNvGraphicFramePr>
            <a:graphicFrameLocks noGrp="1"/>
          </p:cNvGraphicFramePr>
          <p:nvPr/>
        </p:nvGraphicFramePr>
        <p:xfrm>
          <a:off x="584200" y="1881124"/>
          <a:ext cx="11023599" cy="382777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57478"/>
                <a:gridCol w="4354322"/>
                <a:gridCol w="3196843"/>
                <a:gridCol w="2314956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Paso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Enzima o acontecimiento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Balance de ATP por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glucosa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NADH por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glucosa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Hexoquinasa / glucoquinasa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Fosfoglucosa isomerasa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PFK-1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4–5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Escisión e isomerización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GAP deshidrogenasa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+2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Fosfoglicerato quinasa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+2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144 / 380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5.1. Contabilidad paso a paso: siempre por una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glucosa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14__2"/>
          <p:cNvGraphicFramePr>
            <a:graphicFrameLocks noGrp="1"/>
          </p:cNvGraphicFramePr>
          <p:nvPr/>
        </p:nvGraphicFramePr>
        <p:xfrm>
          <a:off x="584200" y="1881124"/>
          <a:ext cx="11023599" cy="26009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57478"/>
                <a:gridCol w="4354322"/>
                <a:gridCol w="3196843"/>
                <a:gridCol w="2314956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Paso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Enzima o acontecimiento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Balance de ATP por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glucosa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NADH por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glucosa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8–9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Mutasa y enolasa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Piruvato quinasa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+2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Total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neto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243C4C"/>
                          </a:solidFill>
                          <a:latin typeface="Arial"/>
                        </a:rPr>
                        <a:t>Hasta dos piruvatos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243C4C"/>
                          </a:solidFill>
                          <a:latin typeface="Arial"/>
                        </a:rPr>
                        <a:t>+2 ATP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243C4C"/>
                          </a:solidFill>
                          <a:latin typeface="Arial"/>
                        </a:rPr>
                        <a:t>+2 NADH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145 / 380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5.1. Contabilidad paso a paso: siempre por una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glucosa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914907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85__0__77"/>
          <p:cNvSpPr txBox="1"/>
          <p:nvPr/>
        </p:nvSpPr>
        <p:spPr>
          <a:xfrm>
            <a:off x="800100" y="1995424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Glucosa + 2 ADP + 2 Pi + 2 NAD⁺ → 2 piruvatos + 2 ATP + 2 NADH</a:t>
            </a:r>
            <a:br/>
            <a:r>
              <a:rPr sz="2200" b="1" lang="es-MX">
                <a:solidFill>
                  <a:srgbClr val="243C4C"/>
                </a:solidFill>
                <a:latin typeface="Arial"/>
              </a:rPr>
              <a:t>+ 2 H⁺ + 2 H₂O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2948432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2948432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186__0__280"/>
          <p:cNvSpPr txBox="1"/>
          <p:nvPr/>
        </p:nvSpPr>
        <p:spPr>
          <a:xfrm>
            <a:off x="800100" y="3062732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Los seis carbonos de la glucosa quedan contenidos en dos moléculas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tres carbonos. No se produce CO₂ en las diez reacciones glucolíticas.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CO₂ aparece en rutas posteriores, como la descarboxilación oxidativa o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fermentación alcohólica, no en la glucólisis propiamente dicha.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146 / 380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5.1. Contabilidad paso a paso: siempre por una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glucosa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87__0__418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Los NADH no son ATP ya formado. Conservan equivalentes reductores que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deben reoxidarse. Su aprovechamiento mitocondrial requiere lanzaderas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para los equivalentes reductores citosólicos: el NADH citosólico no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atraviesa libremente la membrana mitocondrial interna. El ATP obtenido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por oxidación completa de la glucosa pertenece al conjunto glucólisis +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piruvato deshidrogenasa + ciclo de Krebs + fosforilación oxidativa.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147 / 380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188__0__53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5.2. Qué cambia cuando el piruvato termina en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lactato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89__0__329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lactato deshidrogenasa reduce los dos piruvatos y consume los dos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NADH producidos en la reacción 6, regenerando NAD⁺. Por ello, cuando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considera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glucosa → lactato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 no queda una ganancia neta de NADH.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obtención de ATP sigue siendo de dos ATP por glucosa: la reacción de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lactato deshidrogenasa no produce ATP adicional.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920744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920744"/>
            <a:ext cx="50800" cy="590804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190__0__49"/>
          <p:cNvSpPr txBox="1"/>
          <p:nvPr/>
        </p:nvSpPr>
        <p:spPr>
          <a:xfrm>
            <a:off x="800100" y="4035044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2 piruvatos + 2 NADH + 2 H⁺ ⇌ 2 lactatos + 2 NAD⁺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4200" y="4663948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4200" y="4663948"/>
            <a:ext cx="50800" cy="590804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UENTE__P0191__0__51"/>
          <p:cNvSpPr txBox="1"/>
          <p:nvPr/>
        </p:nvSpPr>
        <p:spPr>
          <a:xfrm>
            <a:off x="800100" y="4778248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Glucosa + 2 ADP + 2 Pi → 2 lactatos + 2 ATP + 2 H₂O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148 / 380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5.2. Qué cambia cuando el piruvato termina en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lactato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92__0__333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formación de lactato sostiene el reciclaje del coenzima oxidante. 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fundamental en los eritrocitos y puede aumentar en tejidos con elevada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velocidad glucolítica. No conviene interpretar la presencia de lactato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como una prueba absoluta de ausencia de oxígeno: su producción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utilización pueden coexistir con condiciones aerobias.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149 / 380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193__0__43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5.3. Los tres puntos principales de control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3535172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MAGEN_FUENTE__I14" descr="Regulación alostérica y hormonal de la glucólisi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112" y="1663700"/>
            <a:ext cx="4055774" cy="3382772"/>
          </a:xfrm>
          <a:prstGeom prst="rect">
            <a:avLst/>
          </a:prstGeom>
        </p:spPr>
      </p:pic>
      <p:sp>
        <p:nvSpPr>
          <p:cNvPr id="11" name="FUENTE__P0194__0__202"/>
          <p:cNvSpPr txBox="1"/>
          <p:nvPr/>
        </p:nvSpPr>
        <p:spPr>
          <a:xfrm>
            <a:off x="660400" y="5236972"/>
            <a:ext cx="10871200" cy="8336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536A78"/>
                </a:solidFill>
                <a:latin typeface="Arial"/>
              </a:rPr>
              <a:t>Figura 11-4. Regulación alostérica y hormonal de la glucólisis.</a:t>
            </a:r>
            <a:r>
              <a:rPr sz="1800" b="0" lang="es-MX">
                <a:solidFill>
                  <a:srgbClr val="536A78"/>
                </a:solidFill>
                <a:latin typeface="Arial"/>
              </a:rPr>
              <a:t> Fuente: capítulo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proporcionado, p. 252 del libro (p. 10 del PDF). Ubicación en esta guía: § 5.3. Imagen original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recortada, no redibujada.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150 / 380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11-4 · Vista ampliada: Panel b: control de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fructosa-2,6-bisfosfato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481324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nel b: control de fructosa-2,6-bisfosfa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956" y="1970024"/>
            <a:ext cx="3830087" cy="33035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151 / 380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11-4 · Vista ampliada: Panel c: piruvato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quinasa hepática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481324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nel c: piruvato quinasa hepátic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360" y="1970024"/>
            <a:ext cx="3959279" cy="33035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152 / 380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5.3. Los tres puntos principales de control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95__0__341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Panel a de la figura 11-4.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Señala las tres reacciones irreversibles: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hexoquinasa, PFK-1 y piruvato quinasa. Las señales de activación 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inhibición informan de disponibilidad de combustible y de estado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energético. AMP elevado suele indicar demanda energética; ATP elevado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puede reducir el flujo cuando la célula dispone de suficiente energía.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92074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920744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196__0__289"/>
          <p:cNvSpPr txBox="1"/>
          <p:nvPr/>
        </p:nvSpPr>
        <p:spPr>
          <a:xfrm>
            <a:off x="800100" y="403504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Panel b.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 F2,6BP regula PFK-1. En el sistema hepático clásico,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enzima bifuncional PFK-2/FBPasa-2 puede sintetizar o degradar F2,6BP.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señal de insulina favorece su aumento; el glucagón, mediante AMPc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PKA, favorece su reducción. Esto permite coordinar glucólisis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gluconeogénesis.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153 / 380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5.3. Los tres puntos principales de control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97__0__234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Panel c.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 piruvato quinasa hepática se regula por modificación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covalente. El glucagón favorece su fosforilación e inactivación. No debe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generalizarse sin matices esta regulación hepática a todas las isoformas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ni a todos los tejidos.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154 / 380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5.3. Los tres puntos principales de control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15__1"/>
          <p:cNvGraphicFramePr>
            <a:graphicFrameLocks noGrp="1"/>
          </p:cNvGraphicFramePr>
          <p:nvPr/>
        </p:nvGraphicFramePr>
        <p:xfrm>
          <a:off x="584200" y="1881124"/>
          <a:ext cx="11023600" cy="296417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Enzima reguladora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Señales principales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Efecto fisiológico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Hexoquinasas I–III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Inhibición por glucosa-6-P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Evita seguir atrapando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glucosa si su utilización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posterior está limitada.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Glucoquinasa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Disponibilidad 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glucosa, proteína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reguladora hepática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control de expresión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Facilita el aprovechamiento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hepático cuando la glucosa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aumenta. No se inhibe por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G6P.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155 / 380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5.3. Los tres puntos principales de control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15__2"/>
          <p:cNvGraphicFramePr>
            <a:graphicFrameLocks noGrp="1"/>
          </p:cNvGraphicFramePr>
          <p:nvPr/>
        </p:nvGraphicFramePr>
        <p:xfrm>
          <a:off x="584200" y="1881124"/>
          <a:ext cx="11023600" cy="325373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Enzima reguladora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Señales principales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Efecto fisiológico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PFK-1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Activadores: AMP/ADP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F2,6BP. Inhibidores: ATP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alto, citrato y H⁺, según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contexto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Ajusta el paso de compromiso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 la demanda energética y al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estado hormonal.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Piruvato quinasa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F1,6BP activa; ATP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alanina inhiben. La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isoforma L se inactiva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por fosforilación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Coordina el final de la vía con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su entrada y con la necesidad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hepática de conservar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precursores.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156 / 380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5.3. Los tres puntos principales de control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198__0__282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activación de la piruvato quinasa por F1,6BP se denomina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activación</a:t>
            </a:r>
            <a:br/>
            <a:r>
              <a:rPr sz="2200" b="1" lang="es-MX">
                <a:solidFill>
                  <a:srgbClr val="243C4C"/>
                </a:solidFill>
                <a:latin typeface="Arial"/>
              </a:rPr>
              <a:t>por anticipación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: un producto formado en la parte inicial señala que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llegarán sustratos a la parte final. La inhibición de hexoquinasa por G6P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es una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retroinhibición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: el producto limita la enzima que lo produce.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596640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596640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199__0__331"/>
          <p:cNvSpPr txBox="1"/>
          <p:nvPr/>
        </p:nvSpPr>
        <p:spPr>
          <a:xfrm>
            <a:off x="800100" y="3710940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El capítulo menciona varios moduladores de las quinasas. Para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memorizar, priorice los mecanismos más consistentes: G6P→hexoquinasa,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carga energética/F2,6BP→PFK-1 y F1,6BP/ATP/alanina/fosforilación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hepática→piruvato quinasa. No interprete cualquier modulador descrito 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un tejido como una regla universal para todas las isoenzimas.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157 / 380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200__0__38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5.4. Hexoquinasa frente a glucoquinasa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2211323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01__0__351"/>
          <p:cNvSpPr txBox="1"/>
          <p:nvPr/>
        </p:nvSpPr>
        <p:spPr>
          <a:xfrm>
            <a:off x="800100" y="1701800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El recuadro 11-3 destaca que la glucoquinasa tiene menor afinidad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aparente por glucosa que las hexoquinasas I–III y puede seguir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procesándola cuando aumenta su concentración. Ello ayuda al hígado 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retirar y almacenar glucosa después de comer. La diferencia de afinidad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no implica que sea una enzima «peor»: se ajusta a una tarea fisiológica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distinta.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158 / 380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5.4. Hexoquinasa frente a glucoquinasa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16__1"/>
          <p:cNvGraphicFramePr>
            <a:graphicFrameLocks noGrp="1"/>
          </p:cNvGraphicFramePr>
          <p:nvPr/>
        </p:nvGraphicFramePr>
        <p:xfrm>
          <a:off x="584200" y="1881124"/>
          <a:ext cx="11023600" cy="346963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Propiedad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Hexoquinasas I–III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Glucoquinasa /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hexoquinasa IV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Distribución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relevante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Amplia; numerosos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tejidos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Hígado y células β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pancreáticas, entre otros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sitios especializados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Afinidad aparente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por glucosa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Alta: actúan con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concentraciones bajas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Menor; respuesta útil cuando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la glucosa aumenta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Inhibición por G6P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Sí, para las formas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principales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159 / 380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5.4. Hexoquinasa frente a glucoquinasa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16__2"/>
          <p:cNvGraphicFramePr>
            <a:graphicFrameLocks noGrp="1"/>
          </p:cNvGraphicFramePr>
          <p:nvPr/>
        </p:nvGraphicFramePr>
        <p:xfrm>
          <a:off x="584200" y="1881124"/>
          <a:ext cx="11023600" cy="267461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Propiedad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Hexoquinasas I–III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Glucoquinasa /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hexoquinasa IV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Función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predominante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Cubrir necesidades 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captación y metabolismo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celular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Procesar abundancia 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glucosa y contribuir a su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detección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Regulación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hepática por GKRP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No es el mecanismo típico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Sí: cambia actividad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localización de la enzima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160 / 380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5.4. Hexoquinasa frente a glucoquinasa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241548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MAGEN_FUENTE__I15" descr="Glucoquinasa: compartimentación y secreción de insulin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789" y="1957324"/>
            <a:ext cx="3610421" cy="3089148"/>
          </a:xfrm>
          <a:prstGeom prst="rect">
            <a:avLst/>
          </a:prstGeom>
        </p:spPr>
      </p:pic>
      <p:sp>
        <p:nvSpPr>
          <p:cNvPr id="11" name="FUENTE__P0202__0__221"/>
          <p:cNvSpPr txBox="1"/>
          <p:nvPr/>
        </p:nvSpPr>
        <p:spPr>
          <a:xfrm>
            <a:off x="660400" y="5236972"/>
            <a:ext cx="10871200" cy="8336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536A78"/>
                </a:solidFill>
                <a:latin typeface="Arial"/>
              </a:rPr>
              <a:t>Lámina del recuadro 11-3. Glucoquinasa: compartimentación y secreción de</a:t>
            </a:r>
            <a:br/>
            <a:r>
              <a:rPr sz="1800" b="1" lang="es-MX">
                <a:solidFill>
                  <a:srgbClr val="536A78"/>
                </a:solidFill>
                <a:latin typeface="Arial"/>
              </a:rPr>
              <a:t>insulina.</a:t>
            </a:r>
            <a:r>
              <a:rPr sz="1800" b="0" lang="es-MX">
                <a:solidFill>
                  <a:srgbClr val="536A78"/>
                </a:solidFill>
                <a:latin typeface="Arial"/>
              </a:rPr>
              <a:t> Fuente: capítulo proporcionado, p. 253 del libro (p. 11 del PDF). Ubicación en esta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guía: § 5.4. Imagen original recortada, no redibujada.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161 / 380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R11-3 · Vista ampliada: Panel a: regulación de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glucoquinasa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481324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nel a: regulación de glucoquinas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027" y="1970024"/>
            <a:ext cx="7721944" cy="33035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162 / 380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R11-3 · Vista ampliada: Panel b: secreción de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insulina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481324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nel b: secreción de insulin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019" y="1970024"/>
            <a:ext cx="5195961" cy="33035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163 / 380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5.4. Hexoquinasa frente a glucoquinasa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03__0__355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Panel de regulación hepática.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 proteína reguladora de glucoquinasa,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GKRP, puede secuestrar la enzima en el núcleo. La glucosa favorece su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disponibilidad citosólica. La F6P favorece la asociación con GKRP;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fructosa-1-fosfato puede favorecer la disociación. No se debe confundir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F1P con F1,6BP ni considerar G6P un inhibidor directo de la glucoquinasa.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164 / 380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5.4. Hexoquinasa frente a glucoquinasa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04__0__405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Panel pancreático.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El metabolismo de glucosa eleva la relación ATP/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ADP, contribuye al cierre de canales KATP, despolariza la membrana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favorece entrada de Ca²⁺. El aumento de Ca²⁺ desencadena exocitosis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gránulos de insulina. La imagen del capítulo representa el modelo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GLUT-2; la importancia relativa de transportadores en células β humanas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no es idéntica a la de todas las especies experimentales.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165 / 380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205__0__47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5.5. Insulina y glucagón: coordinación hepática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2211323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06__0__370"/>
          <p:cNvSpPr txBox="1"/>
          <p:nvPr/>
        </p:nvSpPr>
        <p:spPr>
          <a:xfrm>
            <a:off x="800100" y="1701800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En el hígado, la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insulina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favorece utilización y almacenamiento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glucosa. En el sistema clásico de PFK-2/FBPasa-2, aumenta la F2,6BP, que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activa PFK-1 e inhibe fructosa-1,6-bisfosfatasa. El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glucagón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 señal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importante del ayuno, eleva AMPc y activa PKA; reduce F2,6BP e inactiva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 piruvato quinasa L, favoreciendo que los precursores se utilicen para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producir glucosa.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9512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951224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207__0__207"/>
          <p:cNvSpPr txBox="1"/>
          <p:nvPr/>
        </p:nvSpPr>
        <p:spPr>
          <a:xfrm>
            <a:off x="800100" y="40655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No confunda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PFK-1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 que produce F1,6BP en la vía, con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PFK-2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 que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produce el regulador F2,6BP. Tampoco confunda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FBPasa-1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 enzima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gluconeogénica, con la actividad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FBPasa-2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de la proteína bifuncional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reguladora.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166 / 380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5.5. Insulina y glucagón: coordinación hepática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014220"/>
          </a:xfrm>
          <a:prstGeom prst="roundRect">
            <a:avLst>
              <a:gd name="adj" fmla="val 8000"/>
            </a:avLst>
          </a:prstGeom>
          <a:solidFill>
            <a:srgbClr val="E6F1F2"/>
          </a:solidFill>
          <a:ln w="8890">
            <a:solidFill>
              <a:srgbClr val="80B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UENTE__T017R000C00__0__299"/>
          <p:cNvSpPr txBox="1"/>
          <p:nvPr/>
        </p:nvSpPr>
        <p:spPr>
          <a:xfrm>
            <a:off x="812800" y="2058924"/>
            <a:ext cx="105664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Regla de interpretación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Las hormonas no sustituyen a las enzimas ni suministran el fosfato de las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reacciones. Cambian el flujo al modificar actividad, localización, cantidad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 enzima o disponibilidad de sustrato. El efecto hepático de glucagón no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se traslada automáticamente al músculo esquelético.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167 / 380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208__0__66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5.6. Inhibidores y situaciones útiles para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comprender el mecanismo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09__0__368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Como ampliación didáctica, el fluoruro puede inhibir enolasa;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yodoacetato modifica la cisteína catalítica de GAPDH; el arsenato puede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sustituir a Pi en el paso 6 y formar un producto inestable que evita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producción de ATP por fosfoglicerato quinasa. Estos ejemplos muestran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que oxidación y recuperación de ATP están acopladas, pero no son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mismo acontecimiento.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168 / 380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5.6. Inhibidores y situaciones útiles para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comprender el mecanismo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10__0__375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derivación eritrocitaria de Rapoport–Luebering convierte 1,3-BPG 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2,3-BPG y después en 3-PG. Regula la liberación de oxígeno por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hemoglobina, pero evita la reacción de fosfoglicerato quinasa en las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moléculas que toman ese camino y tiene un coste de oportunidad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energético. No debe confundirse esa derivación con la cantidad catalítica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 2,3-BPG utilizada por la mutasa.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4244848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4244848"/>
            <a:ext cx="50800" cy="1563116"/>
          </a:xfrm>
          <a:prstGeom prst="rect">
            <a:avLst/>
          </a:prstGeom>
          <a:solidFill>
            <a:srgbClr val="A42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211__0__259"/>
          <p:cNvSpPr txBox="1"/>
          <p:nvPr/>
        </p:nvSpPr>
        <p:spPr>
          <a:xfrm>
            <a:off x="800100" y="4359148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Estas ampliaciones no cambian la secuencia central de diez reacciones;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ayudan a explicar por qué la misma ruta puede tener funciones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adicionales, por qué algunos inhibidores reducen la obtención de ATP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por qué hay que especificar el punto final del balance.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169 / 380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3358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381000"/>
            <a:ext cx="11023600" cy="330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99DEDF"/>
                </a:solidFill>
                <a:latin typeface="Arial"/>
              </a:rPr>
              <a:t>CAPÍTULO 11 · SECCIÓN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016000"/>
            <a:ext cx="2413000" cy="1270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defRPr sz="8000">
                <a:latin typeface="Arial"/>
              </a:defRPr>
            </a:pPr>
            <a:r>
              <a:rPr sz="8000" b="1" lang="es-MX">
                <a:solidFill>
                  <a:srgbClr val="37D3C6"/>
                </a:solidFill>
                <a:latin typeface="Arial"/>
              </a:rPr>
              <a:t>06</a:t>
            </a:r>
          </a:p>
        </p:txBody>
      </p:sp>
      <p:sp>
        <p:nvSpPr>
          <p:cNvPr id="7" name="FUENTE__P0212__0__50"/>
          <p:cNvSpPr txBox="1"/>
          <p:nvPr/>
        </p:nvSpPr>
        <p:spPr>
          <a:xfrm>
            <a:off x="584200" y="2730500"/>
            <a:ext cx="11023600" cy="11384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31"/>
              </a:lnSpc>
              <a:spcBef>
                <a:spcPts val="0"/>
              </a:spcBef>
              <a:spcAft>
                <a:spcPts val="0"/>
              </a:spcAft>
              <a:defRPr sz="3800">
                <a:latin typeface="Arial"/>
              </a:defRPr>
            </a:pPr>
            <a:r>
              <a:rPr sz="3800" b="1" lang="es-MX">
                <a:solidFill>
                  <a:srgbClr val="FFFFFF"/>
                </a:solidFill>
                <a:latin typeface="Arial"/>
              </a:rPr>
              <a:t>6. Entrada de otros monosacáridos en</a:t>
            </a:r>
            <a:br/>
            <a:r>
              <a:rPr sz="3800" b="1" lang="es-MX">
                <a:solidFill>
                  <a:srgbClr val="FFFFFF"/>
                </a:solidFill>
                <a:latin typeface="Arial"/>
              </a:rPr>
              <a:t>la glucólisis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5461000"/>
            <a:ext cx="110236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>
                <a:latin typeface="Arial"/>
              </a:defRPr>
            </a:pPr>
            <a:r>
              <a:rPr sz="2000" b="0" lang="es-MX">
                <a:solidFill>
                  <a:srgbClr val="D1E6ED"/>
                </a:solidFill>
                <a:latin typeface="Arial"/>
              </a:rPr>
              <a:t>Contenido íntegro · lectura didáctica · cuadros y estructuras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170 / 380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213__0__41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6.1. Imagen del libro y principio general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14__0__297"/>
          <p:cNvSpPr txBox="1"/>
          <p:nvPr/>
        </p:nvSpPr>
        <p:spPr>
          <a:xfrm>
            <a:off x="800100" y="1701800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glucólisis recibe carbono de varios azúcares de la dieta. Estos no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necesitan convertirse primero en glucosa libre: pueden transformarse 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G6P, F6P o triosas fosfato e incorporarse en puntos concretos. La posición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 entrada determina qué reacciones previas se evitan y qué ATP debe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invertirse.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171 / 380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6.1. Imagen del libro y principio general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241548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MAGEN_FUENTE__I16" descr="Entrada de otros monosacáridos en la glucólisi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115" y="1957324"/>
            <a:ext cx="5191768" cy="3089148"/>
          </a:xfrm>
          <a:prstGeom prst="rect">
            <a:avLst/>
          </a:prstGeom>
        </p:spPr>
      </p:pic>
      <p:sp>
        <p:nvSpPr>
          <p:cNvPr id="11" name="FUENTE__P0215__0__200"/>
          <p:cNvSpPr txBox="1"/>
          <p:nvPr/>
        </p:nvSpPr>
        <p:spPr>
          <a:xfrm>
            <a:off x="660400" y="5236972"/>
            <a:ext cx="10871200" cy="8336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536A78"/>
                </a:solidFill>
                <a:latin typeface="Arial"/>
              </a:rPr>
              <a:t>Figura 11-5. Entrada de otros monosacáridos en la glucólisis.</a:t>
            </a:r>
            <a:r>
              <a:rPr sz="1800" b="0" lang="es-MX">
                <a:solidFill>
                  <a:srgbClr val="536A78"/>
                </a:solidFill>
                <a:latin typeface="Arial"/>
              </a:rPr>
              <a:t> Fuente: capítulo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proporcionado, p. 254 del libro (p. 12 del PDF). Ubicación en esta guía: § 6.1. Imagen original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recortada, no redibujada.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172 / 380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11-5 · Vista ampliada: Fructosa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3774948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ructos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565" y="1676400"/>
            <a:ext cx="2294869" cy="35971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173 / 380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11-5 · Vista ampliada: Entrada central a la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glucólisis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481324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ntrada central a la glucólisi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479" y="1970024"/>
            <a:ext cx="1721041" cy="33035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174 / 380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11-5 · Vista ampliada: Galactosa y manosa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3774948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alactosa y manos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676" y="1676400"/>
            <a:ext cx="2056647" cy="35971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175 / 380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6.1. Imagen del libro y principio general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16__0__390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Cómo leer la figura 11-5.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Identifique el azúcar de origen y siga las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enzimas hasta alcanzar un intermediario glucolítico. La manosa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incorpora como F6P. La fructosa puede incorporarse como F6P en ciertos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tejidos o como triosas en el hígado. La galactosa pasa por intermediarios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unidos a UDP y genera G1P, que se transforma en G6P. La incorporación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 glucógeno comienza también desde G1P.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176 / 380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6.1. Imagen del libro y principio general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17__0__344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Qué relación ilustra: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diferentes monosacáridos convergen en una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misma ruta central. Eso permite aprovechar diversidad de alimentos sin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construir una vía degradativa completamente independiente para cada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azúcar. Las deficiencias de las enzimas de entrada pueden causar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enfermedad aunque las diez enzimas centrales de la glucólisis sean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normales.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177 / 380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218__0__50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6.2. Manosa: incorporación como fructosa-6-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fosfato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19__0__277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hexoquinasa fosforila manosa utilizando ATP y Mg²⁺, formando</a:t>
            </a:r>
            <a:br/>
            <a:r>
              <a:rPr sz="2200" b="1" lang="es-MX">
                <a:solidFill>
                  <a:srgbClr val="243C4C"/>
                </a:solidFill>
                <a:latin typeface="Arial"/>
              </a:rPr>
              <a:t>manosa-6-fosfato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. Después, la fosfomanosa isomerasa la transforma 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F6P. A partir de allí continúa por PFK-1 y las reacciones restantes.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primera reacción gasta energía; la isomerización no produce ATP ni NADH.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596640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596640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220__0__46"/>
          <p:cNvSpPr txBox="1"/>
          <p:nvPr/>
        </p:nvSpPr>
        <p:spPr>
          <a:xfrm>
            <a:off x="800100" y="3710940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Manosa + ATP → manosa-6-P + ADP → fructosa-6-P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178 / 380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6.2. Manosa: incorporación como fructosa-6-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fosfato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21__0__282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manosa es un epímero de la glucosa en C2. Reconocer esa relación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estructural ayuda a comprender por qué puede reorganizarse hasta un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intermediario compartido. No confunda fosfomanosa isomerasa, que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actúa sobre manosa-6-P, con fosfoglucosa isomerasa, que interconvierte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G6P y F6P.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179 / 380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222__0__70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6.3. Fructosa: dos entradas, una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especialmente importante en el hígado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23__0__333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En determinados tejidos, la hexoquinasa puede fosforilar fructosa a F6P.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Sin embargo, la vía hepática característica comienza con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fructoquinasa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que utiliza ATP para producir fructosa-1-fosfato, F1P. La aldolasa B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escinde F1P en DHAP y gliceraldehído. La triosa quinasa fosforila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gliceraldehído con un segundo ATP para formar GAP.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180 / 380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13548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6.3. Fructosa: dos entradas, una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especialmente importante en el hígado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18__1"/>
          <p:cNvGraphicFramePr>
            <a:graphicFrameLocks noGrp="1"/>
          </p:cNvGraphicFramePr>
          <p:nvPr/>
        </p:nvGraphicFramePr>
        <p:xfrm>
          <a:off x="584200" y="2320036"/>
          <a:ext cx="11023600" cy="31800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Paso hepático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Enzima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Producto y componente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necesario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Fructosa → F1P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Fructoquinasa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Consume ATP; utiliza Mg²⁺ en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la reacción de fosforilación.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F1P → DHAP +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gliceraldehído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Aldolasa B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Rompe la hexosa en dos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fragmentos; no forma NADH.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Gliceraldehído →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Triosa quinasa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Consume ATP y forma una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triosa fosforilada.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181 / 380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13548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6.3. Fructosa: dos entradas, una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especialmente importante en el hígado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18__2"/>
          <p:cNvGraphicFramePr>
            <a:graphicFrameLocks noGrp="1"/>
          </p:cNvGraphicFramePr>
          <p:nvPr/>
        </p:nvGraphicFramePr>
        <p:xfrm>
          <a:off x="584200" y="2320036"/>
          <a:ext cx="11023600" cy="187959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Paso hepático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Enzima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Producto y componente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necesario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DHAP ⇌ GAP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Triosa-fosfato isomerasa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Permite que ambos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fragmentos continúen hacia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piruvato.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182 / 380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13548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6.3. Fructosa: dos entradas, una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especialmente importante en el hígado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2320036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2320036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24__0__308"/>
          <p:cNvSpPr txBox="1"/>
          <p:nvPr/>
        </p:nvSpPr>
        <p:spPr>
          <a:xfrm>
            <a:off x="800100" y="2434336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vía hepática entra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por debajo del paso de PFK-1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. Esto significa que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no está sometida a ese punto de control concreto; no significa que no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exista ninguna regulación, que no se necesite energía ni que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metabolismo sea ilimitado. La F1P de esta ruta tampoco es F1,6BP de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glucólisis ni F2,6BP reguladora.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183 / 380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225__0__54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6.4. Galactosa: la vía de Leloir, explicada sin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saltos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26__0__242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galactosa procedente de lactosa se fosforila por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galactoquinasa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: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galactosa + ATP → galactosa-1-P + ADP. A continuación, la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galactosa-1-</a:t>
            </a:r>
            <a:br/>
            <a:r>
              <a:rPr sz="2200" b="1" lang="es-MX">
                <a:solidFill>
                  <a:srgbClr val="243C4C"/>
                </a:solidFill>
                <a:latin typeface="Arial"/>
              </a:rPr>
              <a:t>fosfato uridiltransferasa, GALT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 cataliza el intercambio con UDP-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glucosa. Se forman G1P y UDP-galactosa.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596640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596640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227__0__57"/>
          <p:cNvSpPr txBox="1"/>
          <p:nvPr/>
        </p:nvSpPr>
        <p:spPr>
          <a:xfrm>
            <a:off x="800100" y="3710940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Galactosa-1-P + UDP-glucosa ⇌ glucosa-1-P + UDP-galactosa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184 / 380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6.4. Galactosa: la vía de Leloir, explicada sin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saltos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28__0__348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UDP-galactosa 4-epimerasa, GALE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 regenera UDP-glucosa a partir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 UDP-galactosa. La reacción utiliza NAD⁺ unido a la enzima para una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oxidación y reducción internas: no produce una ganancia neta de NADH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equivalente a la reacción 6 de la glucólisis. Por último,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fosfoglucomutasa convierte G1P en G6P, que ya puede incorporarse a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vía central.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185 / 380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6.4. Galactosa: la vía de Leloir, explicada sin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saltos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29__0__311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Precisión de recorrido: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no debe resumirse diciendo únicamente «UDP-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galactosa → UDP-glucosa → G6P» como si cada flecha fuera una simple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reacción consecutiva. La G1P que se libera en la reacción de GALT es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que se convierte en G6P. Los azúcares unidos a UDP también participan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 la síntesis de glicoconjugados.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186 / 380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230__0__49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6.5. Cuadro clínico comparativo del recuadro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11-4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19__1"/>
          <p:cNvGraphicFramePr>
            <a:graphicFrameLocks noGrp="1"/>
          </p:cNvGraphicFramePr>
          <p:nvPr/>
        </p:nvGraphicFramePr>
        <p:xfrm>
          <a:off x="584200" y="1881124"/>
          <a:ext cx="11023600" cy="383285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Alteración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Enzima o paso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afectado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Explicación bioquímica y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manifestaciones generales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66370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Deficiencia de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galactoquinasa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Fosforilación inicial 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galactosa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Acumulación de galactosa;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puede transformarse en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galactitol y favorecer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cataratas por efectos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osmóticos.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Galactosemia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clásica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GALT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Acumulación de metabolitos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de galactosa; puede producir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compromiso hepático y otros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trastornos graves.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187 / 380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6.5. Cuadro clínico comparativo del recuadro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11-4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19__2"/>
          <p:cNvGraphicFramePr>
            <a:graphicFrameLocks noGrp="1"/>
          </p:cNvGraphicFramePr>
          <p:nvPr/>
        </p:nvGraphicFramePr>
        <p:xfrm>
          <a:off x="584200" y="1881124"/>
          <a:ext cx="11023600" cy="354329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Alteración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Enzima o paso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afectado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Explicación bioquímica y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manifestaciones generales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Deficiencia de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epimerasa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GALE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Gravedad variable, desde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formas restringidas a células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sanguíneas hasta enfermedad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generalizada.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Fructosuria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esencial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Fructoquinasa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La fructosa no se fosforila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normalmente por esa vía;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suele ser una alteración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benigna.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188 / 380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6.5. Cuadro clínico comparativo del recuadro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11-4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19__3"/>
          <p:cNvGraphicFramePr>
            <a:graphicFrameLocks noGrp="1"/>
          </p:cNvGraphicFramePr>
          <p:nvPr/>
        </p:nvGraphicFramePr>
        <p:xfrm>
          <a:off x="584200" y="1881124"/>
          <a:ext cx="11023600" cy="245871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Alteración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Enzima o paso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afectado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Explicación bioquímica y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manifestaciones generales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66370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Intolerancia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hereditaria a la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fructosa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Aldolasa B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Se acumula F1P, se secuestra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fosfato y disminuye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disponibilidad de ATP; se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alteran producción de glucosa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y función hepática.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189 / 380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6.5. Cuadro clínico comparativo del recuadro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11-4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31__0__386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Estas alteraciones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no son equivalentes a la malabsorción de</a:t>
            </a:r>
            <a:br/>
            <a:r>
              <a:rPr sz="2200" b="1" lang="es-MX">
                <a:solidFill>
                  <a:srgbClr val="243C4C"/>
                </a:solidFill>
                <a:latin typeface="Arial"/>
              </a:rPr>
              <a:t>lactosa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. La intolerancia digestiva afecta el procesamiento intestinal; un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error metabólico hereditario puede comprometer reacciones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intracelulares después de que el azúcar se absorba. Esta diferencia 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crucial para comprender por qué cuadros clínicos con síntomas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alimentarios pueden tener mecanismos completamente distintos.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190 / 380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3358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381000"/>
            <a:ext cx="11023600" cy="330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99DEDF"/>
                </a:solidFill>
                <a:latin typeface="Arial"/>
              </a:rPr>
              <a:t>CAPÍTULO 11 · SECCIÓN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016000"/>
            <a:ext cx="2413000" cy="1270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defRPr sz="8000">
                <a:latin typeface="Arial"/>
              </a:defRPr>
            </a:pPr>
            <a:r>
              <a:rPr sz="8000" b="1" lang="es-MX">
                <a:solidFill>
                  <a:srgbClr val="37D3C6"/>
                </a:solidFill>
                <a:latin typeface="Arial"/>
              </a:rPr>
              <a:t>07</a:t>
            </a:r>
          </a:p>
        </p:txBody>
      </p:sp>
      <p:sp>
        <p:nvSpPr>
          <p:cNvPr id="7" name="FUENTE__P0232__0__54"/>
          <p:cNvSpPr txBox="1"/>
          <p:nvPr/>
        </p:nvSpPr>
        <p:spPr>
          <a:xfrm>
            <a:off x="584200" y="2730500"/>
            <a:ext cx="11023600" cy="11384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31"/>
              </a:lnSpc>
              <a:spcBef>
                <a:spcPts val="0"/>
              </a:spcBef>
              <a:spcAft>
                <a:spcPts val="0"/>
              </a:spcAft>
              <a:defRPr sz="3800">
                <a:latin typeface="Arial"/>
              </a:defRPr>
            </a:pPr>
            <a:r>
              <a:rPr sz="3800" b="1" lang="es-MX">
                <a:solidFill>
                  <a:srgbClr val="FFFFFF"/>
                </a:solidFill>
                <a:latin typeface="Arial"/>
              </a:rPr>
              <a:t>7. Gluconeogénesis: fabricar glucosa</a:t>
            </a:r>
            <a:br/>
            <a:r>
              <a:rPr sz="3800" b="1" lang="es-MX">
                <a:solidFill>
                  <a:srgbClr val="FFFFFF"/>
                </a:solidFill>
                <a:latin typeface="Arial"/>
              </a:rPr>
              <a:t>cuando hace falta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5461000"/>
            <a:ext cx="110236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>
                <a:latin typeface="Arial"/>
              </a:defRPr>
            </a:pPr>
            <a:r>
              <a:rPr sz="2000" b="0" lang="es-MX">
                <a:solidFill>
                  <a:srgbClr val="D1E6ED"/>
                </a:solidFill>
                <a:latin typeface="Arial"/>
              </a:rPr>
              <a:t>Contenido íntegro · lectura didáctica · cuadros y estructuras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191 / 380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233__0__40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7.1. Finalidad, tejidos y compartimentos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2535428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2535428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34__0__467"/>
          <p:cNvSpPr txBox="1"/>
          <p:nvPr/>
        </p:nvSpPr>
        <p:spPr>
          <a:xfrm>
            <a:off x="800100" y="1701800"/>
            <a:ext cx="10591800" cy="23068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gluconeogénesis sintetiza glucosa a partir de precursores no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glucídicos. Es importante cuando la ingesta no aporta suficiente glucosa 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durante el ayuno. El hígado desempeña un papel central, y la corteza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renal puede contribuir de forma importante, especialmente durante ayuno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prolongado. Como ampliación, el intestino puede contribuir 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determinadas condiciones; no debe interpretarse el listado del capítulo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como una exclusión absoluta de cualquier otro tejido.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192 / 380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7.1. Finalidad, tejidos y compartimentos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35__0__371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vía comparte las siete reacciones reversibles de la glucólisis, pero evita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los tres pasos irreversibles. Para ello utiliza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cuatro enzimas</a:t>
            </a:r>
            <a:br/>
            <a:r>
              <a:rPr sz="2200" b="1" lang="es-MX">
                <a:solidFill>
                  <a:srgbClr val="243C4C"/>
                </a:solidFill>
                <a:latin typeface="Arial"/>
              </a:rPr>
              <a:t>específicas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: piruvato carboxilasa, fosfoenolpiruvato carboxiquinasa,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fructosa-1,6-bisfosfatasa y glucosa-6-fosfatasa. Estos rodeos hacen que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sintetizar glucosa no sea simplemente ejecutar al revés las diez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reacciones glucolíticas.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193 / 380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7.1. Finalidad, tejidos y compartimentos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36__0__371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Su compartimentación es mixta. La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piruvato carboxilasa actúa en la</a:t>
            </a:r>
            <a:br/>
            <a:r>
              <a:rPr sz="2200" b="1" lang="es-MX">
                <a:solidFill>
                  <a:srgbClr val="243C4C"/>
                </a:solidFill>
                <a:latin typeface="Arial"/>
              </a:rPr>
              <a:t>matriz mitocondrial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. Muchas reacciones siguientes ocurren en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citosol. El paso final de glucosa-6-fosfatasa se realiza en el sistema del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retículo endoplasmático. La presencia de isoformas citosólicas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mitocondriales de PEP carboxiquinasa permite variantes de tránsito según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el precursor y el contexto.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194 / 380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7.1. Finalidad, tejidos y compartimentos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338323"/>
          </a:xfrm>
          <a:prstGeom prst="roundRect">
            <a:avLst>
              <a:gd name="adj" fmla="val 8000"/>
            </a:avLst>
          </a:prstGeom>
          <a:solidFill>
            <a:srgbClr val="E6F1F2"/>
          </a:solidFill>
          <a:ln w="8890">
            <a:solidFill>
              <a:srgbClr val="80B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UENTE__T020R000C00__0__387"/>
          <p:cNvSpPr txBox="1"/>
          <p:nvPr/>
        </p:nvSpPr>
        <p:spPr>
          <a:xfrm>
            <a:off x="812800" y="2058924"/>
            <a:ext cx="105664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Corrección de una contradicción del capítulo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 la página 255 se ubica por error la formación de oxaloacetato en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retículo endoplasmático; en la página 256 se la sitúa correctamente en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mitocondria. Para estudiar: piruvato carboxilasa → matriz mitocondrial;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glucosa-6-fosfatasa → sistema del retículo endoplasmático. Las cuatro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enzimas de rodeo se contrastan también en StatPearls </a:t>
            </a:r>
            <a:r>
              <a:rPr sz="2200" b="0" lang="es-MX" u="sng">
                <a:solidFill>
                  <a:srgbClr val="007F88"/>
                </a:solidFill>
                <a:latin typeface="Arial"/>
                <a:hlinkClick r:id="rId2"/>
              </a:rPr>
              <a:t>2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195 / 380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237__0__39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7.2. Imagen del libro y los tres rodeos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3535172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MAGEN_FUENTE__I17" descr="Glucólisis frente a gluconeogénesi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742" y="1663700"/>
            <a:ext cx="3184514" cy="3382772"/>
          </a:xfrm>
          <a:prstGeom prst="rect">
            <a:avLst/>
          </a:prstGeom>
        </p:spPr>
      </p:pic>
      <p:sp>
        <p:nvSpPr>
          <p:cNvPr id="11" name="FUENTE__P0238__0__188"/>
          <p:cNvSpPr txBox="1"/>
          <p:nvPr/>
        </p:nvSpPr>
        <p:spPr>
          <a:xfrm>
            <a:off x="660400" y="5236972"/>
            <a:ext cx="10871200" cy="8336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536A78"/>
                </a:solidFill>
                <a:latin typeface="Arial"/>
              </a:rPr>
              <a:t>Figura 11-6. Glucólisis frente a gluconeogénesis.</a:t>
            </a:r>
            <a:r>
              <a:rPr sz="1800" b="0" lang="es-MX">
                <a:solidFill>
                  <a:srgbClr val="536A78"/>
                </a:solidFill>
                <a:latin typeface="Arial"/>
              </a:rPr>
              <a:t> Fuente: capítulo proporcionado, p.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256 del libro (p. 14 del PDF). Ubicación en esta guía: § 7.2. Imagen original recortada, no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redibujada.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196 / 380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11-6 · Vista ampliada: Rodeos de las fosfatasas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3774948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odeos de las fosfatas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799" y="1676400"/>
            <a:ext cx="8468400" cy="35971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197 / 380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11-6 · Vista ampliada: Rodeo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piruvato–oxaloacetato–PEP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481324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odeo piruvato–oxaloacetato–PE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022" y="1970024"/>
            <a:ext cx="8633955" cy="33035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198 / 380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7.2. Imagen del libro y los tres rodeos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39__0__388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Lectura de la figura 11-6.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Las rutas comparten los intermediarios de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zona central, pero utilizan enzimas diferentes en los extremos y en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conversión F1,6BP/F6P. Las zonas resaltadas permiten identificar dónde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gluconeogénesis debe recurrir a rodeos. Observe que el rodeo de piruvato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 PEP contiene dos enzimas, por eso tres pasos irreversibles requieren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cuatro enzimas específicas.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199 / 380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7.2. Imagen del libro y los tres rodeos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535428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535428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40__0__436"/>
          <p:cNvSpPr txBox="1"/>
          <p:nvPr/>
        </p:nvSpPr>
        <p:spPr>
          <a:xfrm>
            <a:off x="800100" y="1995424"/>
            <a:ext cx="10591800" cy="23068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Primer rodeo: piruvato → oxaloacetato → PEP.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 piruvato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carboxilasa utiliza ATP, bicarbonato y biotina. Añade temporalmente un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carbono y forma oxaloacetato, de cuatro carbonos. La PEP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carboxiquinasa, PEPCK, utiliza GTP y convierte el oxaloacetato en PEP,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liberando CO₂. El carbono añadido se vuelve a retirar: su finalidad 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hacer posible la transformación energética y no aumentar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permanentemente el número de carbonos de la glucosa.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4568952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4568952"/>
            <a:ext cx="50800" cy="590804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241__0__48"/>
          <p:cNvSpPr txBox="1"/>
          <p:nvPr/>
        </p:nvSpPr>
        <p:spPr>
          <a:xfrm>
            <a:off x="800100" y="4683252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Piruvato + HCO₃⁻ + ATP → oxaloacetato + ADP + 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4200" y="5312156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4200" y="5312156"/>
            <a:ext cx="50800" cy="590804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UENTE__P0242__0__36"/>
          <p:cNvSpPr txBox="1"/>
          <p:nvPr/>
        </p:nvSpPr>
        <p:spPr>
          <a:xfrm>
            <a:off x="800100" y="5426456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Oxaloacetato + GTP → PEP + GDP + CO₂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200 / 380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7.2. Imagen del libro y los tres rodeos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43__0__288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biotina, vitamina B7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 se une a la enzima y actúa como portadora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un grupo carboxilo. Mg²⁺ participa en el uso de ATP. La PEPCK emplea un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nucleótido distinto, GTP, y requiere cationes divalentes para su actividad.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No debe sustituirse mentalmente el GTP por ATP al calcular el balance.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596640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596640"/>
            <a:ext cx="50800" cy="2211323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244__0__406"/>
          <p:cNvSpPr txBox="1"/>
          <p:nvPr/>
        </p:nvSpPr>
        <p:spPr>
          <a:xfrm>
            <a:off x="800100" y="3710940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El oxaloacetato no atraviesa libremente la membrana mitocondrial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interna. Puede exportarse su carbono como malato o aspartato, 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convertirse en PEP antes de salir. La ruta utilizada también ayuda 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ajustar el NADH citosólico necesario para la síntesis de GAP. Este detalle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explica por qué la compartimentación importa y por qué una flecha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mitocondria→citosol no implica paso libre de todos los metabolitos.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201 / 380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7.2. Imagen del libro y los tres rodeos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239011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45__0__194"/>
          <p:cNvSpPr txBox="1"/>
          <p:nvPr/>
        </p:nvSpPr>
        <p:spPr>
          <a:xfrm>
            <a:off x="800100" y="1995424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Segundo rodeo: F1,6BP → F6P.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 fructosa-1,6-bisfosfatasa, FBPasa-1,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hidroliza el fosfato de C1. Produce Pi, no ATP. Es un paso regulador clave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 incluye requerimiento de Mg²⁺ para la catálisis.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272536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272536"/>
            <a:ext cx="50800" cy="590804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246__0__55"/>
          <p:cNvSpPr txBox="1"/>
          <p:nvPr/>
        </p:nvSpPr>
        <p:spPr>
          <a:xfrm>
            <a:off x="800100" y="3386836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Fructosa-1,6-bisfosfato + H₂O → fructosa-6-fosfato + 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4200" y="4015740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4200" y="4015740"/>
            <a:ext cx="50800" cy="1563116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UENTE__P0247__0__288"/>
          <p:cNvSpPr txBox="1"/>
          <p:nvPr/>
        </p:nvSpPr>
        <p:spPr>
          <a:xfrm>
            <a:off x="800100" y="4130040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Tercer rodeo: G6P → glucosa.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 glucosa-6-fosfatasa libera el fosfato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 C6 por hidrólisis en el retículo endoplasmático. La glucosa libre puede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contribuir a la sangre. El músculo esquelético no dispone de un sistema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suficiente de glucosa-6-fosfatasa para cumplir esa función exportadora.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202 / 380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7.2. Imagen del libro y los tres rodeos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590804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48__0__38"/>
          <p:cNvSpPr txBox="1"/>
          <p:nvPr/>
        </p:nvSpPr>
        <p:spPr>
          <a:xfrm>
            <a:off x="800100" y="1995424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Glucosa-6-fosfato + H₂O → glucosa + 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203 / 380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249__0__60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7.3. Cuadro comparativo: glucólisis frente 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gluconeogénesis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21__1"/>
          <p:cNvGraphicFramePr>
            <a:graphicFrameLocks noGrp="1"/>
          </p:cNvGraphicFramePr>
          <p:nvPr/>
        </p:nvGraphicFramePr>
        <p:xfrm>
          <a:off x="584200" y="1881124"/>
          <a:ext cx="11023600" cy="39750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Aspecto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Glucólisis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Gluconeogénesis desde 2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piruvatos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Dirección global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Glucosa → 2 piruvatos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2 piruvatos → glucosa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Función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Recuperar energía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producir intermediarios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Sostener disponibilidad 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glucosa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Localización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relevante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Citosol de numerosos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tejidos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Compartimentación mixta;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principalmente hígado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corteza renal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Balance energético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+2 ATP y +2 NADH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Consume 4 ATP, 2 GTP y 2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NADH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204 / 380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7.3. Cuadro comparativo: glucólisis frente 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gluconeogénesis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21__2"/>
          <p:cNvGraphicFramePr>
            <a:graphicFrameLocks noGrp="1"/>
          </p:cNvGraphicFramePr>
          <p:nvPr/>
        </p:nvGraphicFramePr>
        <p:xfrm>
          <a:off x="584200" y="1881124"/>
          <a:ext cx="11023600" cy="368553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Aspecto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Glucólisis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Gluconeogénesis desde 2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piruvatos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Reacciones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compartidas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Siete reversibles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Las mismas siete, en sentido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contrario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Pasos no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compartidos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Hexoquinasa, PFK-1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piruvato quinasa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G6Pasa, FBPasa-1, PEPCK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piruvato carboxilasa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Señal hormonal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hepática típica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Favorecida por insulina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Favorecida por glucagón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durante el ayuno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Papel de F2,6BP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Activa PFK-1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Inhibe FBPasa-1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205 / 380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7.3. Cuadro comparativo: glucólisis frente 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gluconeogénesis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50__0__313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Para construir una glucosa a partir de dos piruvatos se consumen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seis</a:t>
            </a:r>
            <a:br/>
            <a:r>
              <a:rPr sz="2200" b="1" lang="es-MX">
                <a:solidFill>
                  <a:srgbClr val="243C4C"/>
                </a:solidFill>
                <a:latin typeface="Arial"/>
              </a:rPr>
              <a:t>enlaces fosfato de alta energía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: cuatro ATP y dos GTP. También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necesitan dos NADH, utilizados al invertir la reacción de GAPDH. Las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hidrólisis catalizadas por las fosfatasas no recuperan los ATP gastados 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las fosforilaciones glucolíticas.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920744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920744"/>
            <a:ext cx="50800" cy="914907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251__0__93"/>
          <p:cNvSpPr txBox="1"/>
          <p:nvPr/>
        </p:nvSpPr>
        <p:spPr>
          <a:xfrm>
            <a:off x="800100" y="4035044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2 piruvatos + 4 ATP + 2 GTP + 2 NADH + 2 H⁺ + 6 H₂O → glucosa</a:t>
            </a:r>
            <a:br/>
            <a:r>
              <a:rPr sz="2200" b="1" lang="es-MX">
                <a:solidFill>
                  <a:srgbClr val="243C4C"/>
                </a:solidFill>
                <a:latin typeface="Arial"/>
              </a:rPr>
              <a:t>+ 4 ADP + 2 GDP + 6 Pi + 2 NAD⁺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206 / 380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7.3. Cuadro comparativo: glucólisis frente 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gluconeogénesis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52__0__269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El balance anterior corresponde 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dos piruvatos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. Si el precursor entra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como DHAP, por ejemplo el glicerol, evita parte del recorrido y no debe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asignársele automáticamente el mismo coste. Si se comienza con lactato,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 conversión lactato→piruvato aporta NADH citosólico.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207 / 380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253__0__46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7.4. Regulación recíproca y ciclos de sustrato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3535172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MAGEN_FUENTE__I18" descr="Regulación recíproca y ciclos de sustra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998" y="1663700"/>
            <a:ext cx="3346002" cy="3382772"/>
          </a:xfrm>
          <a:prstGeom prst="rect">
            <a:avLst/>
          </a:prstGeom>
        </p:spPr>
      </p:pic>
      <p:sp>
        <p:nvSpPr>
          <p:cNvPr id="11" name="FUENTE__P0254__0__194"/>
          <p:cNvSpPr txBox="1"/>
          <p:nvPr/>
        </p:nvSpPr>
        <p:spPr>
          <a:xfrm>
            <a:off x="660400" y="5236972"/>
            <a:ext cx="10871200" cy="8336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536A78"/>
                </a:solidFill>
                <a:latin typeface="Arial"/>
              </a:rPr>
              <a:t>Figura 11-7. Regulación recíproca y ciclos de sustrato.</a:t>
            </a:r>
            <a:r>
              <a:rPr sz="1800" b="0" lang="es-MX">
                <a:solidFill>
                  <a:srgbClr val="536A78"/>
                </a:solidFill>
                <a:latin typeface="Arial"/>
              </a:rPr>
              <a:t> Fuente: capítulo proporcionado,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p. 258 del libro (p. 16 del PDF). Ubicación en esta guía: § 7.4. Imagen original recortada, no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redibujada.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208 / 380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11-7 · Vista ampliada: Control de glucosa y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fructosa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481324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ntrol de glucosa y fructos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434" y="1970024"/>
            <a:ext cx="6953131" cy="33035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209 / 380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11-7 · Vista ampliada: Control de piruvato y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PEP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481324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ntrol de piruvato y PE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199" y="1970024"/>
            <a:ext cx="5935600" cy="33035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210 / 380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7.4. Regulación recíproca y ciclos de sustrato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55__0__410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Qué muestra la figura 11-7.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Compare cada pareja de enzimas que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actúa sobre un mismo par de intermediarios. La F2,6BP y el AMP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favorecen la utilización glucolítica y frenan FBPasa-1. El citrato indica un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contexto que puede favorecer la dirección biosintética. El acetil-CoA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activa piruvato carboxilasa: avisa de disponibilidad de combustible para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sostener la síntesis de glucosa y la reposición de oxaloacetato.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211 / 380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7.4. Regulación recíproca y ciclos de sustrato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56__0__332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regulación recíproca evita una actividad intensa simultánea de vías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opuestas. Si PFK-1 y FBPasa-1 trabajaran con flujos elevados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equivalentes, se consumiría ATP sin producir un avance neto de carbono.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Los ciclos de sustrato pueden existir y contribuir al control fino, pero su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activación descoordinada supone un gasto energético.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212 / 380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7.4. Regulación recíproca y ciclos de sustrato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22__1"/>
          <p:cNvGraphicFramePr>
            <a:graphicFrameLocks noGrp="1"/>
          </p:cNvGraphicFramePr>
          <p:nvPr/>
        </p:nvGraphicFramePr>
        <p:xfrm>
          <a:off x="584200" y="1881124"/>
          <a:ext cx="11023600" cy="325373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Punto de control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Señal relevante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Consecuencia principal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Piruvato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carboxilasa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Activada por acetil-CoA;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frenada por baja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disponibilidad energética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Favorece oxaloacetato cuando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existe combustible suficiente.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66370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PEPCK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Depende 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disponibilidad 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sustratos y GTP;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regulación de expresión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hormonal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Ajusta el flujo desde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oxaloacetato hacia PEP.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213 / 380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7.4. Regulación recíproca y ciclos de sustrato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22__2"/>
          <p:cNvGraphicFramePr>
            <a:graphicFrameLocks noGrp="1"/>
          </p:cNvGraphicFramePr>
          <p:nvPr/>
        </p:nvGraphicFramePr>
        <p:xfrm>
          <a:off x="584200" y="1881124"/>
          <a:ext cx="11023600" cy="325373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Punto de control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Señal relevante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Consecuencia principal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FBPasa-1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Inhibida por AMP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F2,6BP; favorecida por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citrato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Reduce la síntesis de glucosa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cuando la célula necesita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consumir energía disponible.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66370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Sistema G6Pasa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Disponibilidad de G6P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regulación de expresión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Ajusta la capacidad de liberar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glucosa; la disponibilidad del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sustrato no es lo mismo que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un regulador alostérico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independiente.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214 / 380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257__0__30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7.5. Sustratos gluconeogénicos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2211323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58__0__380"/>
          <p:cNvSpPr txBox="1"/>
          <p:nvPr/>
        </p:nvSpPr>
        <p:spPr>
          <a:xfrm>
            <a:off x="800100" y="1701800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Lactato: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se convierte en piruvato por lactato deshidrogenasa,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produciendo NADH. Es una conexión importante con eritrocitos y músculo.</a:t>
            </a:r>
            <a:br/>
            <a:r>
              <a:rPr sz="2200" b="1" lang="es-MX">
                <a:solidFill>
                  <a:srgbClr val="243C4C"/>
                </a:solidFill>
                <a:latin typeface="Arial"/>
              </a:rPr>
              <a:t>Alanina: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una aminotransferasa transfiere su grupo amino y forma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piruvato; el proceso se integra con el transporte de nitrógeno.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Glicerol: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glicerol quinasa lo convierte en glicerol-3-P, gastando ATP; una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deshidrogenasa lo oxida a DHAP con NAD⁺.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215 / 380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7.5. Sustratos gluconeogénicos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2211323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59__0__420"/>
          <p:cNvSpPr txBox="1"/>
          <p:nvPr/>
        </p:nvSpPr>
        <p:spPr>
          <a:xfrm>
            <a:off x="800100" y="1701800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Otros aminoácidos glucogénicos pueden entrar como piruvato o como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intermediarios del ciclo de Krebs. Como ampliación, leucina y lisina son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exclusivamente cetogénicas y no aportan una síntesis neta de glucosa por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esas rutas. En humanos, el acetil-CoA procedente de ácidos grasos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cadena par no da una producción neta de glucosa: no existe una inversión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útil de piruvato deshidrogenasa ni un ciclo del glioxilato humano.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216 / 380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7.5. Sustratos gluconeogénicos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2014220"/>
          </a:xfrm>
          <a:prstGeom prst="roundRect">
            <a:avLst>
              <a:gd name="adj" fmla="val 8000"/>
            </a:avLst>
          </a:prstGeom>
          <a:solidFill>
            <a:srgbClr val="E6F1F2"/>
          </a:solidFill>
          <a:ln w="8890">
            <a:solidFill>
              <a:srgbClr val="80B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UENTE__T023R000C00__0__305"/>
          <p:cNvSpPr txBox="1"/>
          <p:nvPr/>
        </p:nvSpPr>
        <p:spPr>
          <a:xfrm>
            <a:off x="812800" y="1765300"/>
            <a:ext cx="105664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No confunda «grasa» con «acetil-CoA glucogénico»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 degradación de triacilglicéridos libera glicerol, que sí puede aportar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carbono para glucosa. Esto no significa que todo el carbono de sus ácidos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grasos se transforme en glucosa. Es una distinción importante para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interpretar ayuno y metabolismo lipídico.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217 / 380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260__0__43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7.6. Glucosa-6-fosfatasa y el recuadro 11-5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2211323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61__0__402"/>
          <p:cNvSpPr txBox="1"/>
          <p:nvPr/>
        </p:nvSpPr>
        <p:spPr>
          <a:xfrm>
            <a:off x="800100" y="1701800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El capítulo presenta un modelo de transporte al retículo endoplasmático: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G6P debe acceder al compartimento donde la glucosa-6-fosfatasa actúa,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los productos deben poder salir. El transportador G6PT, codificado por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SLC37A4, y la enzima codificada por G6PC1 son componentes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fundamentales. Fallos del sistema explican formas de glucogenosis tipo I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y dificultades para mantener glucemia durante el ayuno.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9512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951224"/>
            <a:ext cx="50800" cy="1887220"/>
          </a:xfrm>
          <a:prstGeom prst="rect">
            <a:avLst/>
          </a:prstGeom>
          <a:solidFill>
            <a:srgbClr val="BD8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262__0__291"/>
          <p:cNvSpPr txBox="1"/>
          <p:nvPr/>
        </p:nvSpPr>
        <p:spPr>
          <a:xfrm>
            <a:off x="800100" y="40655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El recuadro menciona este sistema como posible diana para fármacos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antidiabéticos. Debe interpretarse como una conexión conceptual entre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producción hepática de glucosa y terapéutica, no como una lista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medicamentos aprobados ni como una indicación para inhibir la enzima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por cuenta propia.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218 / 380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3358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381000"/>
            <a:ext cx="11023600" cy="330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99DEDF"/>
                </a:solidFill>
                <a:latin typeface="Arial"/>
              </a:rPr>
              <a:t>CAPÍTULO 11 · SECCIÓN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016000"/>
            <a:ext cx="2413000" cy="1270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defRPr sz="8000">
                <a:latin typeface="Arial"/>
              </a:defRPr>
            </a:pPr>
            <a:r>
              <a:rPr sz="8000" b="1" lang="es-MX">
                <a:solidFill>
                  <a:srgbClr val="37D3C6"/>
                </a:solidFill>
                <a:latin typeface="Arial"/>
              </a:rPr>
              <a:t>08</a:t>
            </a:r>
          </a:p>
        </p:txBody>
      </p:sp>
      <p:sp>
        <p:nvSpPr>
          <p:cNvPr id="7" name="FUENTE__P0263__0__46"/>
          <p:cNvSpPr txBox="1"/>
          <p:nvPr/>
        </p:nvSpPr>
        <p:spPr>
          <a:xfrm>
            <a:off x="584200" y="2730500"/>
            <a:ext cx="11023600" cy="11384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31"/>
              </a:lnSpc>
              <a:spcBef>
                <a:spcPts val="0"/>
              </a:spcBef>
              <a:spcAft>
                <a:spcPts val="0"/>
              </a:spcAft>
              <a:defRPr sz="3800">
                <a:latin typeface="Arial"/>
              </a:defRPr>
            </a:pPr>
            <a:r>
              <a:rPr sz="3800" b="1" lang="es-MX">
                <a:solidFill>
                  <a:srgbClr val="FFFFFF"/>
                </a:solidFill>
                <a:latin typeface="Arial"/>
              </a:rPr>
              <a:t>8. Ciclo de Cori y ciclo de la glucosa-</a:t>
            </a:r>
            <a:br/>
            <a:r>
              <a:rPr sz="3800" b="1" lang="es-MX">
                <a:solidFill>
                  <a:srgbClr val="FFFFFF"/>
                </a:solidFill>
                <a:latin typeface="Arial"/>
              </a:rPr>
              <a:t>alanina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5461000"/>
            <a:ext cx="110236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>
                <a:latin typeface="Arial"/>
              </a:defRPr>
            </a:pPr>
            <a:r>
              <a:rPr sz="2000" b="0" lang="es-MX">
                <a:solidFill>
                  <a:srgbClr val="D1E6ED"/>
                </a:solidFill>
                <a:latin typeface="Arial"/>
              </a:rPr>
              <a:t>Contenido íntegro · lectura didáctica · cuadros y estructuras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219 / 380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264__0__57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8.1. Imagen del libro: cooperación entre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músculo e hígado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241548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MAGEN_FUENTE__I19" descr="Ciclo de Cori y ciclo de la glucosa-alanin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7419" y="1957324"/>
            <a:ext cx="3097161" cy="3089148"/>
          </a:xfrm>
          <a:prstGeom prst="rect">
            <a:avLst/>
          </a:prstGeom>
        </p:spPr>
      </p:pic>
      <p:sp>
        <p:nvSpPr>
          <p:cNvPr id="11" name="FUENTE__P0265__0__196"/>
          <p:cNvSpPr txBox="1"/>
          <p:nvPr/>
        </p:nvSpPr>
        <p:spPr>
          <a:xfrm>
            <a:off x="660400" y="5236972"/>
            <a:ext cx="10871200" cy="8336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536A78"/>
                </a:solidFill>
                <a:latin typeface="Arial"/>
              </a:rPr>
              <a:t>Figura 11-8. Ciclo de Cori y ciclo de la glucosa-alanina.</a:t>
            </a:r>
            <a:r>
              <a:rPr sz="1800" b="0" lang="es-MX">
                <a:solidFill>
                  <a:srgbClr val="536A78"/>
                </a:solidFill>
                <a:latin typeface="Arial"/>
              </a:rPr>
              <a:t> Fuente: capítulo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proporcionado, p. 259 del libro (p. 17 del PDF). Ubicación en esta guía: § 8.1. Imagen original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recortada, no redibujada.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220 / 380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11-8 · Vista ampliada: Panel a: ciclo de Cori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3774948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nel a: ciclo de Cor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92" y="1676400"/>
            <a:ext cx="7365815" cy="35971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221 / 380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11-8 · Vista ampliada: Panel b: ciclo glucosa-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alanina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481324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nel b: ciclo glucosa-alanin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930" y="1970024"/>
            <a:ext cx="6368139" cy="33035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222 / 380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8.1. Imagen del libro: cooperación entre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músculo e hígado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66__0__344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Panel a, ciclo de Cori.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En el tejido periférico, glucosa se convierte 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lactato mediante glucólisis y lactato deshidrogenasa. El lactato viaja por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sangre al hígado, donde puede convertirse de nuevo en glucosa. Esta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regresa a la circulación y puede utilizarse otra vez. Los eritrocitos también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aportan lactato; el ciclo no se limita al músculo.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92074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920744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267__0__325"/>
          <p:cNvSpPr txBox="1"/>
          <p:nvPr/>
        </p:nvSpPr>
        <p:spPr>
          <a:xfrm>
            <a:off x="800100" y="403504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Panel b, ciclo de la glucosa-alanina.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El piruvato muscular acepta un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grupo amino y forma alanina. Esta viaja al hígado, donde se regenera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piruvato para gluconeogénesis. El nitrógeno se transfiere a otros procesos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que permiten su eliminación, especialmente mediante urea. Así, el ciclo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transporta a la vez carbono y nitrógeno.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223 / 380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268__0__70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8.2. Ciclo de Cori: carbono que se recicla y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energía que se transfiere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69__0__392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periferia obtiene dos ATP al convertir una glucosa en dos lactatos.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hígado utiliza energía para volver a sintetizar glucosa a partir de ellos: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gluconeogénesis desde los dos piruvatos correspondientes requiere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cuatro ATP y dos GTP. Por tanto, un ciclo completo supone un gasto neto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 cuatro equivalentes de ATP para el organismo, aunque aporta energía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inmediata al tejido periférico.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4244848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4244848"/>
            <a:ext cx="50800" cy="1563116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270__0__275"/>
          <p:cNvSpPr txBox="1"/>
          <p:nvPr/>
        </p:nvSpPr>
        <p:spPr>
          <a:xfrm>
            <a:off x="800100" y="4359148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No es una máquina que produzca energía de la nada. El hígado puede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sostener su trabajo mediante oxidación de otros combustibles, entre ellos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ácidos grasos. El ciclo traslada carga metabólica a un tejido capaz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obtener energía por vías oxidativas y ayuda a reciclar lactato.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224 / 380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271__0__54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Cuadro sinóptico editable: recorrido del ciclo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de Cori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24__1"/>
          <p:cNvGraphicFramePr>
            <a:graphicFrameLocks noGrp="1"/>
          </p:cNvGraphicFramePr>
          <p:nvPr/>
        </p:nvGraphicFramePr>
        <p:xfrm>
          <a:off x="584200" y="1881124"/>
          <a:ext cx="11023600" cy="390143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27552"/>
                <a:gridCol w="7496048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Cuadro sinóptico: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etapa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Acontecimiento y resultado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Periferia: glucosa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Glucólisis → 2 piruvatos + 2 ATP netos + 2 NADH.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↳ Regeneración de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NAD⁺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2 piruvatos + 2 NADH → 2 lactatos.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Transporte sanguíneo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Lactato → hígado.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Hígado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Lactato → piruvato → gluconeogénesis → glucosa;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consume energía.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Retorno a periferia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La glucosa circulante vuelve a tejidos consumidores.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225 / 380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Cuadro sinóptico editable: recorrido del ciclo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de Cori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24__2"/>
          <p:cNvGraphicFramePr>
            <a:graphicFrameLocks noGrp="1"/>
          </p:cNvGraphicFramePr>
          <p:nvPr/>
        </p:nvGraphicFramePr>
        <p:xfrm>
          <a:off x="584200" y="1881124"/>
          <a:ext cx="11023600" cy="159003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27552"/>
                <a:gridCol w="7496048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Cuadro sinóptico: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etapa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Acontecimiento y resultado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Balance del ciclo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Periferia gana 2 ATP; hígado consume 6 equivalentes: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coste global de 4.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226 / 380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272__0__69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8.3. Ciclo glucosa-alanina: además del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carbono, transportar nitrógeno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73__0__269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alanina aminotransferasa, ALT, interconvierte alanina y piruvato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transfiriendo un grupo amino entre aminoácidos y cetoácidos. Utiliza</a:t>
            </a:r>
            <a:br/>
            <a:r>
              <a:rPr sz="2200" b="1" lang="es-MX">
                <a:solidFill>
                  <a:srgbClr val="243C4C"/>
                </a:solidFill>
                <a:latin typeface="Arial"/>
              </a:rPr>
              <a:t>fosfato de piridoxal, PLP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 derivado de vitamina B6. Una ecuación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representativa es alanina + α-cetoglutarato ⇌ piruvato + glutamato.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596640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596640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274__0__306"/>
          <p:cNvSpPr txBox="1"/>
          <p:nvPr/>
        </p:nvSpPr>
        <p:spPr>
          <a:xfrm>
            <a:off x="800100" y="3710940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En el músculo, la formación de alanina permite transportar nitrógeno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hacia el hígado sin liberar grandes cantidades de amonio en la sangre. 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el hígado, su carbono puede contribuir a gluconeogénesis y su nitrógeno 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eliminación como urea. Esta combinación diferencia el ciclo de alanina del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ciclo de Cori.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227 / 380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8.3. Ciclo glucosa-alanina: además del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carbono, transportar nitrógeno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25__1"/>
          <p:cNvGraphicFramePr>
            <a:graphicFrameLocks noGrp="1"/>
          </p:cNvGraphicFramePr>
          <p:nvPr/>
        </p:nvGraphicFramePr>
        <p:xfrm>
          <a:off x="584200" y="1881124"/>
          <a:ext cx="11023600" cy="397509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Aspecto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Ciclo de Cori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Ciclo glucosa-alanina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Molécula que viaja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al hígado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Lactato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Alanina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Enzima que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conecta con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piruvato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Lactato deshidrogenasa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Alanina aminotransferasa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Coenzima clave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NAD⁺ / NADH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PLP, vitamina B6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Qué transporta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Carbono y equivalentes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asociados al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metabolismo del lactato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Carbono y nitrógeno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228 / 380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8.3. Ciclo glucosa-alanina: además del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carbono, transportar nitrógeno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25__2"/>
          <p:cNvGraphicFramePr>
            <a:graphicFrameLocks noGrp="1"/>
          </p:cNvGraphicFramePr>
          <p:nvPr/>
        </p:nvGraphicFramePr>
        <p:xfrm>
          <a:off x="584200" y="1881124"/>
          <a:ext cx="11023600" cy="238505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Aspecto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Ciclo de Cori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Ciclo glucosa-alanina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Objetivo hepático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Reciclar carbono 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glucosa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Producir glucosa y canalizar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nitrógeno hacia eliminación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Coste adicional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relevante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Gluconeogénesis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Gluconeogénesis más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procesos de manejo del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nitrógeno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229 / 380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8.3. Ciclo glucosa-alanina: además del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carbono, transportar nitrógeno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75__0__260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Aplicación de aprendizaje: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si una pregunta menciona regeneración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NAD⁺ y lactato, piense en Cori. Si menciona aminotransferasas, PLP,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glutamato o urea, piense en el ciclo glucosa-alanina. En ambos casos,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carbono puede regresar a la periferia como glucosa.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230 / 380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3358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381000"/>
            <a:ext cx="11023600" cy="330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99DEDF"/>
                </a:solidFill>
                <a:latin typeface="Arial"/>
              </a:rPr>
              <a:t>CAPÍTULO 11 · SECCIÓN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016000"/>
            <a:ext cx="2413000" cy="1270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defRPr sz="8000">
                <a:latin typeface="Arial"/>
              </a:defRPr>
            </a:pPr>
            <a:r>
              <a:rPr sz="8000" b="1" lang="es-MX">
                <a:solidFill>
                  <a:srgbClr val="37D3C6"/>
                </a:solidFill>
                <a:latin typeface="Arial"/>
              </a:rPr>
              <a:t>09</a:t>
            </a:r>
          </a:p>
        </p:txBody>
      </p:sp>
      <p:sp>
        <p:nvSpPr>
          <p:cNvPr id="7" name="FUENTE__P0276__0__59"/>
          <p:cNvSpPr txBox="1"/>
          <p:nvPr/>
        </p:nvSpPr>
        <p:spPr>
          <a:xfrm>
            <a:off x="584200" y="2730500"/>
            <a:ext cx="11023600" cy="11384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31"/>
              </a:lnSpc>
              <a:spcBef>
                <a:spcPts val="0"/>
              </a:spcBef>
              <a:spcAft>
                <a:spcPts val="0"/>
              </a:spcAft>
              <a:defRPr sz="3800">
                <a:latin typeface="Arial"/>
              </a:defRPr>
            </a:pPr>
            <a:r>
              <a:rPr sz="3800" b="1" lang="es-MX">
                <a:solidFill>
                  <a:srgbClr val="FFFFFF"/>
                </a:solidFill>
                <a:latin typeface="Arial"/>
              </a:rPr>
              <a:t>9. Destinos del piruvato y complejo</a:t>
            </a:r>
            <a:br/>
            <a:r>
              <a:rPr sz="3800" b="1" lang="es-MX">
                <a:solidFill>
                  <a:srgbClr val="FFFFFF"/>
                </a:solidFill>
                <a:latin typeface="Arial"/>
              </a:rPr>
              <a:t>piruvato deshidrogenasa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5461000"/>
            <a:ext cx="110236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>
                <a:latin typeface="Arial"/>
              </a:defRPr>
            </a:pPr>
            <a:r>
              <a:rPr sz="2000" b="0" lang="es-MX">
                <a:solidFill>
                  <a:srgbClr val="D1E6ED"/>
                </a:solidFill>
                <a:latin typeface="Arial"/>
              </a:rPr>
              <a:t>Contenido íntegro · lectura didáctica · cuadros y estructuras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231 / 380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277__0__52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9.1. Un punto de distribución, no un producto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inútil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78__0__310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El piruvato todavía conserva carbono y energía química después de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glucólisis. Puede reducirse a lactato, descarboxilarse y transformarse 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acetil-CoA, carboxilarse a oxaloacetato o participar en transaminación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para formar alanina. En levaduras y otros microorganismos también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puede ser precursor de etanol.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232 / 380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9.1. Un punto de distribución, no un producto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inútil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241548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MAGEN_FUENTE__I20" descr="Destinos del piruvato y regeneración de NAD⁺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637" y="1957324"/>
            <a:ext cx="4624724" cy="3089148"/>
          </a:xfrm>
          <a:prstGeom prst="rect">
            <a:avLst/>
          </a:prstGeom>
        </p:spPr>
      </p:pic>
      <p:sp>
        <p:nvSpPr>
          <p:cNvPr id="11" name="FUENTE__P0279__0__197"/>
          <p:cNvSpPr txBox="1"/>
          <p:nvPr/>
        </p:nvSpPr>
        <p:spPr>
          <a:xfrm>
            <a:off x="660400" y="5236972"/>
            <a:ext cx="10871200" cy="8336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536A78"/>
                </a:solidFill>
                <a:latin typeface="Arial"/>
              </a:rPr>
              <a:t>Figura 11-9. Destinos del piruvato y regeneración de NAD⁺.</a:t>
            </a:r>
            <a:r>
              <a:rPr sz="1800" b="0" lang="es-MX">
                <a:solidFill>
                  <a:srgbClr val="536A78"/>
                </a:solidFill>
                <a:latin typeface="Arial"/>
              </a:rPr>
              <a:t> Fuente: capítulo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proporcionado, p. 260 del libro (p. 18 del PDF). Ubicación en esta guía: § 9.1. Imagen original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recortada, no redibujada.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233 / 380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9.1. Un punto de distribución, no un producto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inútil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80__0__332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Lectura de la figura 11-9.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 rama hacia lactato consume NADH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regenera NAD⁺. La rama alcohólica también regenera NAD⁺, pero incluye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liberación de CO₂. La rama hacia acetil-CoA hace lo contrario respecto al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coenzima: consume NAD⁺ y forma NADH. Observe que «producir lactato»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y «producir acetil-CoA» tienen efectos redox diferentes.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92074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920744"/>
            <a:ext cx="50800" cy="1563116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281__0__276"/>
          <p:cNvSpPr txBox="1"/>
          <p:nvPr/>
        </p:nvSpPr>
        <p:spPr>
          <a:xfrm>
            <a:off x="800100" y="403504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Las etiquetas aerobio/anaerobio del dibujo orientan sobre el contexto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clásico. Debe añadirse el matiz de que la formación de lactato no está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restringida exclusivamente a falta absoluta de oxígeno. Lo decisivo para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sostener glucólisis es mantener disponible NAD⁺ en el citosol.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234 / 380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282__0__62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9.2. Fermentación láctica: reducir piruvato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para reciclar NAD⁺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83__0__252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lactato deshidrogenasa, LDH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 cataliza piruvato + NADH + H⁺ ⇌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lactato + NAD⁺. La reducción transforma el carbonilo de C2 del piruvato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 un grupo alcohol y conserva sus tres carbonos. El coenzima es NADH;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no se requiere TPP ni CoA para esta reacción.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596640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596640"/>
            <a:ext cx="50800" cy="2211323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284__0__377"/>
          <p:cNvSpPr txBox="1"/>
          <p:nvPr/>
        </p:nvSpPr>
        <p:spPr>
          <a:xfrm>
            <a:off x="800100" y="3710940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Su finalidad energética inmediata no es producir ATP extra, sino permitir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que la reacción de GAPDH siga disponiendo de NAD⁺. En un eritrocito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maduro, que carece de mitocondrias, este reciclaje permite sostener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ATP glucolítico. El lactato puede reutilizarse como combustible por otros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tejidos o convertirse en glucosa; no debe describirse como un simple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residuo sin utilidad.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235 / 380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9.2. Fermentación láctica: reducir piruvato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para reciclar NAD⁺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239011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85__0__198"/>
          <p:cNvSpPr txBox="1"/>
          <p:nvPr/>
        </p:nvSpPr>
        <p:spPr>
          <a:xfrm>
            <a:off x="800100" y="1995424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En microorganismos, la fermentación láctica tiene importancia 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producción de alimentos, como yogures y ciertos quesos. El capítulo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conecta así una reacción redox celular con procesos industriales.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236 / 380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286__0__5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9.3. Fermentación alcohólica: dos reacciones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diferentes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87__0__294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fermentación alcohólica ocurre en levaduras y diversos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microorganismos, no como destino fisiológico central del piruvato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humano. Primero, la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piruvato descarboxilasa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elimina CO₂ y forma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acetaldehído. Utiliza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pirofosfato de tiamina, TPP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 derivado de vitamina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B1, y Mg²⁺ para su funcionamiento.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92074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920744"/>
            <a:ext cx="50800" cy="188722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288__0__312"/>
          <p:cNvSpPr txBox="1"/>
          <p:nvPr/>
        </p:nvSpPr>
        <p:spPr>
          <a:xfrm>
            <a:off x="800100" y="403504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Después, la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alcohol deshidrogenasa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reduce el acetaldehído a etanol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utilizando NADH y regenerando NAD⁺. Muchas alcohol deshidrogenasas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son dependientes de Zn²⁺, aunque no debe generalizarse ese requisito 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todas las enzimas de todos los organismos. Las dos reacciones no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generan ATP adicional al de la glucólisis.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237 / 380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9.3. Fermentación alcohólica: dos reacciones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diferentes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590804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89__0__29"/>
          <p:cNvSpPr txBox="1"/>
          <p:nvPr/>
        </p:nvSpPr>
        <p:spPr>
          <a:xfrm>
            <a:off x="800100" y="1995424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Piruvato → acetaldehído + CO₂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2624328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2624328"/>
            <a:ext cx="50800" cy="590804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290__0__40"/>
          <p:cNvSpPr txBox="1"/>
          <p:nvPr/>
        </p:nvSpPr>
        <p:spPr>
          <a:xfrm>
            <a:off x="800100" y="2738628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Acetaldehído + NADH + H⁺ → etanol + NAD⁺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4200" y="3367531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4200" y="3367531"/>
            <a:ext cx="50800" cy="1563116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UENTE__P0291__0__269"/>
          <p:cNvSpPr txBox="1"/>
          <p:nvPr/>
        </p:nvSpPr>
        <p:spPr>
          <a:xfrm>
            <a:off x="800100" y="3481831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producción de CO₂ es importante en panificación y la de etanol 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bebidas fermentadas. A diferencia de la fermentación homoláctica, aquí sí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se elimina un carbono de cada piruvato como CO₂. La regeneración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NAD⁺ es el propósito común de ambos tipos de fermentación.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238 / 380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292__0__59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9.4. Descarboxilación oxidativa: el puente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hacia acetil-CoA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241548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MAGEN_FUENTE__I21" descr="Descarboxilación oxidativa del piruva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165" y="1957324"/>
            <a:ext cx="9383669" cy="3089148"/>
          </a:xfrm>
          <a:prstGeom prst="rect">
            <a:avLst/>
          </a:prstGeom>
        </p:spPr>
      </p:pic>
      <p:sp>
        <p:nvSpPr>
          <p:cNvPr id="11" name="FUENTE__P0293__0__193"/>
          <p:cNvSpPr txBox="1"/>
          <p:nvPr/>
        </p:nvSpPr>
        <p:spPr>
          <a:xfrm>
            <a:off x="660400" y="5236972"/>
            <a:ext cx="10871200" cy="8336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536A78"/>
                </a:solidFill>
                <a:latin typeface="Arial"/>
              </a:rPr>
              <a:t>Figura 11-10. Descarboxilación oxidativa del piruvato.</a:t>
            </a:r>
            <a:r>
              <a:rPr sz="1800" b="0" lang="es-MX">
                <a:solidFill>
                  <a:srgbClr val="536A78"/>
                </a:solidFill>
                <a:latin typeface="Arial"/>
              </a:rPr>
              <a:t> Fuente: capítulo proporcionado,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p. 261 del libro (p. 19 del PDF). Ubicación en esta guía: § 9.4. Imagen original recortada, no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redibujada.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239 / 380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9.4. Descarboxilación oxidativa: el puente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hacia acetil-CoA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94__0__271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Cómo interpretar la figura 11-10.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Una molécula de tres carbonos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pierde uno como CO₂ y entrega un grupo de dos carbonos a la coenzima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A. Además, NAD⁺ se reduce a NADH. El resultado es acetil-CoA, con un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enlace tioéster que permite utilizar el grupo acetilo en otras rutas.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596640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596640"/>
            <a:ext cx="50800" cy="590804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295__0__55"/>
          <p:cNvSpPr txBox="1"/>
          <p:nvPr/>
        </p:nvSpPr>
        <p:spPr>
          <a:xfrm>
            <a:off x="800100" y="3710940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Piruvato + CoA-SH + NAD⁺ → acetil-CoA + CO₂ + NADH + H⁺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240 / 380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9.4. Descarboxilación oxidativa: el puente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hacia acetil-CoA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96__0__304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En las células humanas esta reacción ocurre en la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matriz mitocondrial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está catalizada por un complejo multienzimático, PDH. Por glucosa, los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dos piruvatos pueden formar dos acetil-CoA, dos CO₂ y dos NADH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adicionales. Estas cantidades pertenecen a PDH, no al balance de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glucólisis de diez reacciones.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92074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920744"/>
            <a:ext cx="50800" cy="188722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297__0__317"/>
          <p:cNvSpPr txBox="1"/>
          <p:nvPr/>
        </p:nvSpPr>
        <p:spPr>
          <a:xfrm>
            <a:off x="800100" y="403504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reacción es irreversible en condiciones fisiológicas. Por eso el acetil-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CoA no vuelve a piruvato para realizar gluconeogénesis neta. La PDH no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necesita O₂ como reactivo directo, pero su funcionamiento oxidativo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depende de que NADH pueda reoxidarse y de que sus productos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utilicen en el metabolismo mitocondrial.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241 / 380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298__0__51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9.5. Tres actividades enzimáticas y cinco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coenzimas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26__1"/>
          <p:cNvGraphicFramePr>
            <a:graphicFrameLocks noGrp="1"/>
          </p:cNvGraphicFramePr>
          <p:nvPr/>
        </p:nvGraphicFramePr>
        <p:xfrm>
          <a:off x="584200" y="1881124"/>
          <a:ext cx="11023600" cy="325373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Componente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Nombre correcto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Trabajo y coenzimas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principales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E1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Piruvato deshidrogenasa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Descarboxila piruvato con TPP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y forma hidroxi-etil-TPP;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transfiere el fragmento hacia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el brazo lipóilo.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E2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Dihidrolipoil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transacetilasa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Usa lipoamida unida a lisina;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transfiere el grupo acetilo 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CoA-SH.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242 / 380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9.5. Tres actividades enzimáticas y cinco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coenzimas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26__2"/>
          <p:cNvGraphicFramePr>
            <a:graphicFrameLocks noGrp="1"/>
          </p:cNvGraphicFramePr>
          <p:nvPr/>
        </p:nvGraphicFramePr>
        <p:xfrm>
          <a:off x="584200" y="1881124"/>
          <a:ext cx="11023600" cy="187959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Componente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Nombre correcto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Trabajo y coenzimas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principales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E3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Dihidrolipoil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deshidrogenasa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Reoxida dihidrolipoamida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mediante FAD y entrega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finalmente electrones a NAD⁺.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243 / 380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9.5. Tres actividades enzimáticas y cinco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coenzimas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299__0__400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Secuencia mecanística ampliada: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1) E1 libera CO₂ y retiene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fragmento de dos carbonos sobre TPP; 2) se transfiere al brazo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lipoamida y se oxida a grupo acetilo; 3) E2 entrega acetilo a CoA-SH; 4)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E3 reoxida la lipoamida mediante FAD; 5) el poder reductor pasa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finalmente a NAD⁺ para formar NADH. El acoplamiento espacial reduce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liberación de intermediarios y coordina el trabajo del complejo.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244 / 380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9.5. Tres actividades enzimáticas y cinco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coenzimas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338323"/>
          </a:xfrm>
          <a:prstGeom prst="roundRect">
            <a:avLst>
              <a:gd name="adj" fmla="val 8000"/>
            </a:avLst>
          </a:prstGeom>
          <a:solidFill>
            <a:srgbClr val="E6F1F2"/>
          </a:solidFill>
          <a:ln w="8890">
            <a:solidFill>
              <a:srgbClr val="80B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UENTE__T027R000C00__0__373"/>
          <p:cNvSpPr txBox="1"/>
          <p:nvPr/>
        </p:nvSpPr>
        <p:spPr>
          <a:xfrm>
            <a:off x="812800" y="2058924"/>
            <a:ext cx="105664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Corrección de nomenclatura y mecanismo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 PDH, E1 se denomina piruvato deshidrogenasa y el intermediario 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hidroxi-etil-TPP: no se libera acetaldehído libre como en la fermentación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alcohólica. Tampoco debe memorizarse un número fijo de «dos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lipoamidas» para todo complejo: hay brazos lipóilo en múltiples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subunidades. Esta explicación se contrasta con CHEM 245, Gonzaga </a:t>
            </a:r>
            <a:r>
              <a:rPr sz="2200" b="0" lang="es-MX" u="sng">
                <a:solidFill>
                  <a:srgbClr val="007F88"/>
                </a:solidFill>
                <a:latin typeface="Arial"/>
                <a:hlinkClick r:id="rId2"/>
              </a:rPr>
              <a:t>1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245 / 380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9.5. Tres actividades enzimáticas y cinco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coenzimas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28__1"/>
          <p:cNvGraphicFramePr>
            <a:graphicFrameLocks noGrp="1"/>
          </p:cNvGraphicFramePr>
          <p:nvPr/>
        </p:nvGraphicFramePr>
        <p:xfrm>
          <a:off x="584200" y="1881124"/>
          <a:ext cx="11023600" cy="404875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Coenzima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Estructura u origen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que debe reconocer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Función en PDH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TPP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Derivado de tiamina, B1;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posee un anillo tiazolio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un grupo difosfato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Estabiliza el intermediario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carbonado de la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descarboxilación.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Lipoamida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Grupo lipóilo unido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covalentemente a lisina;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alterna disulfuro y ditiol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Brazo móvil que transporta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grupo acetilo y equivalentes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reductores.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CoA-SH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Derivada de pantotenato,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B5; presenta un grupo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tiol terminal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Recibe el acetilo y forma el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tioéster acetil-CoA.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246 / 380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9.5. Tres actividades enzimáticas y cinco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coenzimas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28__2"/>
          <p:cNvGraphicFramePr>
            <a:graphicFrameLocks noGrp="1"/>
          </p:cNvGraphicFramePr>
          <p:nvPr/>
        </p:nvGraphicFramePr>
        <p:xfrm>
          <a:off x="584200" y="1881124"/>
          <a:ext cx="11023600" cy="267461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Coenzima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Estructura u origen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que debe reconocer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Función en PDH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FAD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Dinucleótido derivado 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riboflavina, B2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Participa unido a E3 en la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reoxidación de lipoamida.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NAD⁺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Dinucleótido derivado 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niacina, B3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Aceptor final de electrones del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complejo; se libera como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NADH.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247 / 380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9.5. Tres actividades enzimáticas y cinco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coenzimas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239011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00__0__183"/>
          <p:cNvSpPr txBox="1"/>
          <p:nvPr/>
        </p:nvSpPr>
        <p:spPr>
          <a:xfrm>
            <a:off x="800100" y="1995424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Distinción útil: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biotina, B7, pertenece a la piruvato carboxilasa; PLP, B6,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es clave para aminotransferasas y glucógeno fosforilasa. No son dos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las cinco coenzimas clásicas de PDH.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248 / 380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301__0__22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9.6. Regulación de PDH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3535172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MAGEN_FUENTE__I22" descr="Regulación del complejo piruvato deshidrogenas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830" y="1663700"/>
            <a:ext cx="8112339" cy="3382772"/>
          </a:xfrm>
          <a:prstGeom prst="rect">
            <a:avLst/>
          </a:prstGeom>
        </p:spPr>
      </p:pic>
      <p:sp>
        <p:nvSpPr>
          <p:cNvPr id="11" name="FUENTE__P0302__0__201"/>
          <p:cNvSpPr txBox="1"/>
          <p:nvPr/>
        </p:nvSpPr>
        <p:spPr>
          <a:xfrm>
            <a:off x="660400" y="5236972"/>
            <a:ext cx="10871200" cy="8336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536A78"/>
                </a:solidFill>
                <a:latin typeface="Arial"/>
              </a:rPr>
              <a:t>Figura 11-11. Regulación del complejo piruvato deshidrogenasa.</a:t>
            </a:r>
            <a:r>
              <a:rPr sz="1800" b="0" lang="es-MX">
                <a:solidFill>
                  <a:srgbClr val="536A78"/>
                </a:solidFill>
                <a:latin typeface="Arial"/>
              </a:rPr>
              <a:t> Fuente: capítulo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proporcionado, p. 262 del libro (p. 20 del PDF). Ubicación en esta guía: § 9.6. Imagen original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recortada, no redibujada.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249 / 380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9.6. Regulación de PDH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188722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03__0__333"/>
          <p:cNvSpPr txBox="1"/>
          <p:nvPr/>
        </p:nvSpPr>
        <p:spPr>
          <a:xfrm>
            <a:off x="800100" y="1701800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Qué enseña la figura 11-11.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 fosforilación de E1 por la PDH quinasa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favorece su inactividad; la desfosforilación por la PDH fosfatasa la activa.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Concentraciones altas de NADH y acetil-CoA indican disponibilidad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productos y favorecen el freno del sistema. Piruvato y ADP pueden frenar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 quinasa, facilitando la actividad de PDH.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627120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627120"/>
            <a:ext cx="50800" cy="188722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304__0__349"/>
          <p:cNvSpPr txBox="1"/>
          <p:nvPr/>
        </p:nvSpPr>
        <p:spPr>
          <a:xfrm>
            <a:off x="800100" y="3741420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Ca²⁺ puede favorecer la fosfatasa, especialmente en músculo, conectando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 contracción con la oxidación de combustibles. La insulina estimula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actividad del complejo en determinados contextos tisulares. Estos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controles no son una simple regla «fosforilada = activa» para todas las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enzimas: en PDH, fosforilación significa disminución de actividad.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250 / 380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9.6. Regulación de PDH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29__1"/>
          <p:cNvGraphicFramePr>
            <a:graphicFrameLocks noGrp="1"/>
          </p:cNvGraphicFramePr>
          <p:nvPr/>
        </p:nvGraphicFramePr>
        <p:xfrm>
          <a:off x="584200" y="1587500"/>
          <a:ext cx="11023600" cy="375919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Destino del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piruvato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Coenzima principal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Carbono, energía y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finalidad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Lactato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NADH → NAD⁺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Conserva 3 C; sostiene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reciclaje redox sin ATP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adicional.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Etanol, en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microorganismos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TPP; NADH → NAD⁺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2 C en etanol + 1 C como CO₂;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no ATP extra después 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glucólisis.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Acetil-CoA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TPP, lipoamida, CoA, FAD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y NAD⁺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2 C en acetilo + CO₂; produce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NADH y conecta con oxidación.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251 / 380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9.6. Regulación de PDH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29__2"/>
          <p:cNvGraphicFramePr>
            <a:graphicFrameLocks noGrp="1"/>
          </p:cNvGraphicFramePr>
          <p:nvPr/>
        </p:nvGraphicFramePr>
        <p:xfrm>
          <a:off x="584200" y="1587500"/>
          <a:ext cx="11023600" cy="267461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Destino del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piruvato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Coenzima principal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Carbono, energía y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finalidad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Oxaloacetato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Biotina; ATP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Añade temporalmente 1 C;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sirve a gluconeogénesis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reposición del ciclo de Krebs.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Alanina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PLP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Conserva 3 C y transfiere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nitrógeno por transaminación.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252 / 380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3358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381000"/>
            <a:ext cx="11023600" cy="330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99DEDF"/>
                </a:solidFill>
                <a:latin typeface="Arial"/>
              </a:rPr>
              <a:t>CAPÍTULO 11 · SECCIÓN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016000"/>
            <a:ext cx="2413000" cy="1270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defRPr sz="8000">
                <a:latin typeface="Arial"/>
              </a:defRPr>
            </a:pPr>
            <a:r>
              <a:rPr sz="8000" b="1" lang="es-MX">
                <a:solidFill>
                  <a:srgbClr val="37D3C6"/>
                </a:solidFill>
                <a:latin typeface="Arial"/>
              </a:rPr>
              <a:t>10</a:t>
            </a:r>
          </a:p>
        </p:txBody>
      </p:sp>
      <p:sp>
        <p:nvSpPr>
          <p:cNvPr id="7" name="FUENTE__P0305__0__32"/>
          <p:cNvSpPr txBox="1"/>
          <p:nvPr/>
        </p:nvSpPr>
        <p:spPr>
          <a:xfrm>
            <a:off x="584200" y="2730500"/>
            <a:ext cx="11023600" cy="58826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31"/>
              </a:lnSpc>
              <a:spcBef>
                <a:spcPts val="0"/>
              </a:spcBef>
              <a:spcAft>
                <a:spcPts val="0"/>
              </a:spcAft>
              <a:defRPr sz="3800">
                <a:latin typeface="Arial"/>
              </a:defRPr>
            </a:pPr>
            <a:r>
              <a:rPr sz="3800" b="1" lang="es-MX">
                <a:solidFill>
                  <a:srgbClr val="FFFFFF"/>
                </a:solidFill>
                <a:latin typeface="Arial"/>
              </a:rPr>
              <a:t>10. Ruta de las pentosas fosfato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5461000"/>
            <a:ext cx="110236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>
                <a:latin typeface="Arial"/>
              </a:defRPr>
            </a:pPr>
            <a:r>
              <a:rPr sz="2000" b="0" lang="es-MX">
                <a:solidFill>
                  <a:srgbClr val="D1E6ED"/>
                </a:solidFill>
                <a:latin typeface="Arial"/>
              </a:rPr>
              <a:t>Contenido íntegro · lectura didáctica · cuadros y estructuras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253 / 380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306__0__52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10.1. Para qué sirve y por qué no es otra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glucólisis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07__0__326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ruta de las pentosas fosfato parte de G6P y ocurre en el citosol. Tiene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dos objetivos centrales: producir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NADPH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para biosíntesis reductoras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defensa antioxidante, y aportar azúcares, en particular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ribosa-5-fosfato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para nucleótidos. No produce ATP directamente y no debe sumarse su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NADPH como si fuera el NADH glucolítico.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254 / 380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10.1. Para qué sirve y por qué no es otra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glucólisis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08__0__391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NAD⁺ y NADP⁺ son moléculas similares, pero NADP⁺ contiene un fosfato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adicional que permite el reconocimiento por enzimas distintas. El NADH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se asocia habitualmente con obtención de energía oxidativa; el NADPH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sostiene, entre otras funciones, síntesis de ácidos grasos y colesterol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regeneración de sistemas antioxidantes. Esta especialización ayuda 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mantener circuitos redox diferenciados.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4244848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4244848"/>
            <a:ext cx="50800" cy="1563116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309__0__272"/>
          <p:cNvSpPr txBox="1"/>
          <p:nvPr/>
        </p:nvSpPr>
        <p:spPr>
          <a:xfrm>
            <a:off x="800100" y="4359148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El capítulo divide la ruta en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fase oxidativa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 que forma NADPH, y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fase no</a:t>
            </a:r>
            <a:br/>
            <a:r>
              <a:rPr sz="2200" b="1" lang="es-MX">
                <a:solidFill>
                  <a:srgbClr val="243C4C"/>
                </a:solidFill>
                <a:latin typeface="Arial"/>
              </a:rPr>
              <a:t>oxidativa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 que reorganiza azúcares. La fase oxidativa es esencialmente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irreversible; la no oxidativa incluye reacciones reversibles y permite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adaptar el flujo a la demanda de ribosa y poder reductor.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255 / 380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310__0__67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10.2. Imagen del libro: fase oxidativa y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reorganización de azúcares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241548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MAGEN_FUENTE__I23" descr="Fases oxidativa y no oxidativa de las pentosas fosfa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021" y="1957324"/>
            <a:ext cx="2239957" cy="3089148"/>
          </a:xfrm>
          <a:prstGeom prst="rect">
            <a:avLst/>
          </a:prstGeom>
        </p:spPr>
      </p:pic>
      <p:sp>
        <p:nvSpPr>
          <p:cNvPr id="11" name="FUENTE__P0311__0__209"/>
          <p:cNvSpPr txBox="1"/>
          <p:nvPr/>
        </p:nvSpPr>
        <p:spPr>
          <a:xfrm>
            <a:off x="660400" y="5236972"/>
            <a:ext cx="10871200" cy="8336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536A78"/>
                </a:solidFill>
                <a:latin typeface="Arial"/>
              </a:rPr>
              <a:t>Figura 11-12. Fases oxidativa y no oxidativa de las pentosas fosfato.</a:t>
            </a:r>
            <a:r>
              <a:rPr sz="1800" b="0" lang="es-MX">
                <a:solidFill>
                  <a:srgbClr val="536A78"/>
                </a:solidFill>
                <a:latin typeface="Arial"/>
              </a:rPr>
              <a:t> Fuente: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capítulo proporcionado, p. 263 del libro (p. 21 del PDF). Ubicación en esta guía: § 10.2.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Imagen original recortada, no redibujada.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256 / 380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11-12 · Vista ampliada: Panel a: fase oxidativa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3774948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nel a: fase oxidativ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068" y="1676400"/>
            <a:ext cx="8703863" cy="35971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257 / 380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11-12 · Vista ampliada: Panel b: pentosas e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intercambio de carbono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481324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nel b: pentosas e intercambio de carbo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198" y="1970024"/>
            <a:ext cx="6143603" cy="33035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258 / 380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11-12 · Vista ampliada: Panel b: conexión con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F6P y GAP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481324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nel b: conexión con F6P y G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595" y="1970024"/>
            <a:ext cx="6840808" cy="33035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259 / 380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10.2. Imagen del libro: fase oxidativa y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reorganización de azúcares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239011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12__0__213"/>
          <p:cNvSpPr txBox="1"/>
          <p:nvPr/>
        </p:nvSpPr>
        <p:spPr>
          <a:xfrm>
            <a:off x="800100" y="1995424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Panel a.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Siga G6P → 6-fosfogluconolactona → 6-fosfogluconato → ribulosa-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5-P. Dos reacciones reducen NADP⁺ y la última libera CO₂. Observe que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primer producto pentosa es ribulosa-5-P, no ribosa-5-P directamente.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272536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272536"/>
            <a:ext cx="50800" cy="188722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313__0__305"/>
          <p:cNvSpPr txBox="1"/>
          <p:nvPr/>
        </p:nvSpPr>
        <p:spPr>
          <a:xfrm>
            <a:off x="800100" y="3386836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Panel b.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Las pentosas se transforman por isomerasas y epimerasas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luego intercambian fragmentos de carbono. Las transcetolasas transfieren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unidades de dos carbonos; la transaldolasa, unidades de tres. El resultado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conecta pentosas con F6P y GAP, intermediarios que pueden entrar o salir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 la glucólisis.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260 / 380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314__0__37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10.3. Fase oxidativa: tres reacciones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30__1"/>
          <p:cNvGraphicFramePr>
            <a:graphicFrameLocks noGrp="1"/>
          </p:cNvGraphicFramePr>
          <p:nvPr/>
        </p:nvGraphicFramePr>
        <p:xfrm>
          <a:off x="584200" y="1587500"/>
          <a:ext cx="11023599" cy="346963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27552"/>
                <a:gridCol w="3527552"/>
                <a:gridCol w="3968495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Paso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Enzima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Resultado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G6P → 6-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fosfogluconolactona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Glucosa-6-fosfato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deshidrogenasa, G6PD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Oxida el sustrato y produce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el primer NADPH. Es el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punto principal de control.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Lactona → 6-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fosfogluconato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6-fosfogluconolactonasa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Hidroliza la lactona con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agua; no produce ATP.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6-fosfogluconato →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ribulosa-5-P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6-fosfogluconato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deshidrogenasa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Descarboxilación oxidativa: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produce el segundo NADPH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y CO₂.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261 / 380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10.3. Fase oxidativa: tres reacciones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590804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15__0__57"/>
          <p:cNvSpPr txBox="1"/>
          <p:nvPr/>
        </p:nvSpPr>
        <p:spPr>
          <a:xfrm>
            <a:off x="800100" y="1995424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G6P + 2 NADP⁺ + H₂O → ribulosa-5-P + CO₂ + 2 NADPH + 2 H⁺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2624328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2624328"/>
            <a:ext cx="50800" cy="1563116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316__0__258"/>
          <p:cNvSpPr txBox="1"/>
          <p:nvPr/>
        </p:nvSpPr>
        <p:spPr>
          <a:xfrm>
            <a:off x="800100" y="2738628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pérdida de un carbono explica que una hexosa de seis carbonos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origine una pentosa de cinco. Los dos NADPH se forman en reacciones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diferentes; no son dos moléculas producidas en un único paso.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lactonasa conecta ambas oxidaciones mediante una hidrólisis.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262 / 380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317__0__68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10.4. Fase no oxidativa: transferir carbono sin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producir NADPH nuevo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18__0__232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ribulosa-5-P puede convertirse en ribosa-5-P por una isomerasa o 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xilulosa-5-P por una epimerasa. Luego se desarrollan las transferencias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carbono que muestran cómo se conservan las sumas de carbonos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sustratos y productos.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263 / 380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10.4. Fase no oxidativa: transferir carbono sin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producir NADPH nuevo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31__1"/>
          <p:cNvGraphicFramePr>
            <a:graphicFrameLocks noGrp="1"/>
          </p:cNvGraphicFramePr>
          <p:nvPr/>
        </p:nvGraphicFramePr>
        <p:xfrm>
          <a:off x="584200" y="1881124"/>
          <a:ext cx="11023600" cy="325373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Reacción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representativa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Enzima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Contabilidad del carbono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Xilulosa-5-P +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ribosa-5-P ⇌ GAP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+ sedoheptulosa-7-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Transcetolasa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5 + 5 = 3 + 7; transfiere 2 C.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Sedoheptulosa-7-P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+ GAP ⇌ F6P +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eritrosa-4-P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Transaldolasa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7 + 3 = 6 + 4; transfiere 3 C.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264 / 380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10.4. Fase no oxidativa: transferir carbono sin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producir NADPH nuevo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31__2"/>
          <p:cNvGraphicFramePr>
            <a:graphicFrameLocks noGrp="1"/>
          </p:cNvGraphicFramePr>
          <p:nvPr/>
        </p:nvGraphicFramePr>
        <p:xfrm>
          <a:off x="584200" y="1881124"/>
          <a:ext cx="11023600" cy="187959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Reacción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representativa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Enzima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Contabilidad del carbono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Xilulosa-5-P +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eritrosa-4-P ⇌ F6P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+ GAP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Transcetolasa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5 + 4 = 6 + 3; transfiere 2 C.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265 / 380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10.4. Fase no oxidativa: transferir carbono sin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producir NADPH nuevo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19__0__372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transcetolasa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utiliza TPP, vitamina B1, y un catión divalente para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estabilizar y transferir el fragmento carbonado. La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transaldolasa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clásica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utiliza una base de Schiff con lisina del sitio activo; no requiere TPP para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realizar la transferencia de tres carbonos. Es la longitud del fragmento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transferido, no el nombre del azúcar aislado, lo que diferencia ambas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enzimas.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4244848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4244848"/>
            <a:ext cx="50800" cy="590804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320__0__43"/>
          <p:cNvSpPr txBox="1"/>
          <p:nvPr/>
        </p:nvSpPr>
        <p:spPr>
          <a:xfrm>
            <a:off x="800100" y="4359148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3 pentosas de 5 C ⇌ 2 fructosas-6-P + 1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266 / 380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10.4. Fase no oxidativa: transferir carbono sin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producir NADPH nuevo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21__0__349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Como las reacciones son reversibles, una célula que necesita mucha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ribosa y relativamente poco NADPH puede formarla desde intermediarios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glucolíticos. Si necesita sobre todo NADPH, puede reciclar los productos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carbonados mediante otras reacciones. Esta flexibilidad explica por qué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no todas las células utilizan las dos fases en la misma proporción.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92074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920744"/>
            <a:ext cx="50800" cy="1563116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322__0__249"/>
          <p:cNvSpPr txBox="1"/>
          <p:nvPr/>
        </p:nvSpPr>
        <p:spPr>
          <a:xfrm>
            <a:off x="800100" y="403504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El capítulo menciona eritrosa-4-P para síntesis de aminoácidos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aromáticos.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Precisión de organismo: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esa función pertenece a plantas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microorganismos con esas rutas; los humanos no sintetizan de novo los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aminoácidos aromáticos esenciales por esa vía.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267 / 380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323__0__50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10.5. Regulación y defensa frente a daño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oxidativo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24__0__322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actividad de G6PD responde a la disponibilidad de G6P y,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especialmente, al balance NADP⁺/NADPH. Cuando se consume NADPH,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aumenta NADP⁺ disponible y se favorece el flujo oxidativo. NADPH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abundante reduce la necesidad de seguir produciéndolo. También existen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controles de expresión relacionados con el estado nutricional.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92074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920744"/>
            <a:ext cx="50800" cy="188722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325__0__310"/>
          <p:cNvSpPr txBox="1"/>
          <p:nvPr/>
        </p:nvSpPr>
        <p:spPr>
          <a:xfrm>
            <a:off x="800100" y="403504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El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glutatión reducido, GSH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 ayuda a eliminar oxidantes. Al hacerlo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puede convertirse en GSSG; la glutatión reductasa utiliza NADPH para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regenerar GSH. Por tanto, NADPH sostiene la defensa antioxidante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manera funcional, no porque sea simplemente una molécula que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neutraliza todo radical por contacto directo.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268 / 380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10.5. Regulación y defensa frente a daño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oxidativo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590804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26__0__33"/>
          <p:cNvSpPr txBox="1"/>
          <p:nvPr/>
        </p:nvSpPr>
        <p:spPr>
          <a:xfrm>
            <a:off x="800100" y="1995424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GSSG + NADPH + H⁺ → 2 GSH + NADP⁺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2624328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2624328"/>
            <a:ext cx="50800" cy="188722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327__0__323"/>
          <p:cNvSpPr txBox="1"/>
          <p:nvPr/>
        </p:nvSpPr>
        <p:spPr>
          <a:xfrm>
            <a:off x="800100" y="2738628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El capítulo describe GSSG como señal de activación de la ruta. Para un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aprendizaje preciso, interprete que el estrés oxidativo aumenta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necesidad de regenerar glutatión y consume NADPH, elevando NADP⁺. No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es necesario atribuir a GSSG una activación alostérica directa universal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G6PD para explicar el aumento del flujo.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269 / 380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328__0__60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10.6. Recuadro 11-6: deficiencia de G6PD y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anemia hemolítica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29__0__300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Los eritrocitos maduros dependen de esta ruta para obtener NADPH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mantener sistemas antioxidantes. Si disminuye la actividad de G6PD,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daño oxidativo puede afectar hemoglobina y membrana y favorecer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hemólisis. Así se conecta una ruta que no produce ATP con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supervivencia de la célula sanguínea.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270 / 380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10.6. Recuadro 11-6: deficiencia de G6PD y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anemia hemolítica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30__0__364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El capítulo también vincula algunas variantes de G6PD con menor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susceptibilidad a malaria. Es una relación de genética de poblaciones que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depende de la variante y del contexto: no significa protección absoluta ni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convierte la deficiencia en beneficiosa para todas las personas. No debe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explicarse diciendo simplemente que el parásito «no entra por falta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NADPH».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271 / 380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6D4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331__0__61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Cuadro sinóptico editable: elegir entre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glucólisis y pentosas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32__1"/>
          <p:cNvGraphicFramePr>
            <a:graphicFrameLocks noGrp="1"/>
          </p:cNvGraphicFramePr>
          <p:nvPr/>
        </p:nvGraphicFramePr>
        <p:xfrm>
          <a:off x="584200" y="1881124"/>
          <a:ext cx="11023600" cy="419099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27552"/>
                <a:gridCol w="7496048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Cuadro sinóptico: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necesidad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Ruta y producto apropiado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ATP rápido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Glucólisis → ATP a nivel de sustrato.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Equivalentes para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oxidación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mitocondrial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Glucólisis / PDH → NADH.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Síntesis reductoras y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glutatión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Pentosas oxidativas → NADPH.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Nucleótidos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Pentosas → ribosa-5-P.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Reorganizar azúcares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Pentosas no oxidativas ↔ F6P y GAP.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272 / 380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3358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381000"/>
            <a:ext cx="11023600" cy="330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99DEDF"/>
                </a:solidFill>
                <a:latin typeface="Arial"/>
              </a:rPr>
              <a:t>CAPÍTULO 11 · SECCIÓN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016000"/>
            <a:ext cx="2413000" cy="1270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defRPr sz="8000">
                <a:latin typeface="Arial"/>
              </a:defRPr>
            </a:pPr>
            <a:r>
              <a:rPr sz="8000" b="1" lang="es-MX">
                <a:solidFill>
                  <a:srgbClr val="37D3C6"/>
                </a:solidFill>
                <a:latin typeface="Arial"/>
              </a:rPr>
              <a:t>11</a:t>
            </a:r>
          </a:p>
        </p:txBody>
      </p:sp>
      <p:sp>
        <p:nvSpPr>
          <p:cNvPr id="7" name="FUENTE__P0332__0__29"/>
          <p:cNvSpPr txBox="1"/>
          <p:nvPr/>
        </p:nvSpPr>
        <p:spPr>
          <a:xfrm>
            <a:off x="584200" y="2730500"/>
            <a:ext cx="11023600" cy="58826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31"/>
              </a:lnSpc>
              <a:spcBef>
                <a:spcPts val="0"/>
              </a:spcBef>
              <a:spcAft>
                <a:spcPts val="0"/>
              </a:spcAft>
              <a:defRPr sz="3800">
                <a:latin typeface="Arial"/>
              </a:defRPr>
            </a:pPr>
            <a:r>
              <a:rPr sz="3800" b="1" lang="es-MX">
                <a:solidFill>
                  <a:srgbClr val="FFFFFF"/>
                </a:solidFill>
                <a:latin typeface="Arial"/>
              </a:rPr>
              <a:t>11. Metabolismo del glucógeno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5461000"/>
            <a:ext cx="110236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>
                <a:latin typeface="Arial"/>
              </a:defRPr>
            </a:pPr>
            <a:r>
              <a:rPr sz="2000" b="0" lang="es-MX">
                <a:solidFill>
                  <a:srgbClr val="D1E6ED"/>
                </a:solidFill>
                <a:latin typeface="Arial"/>
              </a:rPr>
              <a:t>Contenido íntegro · lectura didáctica · cuadros y estructuras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273 / 380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333__0__59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11.1. Estructura y funciones diferentes en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hígado y músculo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34__0__412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El glucógeno es un polisacárido ramificado de glucosa. Las cadenas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poseen enlaces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α(1→4)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y las ramificaciones se forman mediante enlaces</a:t>
            </a:r>
            <a:br/>
            <a:r>
              <a:rPr sz="2200" b="1" lang="es-MX">
                <a:solidFill>
                  <a:srgbClr val="243C4C"/>
                </a:solidFill>
                <a:latin typeface="Arial"/>
              </a:rPr>
              <a:t>α(1→6)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. La ramificación aumenta la cantidad de extremos no reductores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desde los que pueden trabajar las enzimas y facilita la movilización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rápida. No se almacena como una solución de miles de glucosas libres: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organización polimérica limita la carga osmótica de la reserva.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274 / 380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11.1. Estructura y funciones diferentes en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hígado y músculo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35__0__376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El hígado utiliza glucógeno para ayudar a mantener la glucosa sanguínea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entre comidas. El músculo esquelético lo utiliza principalmente para sus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propias necesidades energéticas, especialmente durante actividad.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diferencia depende, entre otros factores, de la capacidad hepática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convertir G6P en glucosa libre; el músculo dirige G6P sobre todo hacia su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metabolismo local.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275 / 380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11.1. Estructura y funciones diferentes en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hígado y músculo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36__0__290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Precisión de cantidad: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el hígado puede tener una concentración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elevada de glucógeno, pero la masa muscular total es grande y puede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contener una reserva total mayor. No deben confundirse concentración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por tejido, capacidad de captación de glucosa y cantidad total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almacenada en el organismo.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276 / 380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11.1. Estructura y funciones diferentes en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hígado y músculo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33__1"/>
          <p:cNvGraphicFramePr>
            <a:graphicFrameLocks noGrp="1"/>
          </p:cNvGraphicFramePr>
          <p:nvPr/>
        </p:nvGraphicFramePr>
        <p:xfrm>
          <a:off x="584200" y="1881124"/>
          <a:ext cx="11023600" cy="375919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Característica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Glucógeno hepático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Glucógeno muscular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Objetivo principal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Sostener glucosa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circulante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Proporcionar combustible al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propio músculo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Destino de G6P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Puede desfosforilarse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liberar glucosa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Se incorpora principalmente 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glucólisis y otras necesidades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locales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Glucosa-6-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fosfatasa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funcional para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exportación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No en grado suficiente para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esa función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277 / 380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11.1. Estructura y funciones diferentes en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hígado y músculo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33__2"/>
          <p:cNvGraphicFramePr>
            <a:graphicFrameLocks noGrp="1"/>
          </p:cNvGraphicFramePr>
          <p:nvPr/>
        </p:nvGraphicFramePr>
        <p:xfrm>
          <a:off x="584200" y="1881124"/>
          <a:ext cx="11023600" cy="318007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Característica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Glucógeno hepático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Glucógeno muscular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Hormonas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importantes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Insulina, glucagón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adrenalina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Insulina y adrenalina; no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respuesta directa clásica 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glucagón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Señales locales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Estado nutricional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disponibilidad de glucosa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Contracción, Ca²⁺ y carga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energética, entre otras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Utilidad durante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ayuno o ejercicio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Ayuda al resto de tejidos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durante ayuno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Facilita el trabajo muscular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durante ejercicio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278 / 380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337__0__64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11.2. Síntesis de glucógeno: activar la glucosa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como UDP-glucosa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38__0__322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síntesis se denomina glucogenogénesis o glucogénesis. Comienza con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G6P, que se transforma en G1P por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fosfoglucomutasa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. La enzima utiliza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Mg²⁺ y un ciclo de fosforilación que incluye glucosa-1,6-bisfosfato como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intermediario/compuesto de cebado. No debe confundirse con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fosfoglicerato mutasa del paso 8 de glucólisis.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92074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920744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339__0__291"/>
          <p:cNvSpPr txBox="1"/>
          <p:nvPr/>
        </p:nvSpPr>
        <p:spPr>
          <a:xfrm>
            <a:off x="800100" y="403504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Después, la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UDP-glucosa pirofosforilasa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combina G1P con UTP para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formar UDP-glucosa y PPi. La hidrólisis de PPi a dos Pi por una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pirofosfatasa favorece el avance. UDP-glucosa es un azúcar activado: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permite que una glucosiltransferasa incorpore glucosa a una cadena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preexistente y libere UDP.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279 / 380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11.2. Síntesis de glucógeno: activar la glucosa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como UDP-glucosa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40__0__9"/>
          <p:cNvSpPr txBox="1"/>
          <p:nvPr/>
        </p:nvSpPr>
        <p:spPr>
          <a:xfrm>
            <a:off x="800100" y="1995424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G6P ⇌ G1P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2624328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2624328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341__0__29"/>
          <p:cNvSpPr txBox="1"/>
          <p:nvPr/>
        </p:nvSpPr>
        <p:spPr>
          <a:xfrm>
            <a:off x="800100" y="2738628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G1P + UTP → UDP-glucosa + PPi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4200" y="3367531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4200" y="3367531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UENTE__P0342__0__16"/>
          <p:cNvSpPr txBox="1"/>
          <p:nvPr/>
        </p:nvSpPr>
        <p:spPr>
          <a:xfrm>
            <a:off x="800100" y="3481831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PPi + H₂O → 2 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280 / 380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11.2. Síntesis de glucógeno: activar la glucosa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como UDP-glucosa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241548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MAGEN_FUENTE__I24" descr="Activación de la glucosa como UDP-glucos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867" y="1957324"/>
            <a:ext cx="2652264" cy="3089148"/>
          </a:xfrm>
          <a:prstGeom prst="rect">
            <a:avLst/>
          </a:prstGeom>
        </p:spPr>
      </p:pic>
      <p:sp>
        <p:nvSpPr>
          <p:cNvPr id="11" name="FUENTE__P0343__0__196"/>
          <p:cNvSpPr txBox="1"/>
          <p:nvPr/>
        </p:nvSpPr>
        <p:spPr>
          <a:xfrm>
            <a:off x="660400" y="5236972"/>
            <a:ext cx="10871200" cy="8336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536A78"/>
                </a:solidFill>
                <a:latin typeface="Arial"/>
              </a:rPr>
              <a:t>Figura 11-13. Activación de la glucosa como UDP-glucosa.</a:t>
            </a:r>
            <a:r>
              <a:rPr sz="1800" b="0" lang="es-MX">
                <a:solidFill>
                  <a:srgbClr val="536A78"/>
                </a:solidFill>
                <a:latin typeface="Arial"/>
              </a:rPr>
              <a:t> Fuente: capítulo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proporcionado, p. 266 del libro (p. 24 del PDF). Ubicación en esta guía: § 11.2. Imagen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original recortada, no redibujada.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281 / 380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11-13 · Vista ampliada: Glucosa-6-fosfato y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glucosa-1-fosfato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481324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lucosa-6-fosfato y glucosa-1-fosfa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993" y="1970024"/>
            <a:ext cx="6756013" cy="33035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282 / 380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11-13 · Vista ampliada: Formación de UDP-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glucosa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481324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ormación de UDP-glucos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275" y="1970024"/>
            <a:ext cx="4725448" cy="33035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283 / 380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11.2. Síntesis de glucógeno: activar la glucosa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como UDP-glucosa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44__0__277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Lectura de la figura 11-13.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En la parte superior, compare el sitio del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fosfato: C6 en G6P y C1 en G1P. El esqueleto de seis carbonos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conserva. En el paso siguiente aparece UTP, y el producto final contiene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una unidad de glucosa asociada a UDP; también se libera pirofosfato.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596640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596640"/>
            <a:ext cx="50800" cy="1563116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345__0__271"/>
          <p:cNvSpPr txBox="1"/>
          <p:nvPr/>
        </p:nvSpPr>
        <p:spPr>
          <a:xfrm>
            <a:off x="800100" y="3710940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Mensaje importante: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UTP se consume en la activación. Al añadir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glucosa al glucógeno, se libera UDP, no se hidroliza simplemente «UDP»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para que aparezca por sí solo un enlace glucosídico. La activación del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azúcar y la hidrólisis de PPi explican el acoplamiento energético.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284 / 380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11.2. Síntesis de glucógeno: activar la glucosa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como UDP-glucosa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46__0__394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regeneración de UTP desde UDP suele utilizar ATP mediante una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nucleósido-difosfato quinasa. Por ello, añadir una unidad procedente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G6P supone aproximadamente un equivalente de ATP para activar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azúcar. Si se parte de glucosa libre, hay que añadir el ATP de su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fosforilación inicial. Esta contabilidad no debe mezclarse con los dos ATP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netos obtenidos al degradar glucosa por glucólisis.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285 / 380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347__0__34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11.3. Iniciar, alargar y ramificar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48__0__298"/>
          <p:cNvSpPr txBox="1"/>
          <p:nvPr/>
        </p:nvSpPr>
        <p:spPr>
          <a:xfrm>
            <a:off x="800100" y="1701800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glucogenina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 descrita en el recuadro 11-7, sirve como cebador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clásico. Se autoglucosila en un residuo de tirosina utilizando UDP-glucosa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y forma una pequeña cadena de inicio. La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glucógeno sintasa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puede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entonces añadir unidades desde UDP-glucosa a extremos no reductores,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formando enlaces α(1→4).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627120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627120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349__0__282"/>
          <p:cNvSpPr txBox="1"/>
          <p:nvPr/>
        </p:nvSpPr>
        <p:spPr>
          <a:xfrm>
            <a:off x="800100" y="3741420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enzima ramificante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 una glucosiltransferasa, transfiere un segmento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 una cadena a un grupo hidroxilo C6 de otra posición y crea un enlace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α(1→6). No incorpora un nuevo fosfato ni consume UTP en cada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ramificación por separado. El carbono que mueve ya formaba parte de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cadena.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286 / 380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11.3. Iniciar, alargar y ramificar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3535172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MAGEN_FUENTE__I25" descr="Mecanismo de la enzima ramifican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208" y="1663700"/>
            <a:ext cx="6079582" cy="3382772"/>
          </a:xfrm>
          <a:prstGeom prst="rect">
            <a:avLst/>
          </a:prstGeom>
        </p:spPr>
      </p:pic>
      <p:sp>
        <p:nvSpPr>
          <p:cNvPr id="11" name="FUENTE__P0350__0__189"/>
          <p:cNvSpPr txBox="1"/>
          <p:nvPr/>
        </p:nvSpPr>
        <p:spPr>
          <a:xfrm>
            <a:off x="660400" y="5236972"/>
            <a:ext cx="10871200" cy="8336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536A78"/>
                </a:solidFill>
                <a:latin typeface="Arial"/>
              </a:rPr>
              <a:t>Figura 11-14. Mecanismo de la enzima ramificante.</a:t>
            </a:r>
            <a:r>
              <a:rPr sz="1800" b="0" lang="es-MX">
                <a:solidFill>
                  <a:srgbClr val="536A78"/>
                </a:solidFill>
                <a:latin typeface="Arial"/>
              </a:rPr>
              <a:t> Fuente: capítulo proporcionado, p.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267 del libro (p. 25 del PDF). Ubicación en esta guía: § 11.3. Imagen original recortada, no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redibujada.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287 / 380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11.3. Iniciar, alargar y ramificar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51__0__338"/>
          <p:cNvSpPr txBox="1"/>
          <p:nvPr/>
        </p:nvSpPr>
        <p:spPr>
          <a:xfrm>
            <a:off x="800100" y="1701800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Cómo interpretar la figura 11-14.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El fragmento resaltado pasa desde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una cadena lineal a una nueva posición. El enlace destacado en verde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corresponde a la nueva unión α(1→6). La cantidad total de unidades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glucosa del fragmento representado no aumenta por esta transferencia: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cambia su distribución y la cantidad de extremos disponibles.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627120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627120"/>
            <a:ext cx="50800" cy="1563116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352__0__252"/>
          <p:cNvSpPr txBox="1"/>
          <p:nvPr/>
        </p:nvSpPr>
        <p:spPr>
          <a:xfrm>
            <a:off x="800100" y="3741420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Utilidad fisiológica: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más extremos no reductores permiten elongación 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movilización simultánea por varias moléculas enzimáticas. Una estructura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ramificada es, por tanto, una reserva más accesible para respuestas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rápidas que una cadena lineal muy larga.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288 / 380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353__0__46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Cuadro sinóptico editable: construir glucógeno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34__1"/>
          <p:cNvGraphicFramePr>
            <a:graphicFrameLocks noGrp="1"/>
          </p:cNvGraphicFramePr>
          <p:nvPr/>
        </p:nvGraphicFramePr>
        <p:xfrm>
          <a:off x="584200" y="1587500"/>
          <a:ext cx="11023600" cy="440689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27552"/>
                <a:gridCol w="7496048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Cuadro sinóptico: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etapa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Enzima o componente y trabajo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Preparar precursor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G6P ⇌ G1P, por fosfoglucomutasa.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Activar azúcar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G1P + UTP → UDP-glucosa + PPi.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Favorecer avance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Pirofosfatasa: PPi → 2 Pi.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Comenzar cadena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Glucogenina: cebador glucosilado sobre tirosina.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Alargar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Glucógeno sintasa: enlaces α(1→4), con liberación 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UDP.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Ramificar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Enzima ramificante: transfiere un segmento y forma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α(1→6).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289 / 380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354__0__58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11.4. Glucogenólisis: liberar unidades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conservando fosfato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55__0__289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glucógeno fosforilasa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retira glucosas desde los extremos no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reductores mediante fosforólisis de enlaces α(1→4). Utiliza Pi y libera G1P.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Su cofactor orgánico es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PLP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, derivado de vitamina B6; en esta enzima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participa en catálisis de la fosforólisis, no en una transaminación como 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ALT.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920744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920744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356__0__48"/>
          <p:cNvSpPr txBox="1"/>
          <p:nvPr/>
        </p:nvSpPr>
        <p:spPr>
          <a:xfrm>
            <a:off x="800100" y="4035044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Glucógeno(n) + Pi → glucógeno(n−1) + glucosa-1-P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290 / 380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11.4. Glucogenólisis: liberar unidades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conservando fosfato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57__0__384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fosforilasa se detiene cerca de una ramificación, cuando quedan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aproximadamente cuatro residuos antes del enlace α(1→6). La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enzima</a:t>
            </a:r>
            <a:br/>
            <a:r>
              <a:rPr sz="2200" b="1" lang="es-MX">
                <a:solidFill>
                  <a:srgbClr val="243C4C"/>
                </a:solidFill>
                <a:latin typeface="Arial"/>
              </a:rPr>
              <a:t>desramificante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posee dos actividades: una transferasa mueve un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bloque de tres residuos hacia otra cadena y una α(1→6)-glucosidasa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hidroliza la glucosa que queda en el punto de ramificación. Esa última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unidad se libera como glucosa libre, no como G1P.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291 / 380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11.4. Glucogenólisis: liberar unidades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conservando fosfato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241548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MAGEN_FUENTE__I26" descr="Mecanismo de la enzima desramifican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693" y="1957324"/>
            <a:ext cx="5772612" cy="3089147"/>
          </a:xfrm>
          <a:prstGeom prst="rect">
            <a:avLst/>
          </a:prstGeom>
        </p:spPr>
      </p:pic>
      <p:sp>
        <p:nvSpPr>
          <p:cNvPr id="11" name="FUENTE__P0358__0__192"/>
          <p:cNvSpPr txBox="1"/>
          <p:nvPr/>
        </p:nvSpPr>
        <p:spPr>
          <a:xfrm>
            <a:off x="660400" y="5236972"/>
            <a:ext cx="10871200" cy="8336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536A78"/>
                </a:solidFill>
                <a:latin typeface="Arial"/>
              </a:rPr>
              <a:t>Figura 11-15. Mecanismo de la enzima desramificante.</a:t>
            </a:r>
            <a:r>
              <a:rPr sz="1800" b="0" lang="es-MX">
                <a:solidFill>
                  <a:srgbClr val="536A78"/>
                </a:solidFill>
                <a:latin typeface="Arial"/>
              </a:rPr>
              <a:t> Fuente: capítulo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proporcionado, p. 267 del libro (p. 25 del PDF). Ubicación en esta guía: § 11.4. Imagen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original recortada, no redibujada.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292 / 380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11.4. Glucogenólisis: liberar unidades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conservando fosfato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59__0__348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Lectura de la figura 11-15.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Primero observe la transferencia del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pequeño segmento de cadena: se conserva el enlace lineal en el nuevo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destino. Después queda una única glucosa unida por α(1→6), destacada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 verde. La glucosidasa rompe esa unión y elimina el punto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ramificación. La fosforilasa puede continuar sobre los segmentos ahora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accesibles.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4244848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4244848"/>
            <a:ext cx="50800" cy="1563116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360__0__253"/>
          <p:cNvSpPr txBox="1"/>
          <p:nvPr/>
        </p:nvSpPr>
        <p:spPr>
          <a:xfrm>
            <a:off x="800100" y="4359148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Qué debe recordar: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 mayor parte del glucógeno se moviliza como G1P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mediante Pi, pero las glucosas de los puntos de ramificación salen por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hidrólisis como glucosa libre. «Toda glucogenólisis produce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exclusivamente G1P» es una simplificación incorrecta.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293 / 380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11.4. Glucogenólisis: liberar unidades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conservando fosfato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61__0__278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G1P se convierte en G6P por fosfoglucomutasa. En el músculo, G6P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incorpora a glucólisis. En el hígado, también puede convertirse en glucosa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libre por el sistema glucosa-6-fosfatasa y salir a la sangre. La misma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reserva tiene, por tanto, destinos distintos según el tejido.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294 / 380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362__0__43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11.5. Comparación de síntesis y degradación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35__1"/>
          <p:cNvGraphicFramePr>
            <a:graphicFrameLocks noGrp="1"/>
          </p:cNvGraphicFramePr>
          <p:nvPr/>
        </p:nvGraphicFramePr>
        <p:xfrm>
          <a:off x="584200" y="1587500"/>
          <a:ext cx="11023600" cy="44805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Aspecto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Glucogenogénesis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Glucogenólisis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Función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Almacenar glucosa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Movilizar glucosa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Donador o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reactivo principal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UDP-glucosa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Pi en la reacción de fosforilasa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Enzima de cadena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lineal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Glucógeno sintasa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Glucógeno fosforilasa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Ramificaciones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Enzima ramificante crea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α(1→6)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Desramificante resuelve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α(1→6)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Producto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inmediato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relevante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Glucógeno alargado +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UDP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Principalmente G1P; algo 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glucosa libre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295 / 380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11.5. Comparación de síntesis y degradación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35__2"/>
          <p:cNvGraphicFramePr>
            <a:graphicFrameLocks noGrp="1"/>
          </p:cNvGraphicFramePr>
          <p:nvPr/>
        </p:nvGraphicFramePr>
        <p:xfrm>
          <a:off x="584200" y="1881124"/>
          <a:ext cx="11023600" cy="375919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Aspecto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Glucogenogénesis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Glucogenólisis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Cofactor que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destaca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Activación mediante UTP;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Mg²⁺ en pasos asociados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PLP en fosforilasa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Estado hormonal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típico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Insulina y abundancia 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combustible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Glucagón hepático 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adrenalina; necesidades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energéticas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Estado de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fosforilación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dominante de las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enzimas clave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Sintasa relativamente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más activa al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desfosforilarse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Fosforilasa relativamente más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activa al fosforilarse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296 / 380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11.5. Comparación de síntesis y degradación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63__0__355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Ventaja energética para el músculo.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Una unidad α(1→4) que entra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como G1P pasa a G6P sin consumir el ATP de hexoquinasa. Si se degrada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hasta lactato, puede dar tres ATP netos por unidad de glucosa del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glucógeno, frente a dos ATP desde glucosa libre. Las unidades liberadas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como glucosa en las ramificaciones no tienen exactamente esa misma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ventaja inicial.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4244848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4244848"/>
            <a:ext cx="50800" cy="1563116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364__0__223"/>
          <p:cNvSpPr txBox="1"/>
          <p:nvPr/>
        </p:nvSpPr>
        <p:spPr>
          <a:xfrm>
            <a:off x="800100" y="4359148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Esta diferencia de un ATP no elimina los costes de haber sintetizado antes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el glucógeno: explica una ventaja inmediata durante su movilización, no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una creación neta de energía a lo largo de síntesis y degradación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completas.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297 / 380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365__0__33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11.6. Regulación hormonal y local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3535172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MAGEN_FUENTE__I27" descr="Control hormonal del metabolismo del glucóge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467" y="1663700"/>
            <a:ext cx="6809065" cy="3382772"/>
          </a:xfrm>
          <a:prstGeom prst="rect">
            <a:avLst/>
          </a:prstGeom>
        </p:spPr>
      </p:pic>
      <p:sp>
        <p:nvSpPr>
          <p:cNvPr id="11" name="FUENTE__P0366__0__201"/>
          <p:cNvSpPr txBox="1"/>
          <p:nvPr/>
        </p:nvSpPr>
        <p:spPr>
          <a:xfrm>
            <a:off x="660400" y="5236972"/>
            <a:ext cx="10871200" cy="8336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536A78"/>
                </a:solidFill>
                <a:latin typeface="Arial"/>
              </a:rPr>
              <a:t>Figura 11-16. Control hormonal del metabolismo del glucógeno.</a:t>
            </a:r>
            <a:r>
              <a:rPr sz="1800" b="0" lang="es-MX">
                <a:solidFill>
                  <a:srgbClr val="536A78"/>
                </a:solidFill>
                <a:latin typeface="Arial"/>
              </a:rPr>
              <a:t> Fuente: capítulo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proporcionado, p. 268 del libro (p. 26 del PDF). Ubicación en esta guía: § 11.6. Imagen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original recortada, no redibujada.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298 / 380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11.6. Regulación hormonal y local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67__0__362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Lectura de la figura 11-16.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 señal de insulina favorece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desfosforilación: la glucógeno sintasa pasa a una forma más activa y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fosforilasa a una menos activa. La señal de glucagón/adrenalina favorece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el estado fosforilado que facilita movilización y dificulta síntesis. Lo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importante es que el mismo cambio covalente tiene efectos opuestos 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las dos enzimas.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299 / 380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11.6. Regulación hormonal y local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68__0__386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Ampliación del mecanismo: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glucagón y receptores β-adrenérgicos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pueden activar adenilato ciclasa mediante proteína G, elevar AMPc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activar PKA. PKA activa la fosforilasa quinasa, que fosforila la glucógeno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fosforilasa. La cascada amplifica la señal. La sintasa también se regula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mediante varias quinasas y fosfatasas; no existe una única reacción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hormonal idéntica en todos los tejidos.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300 / 380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11.6. Regulación hormonal y local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69__0__370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En músculo, el aumento de Ca²⁺ durante contracción puede activar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fosforilasa quinasa mediante su componente calmodulina. AMP favorece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actividad de la fosforilasa muscular; ATP y G6P señalan un estado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energético que puede limitar movilización. El músculo responde además 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insulina, que favorece captación por GLUT-4 y almacenamiento: no carece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 receptores de insulina.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301 / 380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11.6. Regulación hormonal y local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70__0__326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En el hígado, la disponibilidad de glucosa contribuye al control de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fosforilasa y el balance insulina/glucagón ayuda a ajustar síntesis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liberación. En músculo esquelético no existe una respuesta directa clásica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al glucagón equivalente a la hepática; la adrenalina y las señales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contracción tienen especial importancia.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302 / 380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11.6. Regulación hormonal y local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014220"/>
          </a:xfrm>
          <a:prstGeom prst="roundRect">
            <a:avLst>
              <a:gd name="adj" fmla="val 8000"/>
            </a:avLst>
          </a:prstGeom>
          <a:solidFill>
            <a:srgbClr val="E6F1F2"/>
          </a:solidFill>
          <a:ln w="8890">
            <a:solidFill>
              <a:srgbClr val="80B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UENTE__T036R000C00__0__297"/>
          <p:cNvSpPr txBox="1"/>
          <p:nvPr/>
        </p:nvSpPr>
        <p:spPr>
          <a:xfrm>
            <a:off x="812800" y="2058924"/>
            <a:ext cx="105664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No memorice «fosforilación = activación» sin nombrar la enzima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Glucógeno fosforilasa: fosforilación favorece actividad. Glucógeno sintasa: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fosforilación reduce actividad. Piruvato quinasa hepática y PDH: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fosforilación reduce actividad. El significado depende de la proteína y del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sitio modificado.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303 / 380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371__0__31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11.7. Relación con glucogenosis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72__0__350"/>
          <p:cNvSpPr txBox="1"/>
          <p:nvPr/>
        </p:nvSpPr>
        <p:spPr>
          <a:xfrm>
            <a:off x="800100" y="1701800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El recuadro 11-5 conecta la deficiencia de glucosa-6-fosfatasa con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glucogenosis tipo I, enfermedad de von Gierke. La incapacidad para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generar glucosa libre desde G6P dificulta sostener glucemia durante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ayuno y favorece acumulación de metabolitos y reservas. Las alteraciones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 G6PT explican otra forma del trastorno, como se describe 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MedlinePlus.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304 / 380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11.7. Relación con glucogenosis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73__0__403"/>
          <p:cNvSpPr txBox="1"/>
          <p:nvPr/>
        </p:nvSpPr>
        <p:spPr>
          <a:xfrm>
            <a:off x="800100" y="1701800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Como ampliación clínica de la lógica de la reserva, una deficiencia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fosforilasa muscular, enfermedad de McArdle, afecta la movilización para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ejercicio, mientras que las alteraciones de enzimas de ramificación 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desramificación modifican estructura y accesibilidad. Lo esencial 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relacionar la enzima afectada con el producto que falta, la molécula que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se acumula y el tejido que depende del proceso.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305 / 380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3358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381000"/>
            <a:ext cx="11023600" cy="330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99DEDF"/>
                </a:solidFill>
                <a:latin typeface="Arial"/>
              </a:rPr>
              <a:t>CAPÍTULO 11 · SECCIÓN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016000"/>
            <a:ext cx="2413000" cy="1270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defRPr sz="8000">
                <a:latin typeface="Arial"/>
              </a:defRPr>
            </a:pPr>
            <a:r>
              <a:rPr sz="8000" b="1" lang="es-MX">
                <a:solidFill>
                  <a:srgbClr val="37D3C6"/>
                </a:solidFill>
                <a:latin typeface="Arial"/>
              </a:rPr>
              <a:t>12</a:t>
            </a:r>
          </a:p>
        </p:txBody>
      </p:sp>
      <p:sp>
        <p:nvSpPr>
          <p:cNvPr id="7" name="FUENTE__P0374__0__62"/>
          <p:cNvSpPr txBox="1"/>
          <p:nvPr/>
        </p:nvSpPr>
        <p:spPr>
          <a:xfrm>
            <a:off x="584200" y="2730500"/>
            <a:ext cx="11023600" cy="11384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31"/>
              </a:lnSpc>
              <a:spcBef>
                <a:spcPts val="0"/>
              </a:spcBef>
              <a:spcAft>
                <a:spcPts val="0"/>
              </a:spcAft>
              <a:defRPr sz="3800">
                <a:latin typeface="Arial"/>
              </a:defRPr>
            </a:pPr>
            <a:r>
              <a:rPr sz="3800" b="1" lang="es-MX">
                <a:solidFill>
                  <a:srgbClr val="FFFFFF"/>
                </a:solidFill>
                <a:latin typeface="Arial"/>
              </a:rPr>
              <a:t>12. Integración del metabolismo y</a:t>
            </a:r>
            <a:br/>
            <a:r>
              <a:rPr sz="3800" b="1" lang="es-MX">
                <a:solidFill>
                  <a:srgbClr val="FFFFFF"/>
                </a:solidFill>
                <a:latin typeface="Arial"/>
              </a:rPr>
              <a:t>cuadros sinópticos editables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5461000"/>
            <a:ext cx="110236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>
                <a:latin typeface="Arial"/>
              </a:defRPr>
            </a:pPr>
            <a:r>
              <a:rPr sz="2000" b="0" lang="es-MX">
                <a:solidFill>
                  <a:srgbClr val="D1E6ED"/>
                </a:solidFill>
                <a:latin typeface="Arial"/>
              </a:rPr>
              <a:t>Contenido íntegro · lectura didáctica · cuadros y estructuras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306 / 380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375__0__60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12.1. Después de comer, durante el ayuno y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durante ejercicio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76__0__337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Después de una comida rica en carbohidratos aumenta la disponibilidad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 glucosa y predomina la señal de insulina. El músculo y el tejido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adiposo incrementan captación mediante GLUT-4; el hígado metaboliza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almacena glucosa. Se favorecen glucólisis, síntesis de glucógeno y otras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rutas de utilización, según la necesidad de cada célula.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307 / 380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12.1. Después de comer, durante el ayuno y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durante ejercicio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77__0__373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Durante el ayuno, el glucagón favorece producción hepática de glucosa.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 etapas iniciales participa de forma importante la glucogenólisis;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gluconeogénesis aporta glucosa desde lactato, glicerol y aminoácidos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gana importancia al disminuir la reserva. Ambos procesos pueden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coexistir: no hay un interruptor que apague por completo uno y encienda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el otro en un instante.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308 / 380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12.1. Después de comer, durante el ayuno y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durante ejercicio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78__0__314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Durante ejercicio, el músculo combina captación de combustible,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movilización de glucógeno y producción de ATP. La contracción, Ca²⁺, AMP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y la señal adrenérgica contribuyen a ajustar el flujo. El hígado coopera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para sostener glucemia. La intensidad y duración del esfuerzo modifican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 proporción de vías utilizada.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309 / 380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12.1. Después de comer, durante el ayuno y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durante ejercicio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37__1"/>
          <p:cNvGraphicFramePr>
            <a:graphicFrameLocks noGrp="1"/>
          </p:cNvGraphicFramePr>
          <p:nvPr/>
        </p:nvGraphicFramePr>
        <p:xfrm>
          <a:off x="584200" y="1881124"/>
          <a:ext cx="11023600" cy="296417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Situación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Señal y vía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predominante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Resultado que debe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interpretar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Estado posprandial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Insulina; captación,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glucólisis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glucogenogénesis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Utilizar y almacenar el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suministro de glucosa.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Ayuno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Glucagón hepático;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glucogenólisis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gluconeogénesis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Sostener glucosa sanguínea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para tejidos dependientes.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310 / 380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12.1. Después de comer, durante el ayuno y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durante ejercicio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37__2"/>
          <p:cNvGraphicFramePr>
            <a:graphicFrameLocks noGrp="1"/>
          </p:cNvGraphicFramePr>
          <p:nvPr/>
        </p:nvGraphicFramePr>
        <p:xfrm>
          <a:off x="584200" y="1881124"/>
          <a:ext cx="11023600" cy="325373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Situación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Señal y vía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predominante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Resultado que debe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interpretar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Ejercicio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Señales locales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adrenalina;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glucogenólisis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producción de ATP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Cubrir necesidad muscular sin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atribuir al músculo una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respuesta hepática al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glucagón.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Demanda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antioxidante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Consumo de NADPH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aumento de NADP⁺;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pentosas oxidativas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Mantener glutatión reducido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defensa celular.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311 / 380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12.1. Después de comer, durante el ayuno y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durante ejercicio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37__3"/>
          <p:cNvGraphicFramePr>
            <a:graphicFrameLocks noGrp="1"/>
          </p:cNvGraphicFramePr>
          <p:nvPr/>
        </p:nvGraphicFramePr>
        <p:xfrm>
          <a:off x="584200" y="1881124"/>
          <a:ext cx="11023600" cy="187959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Situación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Señal y vía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predominante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Resultado que debe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interpretar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Demanda de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nucleótidos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Necesidad de ribosa-5-P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Ajustar interconversión 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pentosas e intermediarios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glucolíticos.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312 / 380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379__0__53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12.2. Cuadro sinóptico editable del capítulo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completo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38__1"/>
          <p:cNvGraphicFramePr>
            <a:graphicFrameLocks noGrp="1"/>
          </p:cNvGraphicFramePr>
          <p:nvPr/>
        </p:nvGraphicFramePr>
        <p:xfrm>
          <a:off x="584200" y="1881124"/>
          <a:ext cx="11023600" cy="397509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27552"/>
                <a:gridCol w="7496048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Cuadro sinóptico: eje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principal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Ramas y conexiones para estudiar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CARBOHIDRATOS DE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LA DIETA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Almidón / disacáridos → hidrolasas → glucosa,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galactosa y fructosa → transportadores intestinales.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↳ </a:t>
                      </a: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GLUCOSA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INTRACELULAR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Hexoquinasa / glucoquinasa → G6P.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↳ </a:t>
                      </a: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OBTENER ATP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G6P → F6P → F1,6BP → 2 GAP → 2 piruvatos; 2 ATP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netos y 2 NADH.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↳ </a:t>
                      </a: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RECICLAR NAD⁺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Piruvato → lactato; en microorganismos, piruvato →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acetaldehído → etanol.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313 / 380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12.2. Cuadro sinóptico editable del capítulo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completo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38__2"/>
          <p:cNvGraphicFramePr>
            <a:graphicFrameLocks noGrp="1"/>
          </p:cNvGraphicFramePr>
          <p:nvPr/>
        </p:nvGraphicFramePr>
        <p:xfrm>
          <a:off x="584200" y="1881124"/>
          <a:ext cx="11023600" cy="368553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27552"/>
                <a:gridCol w="7496048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Cuadro sinóptico: eje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principal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Ramas y conexiones para estudiar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↳ </a:t>
                      </a: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OXIDAR MÁS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CARBONO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Piruvato → PDH → acetil-CoA → ciclo de Krebs y vías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oxidativas.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↳ </a:t>
                      </a: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SINTETIZAR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GLUCOSA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Lactato / alanina / glicerol → gluconeogénesis → G6P →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glucosa libre.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↳ </a:t>
                      </a: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OBTENER NADPH Y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RIBOSA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G6P → pentosas fosfato; conexión reversible con F6P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GAP.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↳ </a:t>
                      </a: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ALMACENAR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G6P → G1P → UDP-glucosa → glucógeno.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314 / 380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12.2. Cuadro sinóptico editable del capítulo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completo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38__3"/>
          <p:cNvGraphicFramePr>
            <a:graphicFrameLocks noGrp="1"/>
          </p:cNvGraphicFramePr>
          <p:nvPr/>
        </p:nvGraphicFramePr>
        <p:xfrm>
          <a:off x="584200" y="1881124"/>
          <a:ext cx="11023600" cy="159003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27552"/>
                <a:gridCol w="7496048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Cuadro sinóptico: eje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principal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Ramas y conexiones para estudiar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↳ </a:t>
                      </a: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MOVILIZAR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RESERVA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Glucógeno → G1P → G6P → energía muscular o glucosa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hepática.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315 / 380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380__0__49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12.3. Cuadro de coenzimas, vitaminas y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cofactores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39__1"/>
          <p:cNvGraphicFramePr>
            <a:graphicFrameLocks noGrp="1"/>
          </p:cNvGraphicFramePr>
          <p:nvPr/>
        </p:nvGraphicFramePr>
        <p:xfrm>
          <a:off x="584200" y="1881124"/>
          <a:ext cx="11023600" cy="375919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Componente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Función que debe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asociar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Enzimas o rutas del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capítulo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Mg²⁺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Coordinar nucleótidos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estabilizar cargas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Hexoquinasa, PFK-1,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fosfoglicerato quinasa,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enolasa, piruvato quinasa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otros pasos de fosforilación.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K⁺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Cofactor monovalente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Piruvato quinasa.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NAD⁺, vitamina B3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Aceptar hidruro y formar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NADH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GAPDH, PDH; interconversión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lactato/piruvato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metabolismo de glicerol.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316 / 380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12.3. Cuadro de coenzimas, vitaminas y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cofactores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39__2"/>
          <p:cNvGraphicFramePr>
            <a:graphicFrameLocks noGrp="1"/>
          </p:cNvGraphicFramePr>
          <p:nvPr/>
        </p:nvGraphicFramePr>
        <p:xfrm>
          <a:off x="584200" y="1881124"/>
          <a:ext cx="11023600" cy="346963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Componente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Función que debe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asociar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Enzimas o rutas del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capítulo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NADP⁺ / NADPH,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vitamina B3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Poder reductor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diferenciado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Fase oxidativa de pentosas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defensa por glutatión.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TPP, vitamina B1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Estabilizar y transferir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fragmentos carbonados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PDH E1, piruvato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descarboxilasa microbiana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transcetolasa.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FAD, vitamina B2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Transferencia 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electrones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PDH E3; otros sistemas redox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relacionados.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317 / 380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12.3. Cuadro de coenzimas, vitaminas y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cofactores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39__3"/>
          <p:cNvGraphicFramePr>
            <a:graphicFrameLocks noGrp="1"/>
          </p:cNvGraphicFramePr>
          <p:nvPr/>
        </p:nvGraphicFramePr>
        <p:xfrm>
          <a:off x="584200" y="1881124"/>
          <a:ext cx="11023600" cy="346963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Componente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Función que debe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asociar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Enzimas o rutas del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capítulo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CoA, vitamina B5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Transportar grupos acilo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mediante un tiol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Formación de acetil-CoA por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PDH.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PLP, vitamina B6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Catálisis de transferencia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de amino y 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fosforólisis, según enzima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ALT y otras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aminotransferasas; glucógeno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fosforilasa.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Biotina, vitamina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B7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Transportar grupo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carboxilo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Piruvato carboxilasa.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318 / 380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12.3. Cuadro de coenzimas, vitaminas y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cofactores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39__4"/>
          <p:cNvGraphicFramePr>
            <a:graphicFrameLocks noGrp="1"/>
          </p:cNvGraphicFramePr>
          <p:nvPr/>
        </p:nvGraphicFramePr>
        <p:xfrm>
          <a:off x="584200" y="1881124"/>
          <a:ext cx="11023600" cy="375919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Componente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Función que debe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asociar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Enzimas o rutas del</a:t>
                      </a:r>
                      <a:br/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capítulo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Lipoamida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Brazo transportador 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acetilo y electrones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E2 del complejo PDH.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2,3-BPG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Cebar fosfohistidina en la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forma humana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dependiente de cofactor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Fosfoglicerato mutasa;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también tiene función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eritrocitaria en otra rama.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ATP, GTP y UTP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Energía o activación; no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son intercambiables en la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contabilidad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ATP en glucólisis/PC; GTP en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PEPCK; UTP en UDP-glucosa.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319 / 380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12.3. Cuadro de coenzimas, vitaminas y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cofactores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81__0__373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Los cofactores no deben memorizarse como una lista sin función.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Compare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qué se transporta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: NAD transporta equivalentes reductores,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TPP estabiliza fragmentos de carbono, CoA lleva grupos acilo, biotina lleva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carboxilo y PLP permite mecanismos específicos según la enzima. Esta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clasificación explica mejor las diferencias que asociar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indiscriminadamente «vitamina = energía».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320 / 380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382__0__52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12.4. Láminas originales de integración del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capítulo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241548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MAGEN_FUENTE__I28" descr="Esquema original de regulación hormon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611" y="1957324"/>
            <a:ext cx="4564776" cy="3089148"/>
          </a:xfrm>
          <a:prstGeom prst="rect">
            <a:avLst/>
          </a:prstGeom>
        </p:spPr>
      </p:pic>
      <p:sp>
        <p:nvSpPr>
          <p:cNvPr id="11" name="FUENTE__P0383__0__205"/>
          <p:cNvSpPr txBox="1"/>
          <p:nvPr/>
        </p:nvSpPr>
        <p:spPr>
          <a:xfrm>
            <a:off x="660400" y="5236972"/>
            <a:ext cx="10871200" cy="8336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536A78"/>
                </a:solidFill>
                <a:latin typeface="Arial"/>
              </a:rPr>
              <a:t>Lámina de integración A. Esquema original de regulación hormonal.</a:t>
            </a:r>
            <a:r>
              <a:rPr sz="1800" b="0" lang="es-MX">
                <a:solidFill>
                  <a:srgbClr val="536A78"/>
                </a:solidFill>
                <a:latin typeface="Arial"/>
              </a:rPr>
              <a:t> Fuente: capítulo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proporcionado, p. 270 del libro (p. 28 del PDF). Ubicación en esta guía: § 12.4. Imagen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original recortada, no redibujada.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321 / 380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R270-A · Vista ampliada: Integración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hormonal: glucosa, glucógeno y pentosas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481324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ntegración hormonal: glucosa, glucógeno y pentos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027" y="1970024"/>
            <a:ext cx="9045945" cy="33035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322 / 380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R270-A · Vista ampliada: Integración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hormonal: triosas y piruvato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481324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ntegración hormonal: triosas y piruva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080" y="1970024"/>
            <a:ext cx="9381838" cy="33035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323 / 380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12.4. Láminas originales de integración del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capítulo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84__0__339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Explicación de la lámina A, página 270.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Localice las ramas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glucógeno, pentosas y glucólisis/gluconeogénesis. La insulina favorece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utilización y almacenamiento, mientras que el glucagón hepático favorece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mantener la glucosa circulante. El regulador F2,6BP ocupa un lugar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especial porque conecta hormona y decisión entre PFK-1 y FBPasa-1.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92074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920744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385__0__322"/>
          <p:cNvSpPr txBox="1"/>
          <p:nvPr/>
        </p:nvSpPr>
        <p:spPr>
          <a:xfrm>
            <a:off x="800100" y="403504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lámina utiliza abreviaturas como G1P, G6P, DHAP, PEP y OAA,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oxaloacetato. Reconstrúyalas con los nombres completos para evitar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memorizar flechas sin significado. La captación insulinodependiente 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músculo y adiposo corresponde a GLUT-4; el GLUT-2 hepático no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regula por una translocación equivalente a la de GLUT-4.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324 / 380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12.4. Láminas originales de integración del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capítulo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241548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MAGEN_FUENTE__I29" descr="Esquema original de regulación alostéric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735" y="1957324"/>
            <a:ext cx="5202528" cy="3089148"/>
          </a:xfrm>
          <a:prstGeom prst="rect">
            <a:avLst/>
          </a:prstGeom>
        </p:spPr>
      </p:pic>
      <p:sp>
        <p:nvSpPr>
          <p:cNvPr id="11" name="FUENTE__P0386__0__207"/>
          <p:cNvSpPr txBox="1"/>
          <p:nvPr/>
        </p:nvSpPr>
        <p:spPr>
          <a:xfrm>
            <a:off x="660400" y="5236972"/>
            <a:ext cx="10871200" cy="8336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536A78"/>
                </a:solidFill>
                <a:latin typeface="Arial"/>
              </a:rPr>
              <a:t>Lámina de integración B. Esquema original de regulación alostérica.</a:t>
            </a:r>
            <a:r>
              <a:rPr sz="1800" b="0" lang="es-MX">
                <a:solidFill>
                  <a:srgbClr val="536A78"/>
                </a:solidFill>
                <a:latin typeface="Arial"/>
              </a:rPr>
              <a:t> Fuente: capítulo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proporcionado, p. 270 del libro (p. 28 del PDF). Ubicación en esta guía: § 12.4. Imagen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original recortada, no redibujada.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325 / 380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R270-B · Vista ampliada: Integración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alostérica: hexosas y reservas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481324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ntegración alostérica: hexosas y reserv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767" y="1970024"/>
            <a:ext cx="10120464" cy="33035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326 / 380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R270-B · Vista ampliada: Integración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alostérica: PEP y piruvato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3481324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8890">
            <a:solidFill>
              <a:srgbClr val="CC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ntegración alostérica: PEP y piruva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747" y="1970024"/>
            <a:ext cx="10106505" cy="33035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4200" y="5540248"/>
            <a:ext cx="11023600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Detalle complementario de la imagen original. La lámina completa y su explicación se</a:t>
            </a:r>
            <a:br/>
            <a:r>
              <a:rPr sz="1800" b="0" lang="es-MX">
                <a:solidFill>
                  <a:srgbClr val="536A78"/>
                </a:solidFill>
                <a:latin typeface="Arial"/>
              </a:rPr>
              <a:t>conservan en esta sección.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327 / 380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12.4. Láminas originales de integración del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capítulo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211323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87__0__381"/>
          <p:cNvSpPr txBox="1"/>
          <p:nvPr/>
        </p:nvSpPr>
        <p:spPr>
          <a:xfrm>
            <a:off x="800100" y="1995424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Explicación de la lámina B, página 270.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Los signos de activación 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inhibición representan información sobre carga energética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disponibilidad de carbono. AMP/ADP favorecen utilizar glucosa; ATP/citrato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pueden indicar disponibilidad energética; acetil-CoA activa piruvato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carboxilasa. La regulación evita gastar ATP produciendo y degradando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glucosa a gran velocidad simultáneamente.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328 / 380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12.4. Láminas originales de integración del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capítulo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88__0__298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Actividad sugerida: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cubra los nombres de las enzimas y reconstruya las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tres reacciones irreversibles de la glucólisis y las cuatro enzimas de rodeo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 la gluconeogénesis. Después indique qué metabolito conecta glucólisis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 pentosas y cuál conecta glucólisis con síntesis/degradación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glucógeno.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329 / 380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389__0__51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12.5. Veinte errores frecuentes que conviene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evitar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914907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90__0__78"/>
          <p:cNvSpPr txBox="1"/>
          <p:nvPr/>
        </p:nvSpPr>
        <p:spPr>
          <a:xfrm>
            <a:off x="800100" y="1995424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Decir que la glucólisis ocurre en la mitocondria: ocurre en el citosol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humano.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2948432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2948432"/>
            <a:ext cx="50800" cy="914907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391__0__84"/>
          <p:cNvSpPr txBox="1"/>
          <p:nvPr/>
        </p:nvSpPr>
        <p:spPr>
          <a:xfrm>
            <a:off x="800100" y="3062732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Afirmar que consume oxígeno directamente: ninguna de sus diez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reacciones utiliza O₂.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4200" y="4015740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4200" y="4015740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UENTE__P0392__0__69"/>
          <p:cNvSpPr txBox="1"/>
          <p:nvPr/>
        </p:nvSpPr>
        <p:spPr>
          <a:xfrm>
            <a:off x="800100" y="4130040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Contar 4 ATP como ganancia neta: se produjeron 4, pero se gastaron 2.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4200" y="4758944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4200" y="4758944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UENTE__P0393__0__64"/>
          <p:cNvSpPr txBox="1"/>
          <p:nvPr/>
        </p:nvSpPr>
        <p:spPr>
          <a:xfrm>
            <a:off x="800100" y="4873244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Contar solo un NADH por glucosa: el paso 6 se ejecuta dos veces.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4200" y="5502147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4200" y="5502147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UENTE__P0394__0__69"/>
          <p:cNvSpPr txBox="1"/>
          <p:nvPr/>
        </p:nvSpPr>
        <p:spPr>
          <a:xfrm>
            <a:off x="800100" y="5616447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Sumar NADH como si fuera ATP ya sintetizado: es un coenzima reducido.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330 / 380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12.5. Veinte errores frecuentes que conviene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evitar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395__0__70"/>
          <p:cNvSpPr txBox="1"/>
          <p:nvPr/>
        </p:nvSpPr>
        <p:spPr>
          <a:xfrm>
            <a:off x="800100" y="1995424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Afirmar que el paso 6 consume ATP para incorporar fosfato: utiliza Pi.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2624328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2624328"/>
            <a:ext cx="50800" cy="914907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396__0__94"/>
          <p:cNvSpPr txBox="1"/>
          <p:nvPr/>
        </p:nvSpPr>
        <p:spPr>
          <a:xfrm>
            <a:off x="800100" y="2738628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Confundir bisfosfato con una cadena de difosfato: sus fosfatos están 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posiciones diferentes.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4200" y="3691635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4200" y="3691635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UENTE__P0397__0__65"/>
          <p:cNvSpPr txBox="1"/>
          <p:nvPr/>
        </p:nvSpPr>
        <p:spPr>
          <a:xfrm>
            <a:off x="800100" y="3805935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Confundir GAP con glicerol-3-fosfato: no son el mismo metabolito.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4200" y="4434839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4200" y="4434839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UENTE__P0398__0__53"/>
          <p:cNvSpPr txBox="1"/>
          <p:nvPr/>
        </p:nvSpPr>
        <p:spPr>
          <a:xfrm>
            <a:off x="800100" y="4549139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Decir que aldolasa genera dos GAP: genera GAP y DHAP.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4200" y="5178043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4200" y="5178043"/>
            <a:ext cx="50800" cy="914907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UENTE__P0399__0__96"/>
          <p:cNvSpPr txBox="1"/>
          <p:nvPr/>
        </p:nvSpPr>
        <p:spPr>
          <a:xfrm>
            <a:off x="800100" y="5292343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Suponer que el equilibrio aislado de TPI favorece GAP: el flujo depende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su consumo posterior.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331 / 380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12.5. Veinte errores frecuentes que conviene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evitar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914907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00__0__88"/>
          <p:cNvSpPr txBox="1"/>
          <p:nvPr/>
        </p:nvSpPr>
        <p:spPr>
          <a:xfrm>
            <a:off x="800100" y="1995424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Confundir PFK-1 con PFK-2: producen compuestos distintos y cumplen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funciones diferentes.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2948432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2948432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401__0__62"/>
          <p:cNvSpPr txBox="1"/>
          <p:nvPr/>
        </p:nvSpPr>
        <p:spPr>
          <a:xfrm>
            <a:off x="800100" y="3062732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Confundir F1,6BP con F2,6BP: intermediario frente a regulador.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4200" y="3691636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4200" y="3691636"/>
            <a:ext cx="50800" cy="914907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UENTE__P0402__0__110"/>
          <p:cNvSpPr txBox="1"/>
          <p:nvPr/>
        </p:nvSpPr>
        <p:spPr>
          <a:xfrm>
            <a:off x="800100" y="3805936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Afirmar que la gluconeogénesis solo invierte todas las enzimas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glucolíticas: necesita cuatro enzimas de rodeo.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4200" y="4758944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4200" y="4758944"/>
            <a:ext cx="50800" cy="590804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UENTE__P0403__0__76"/>
          <p:cNvSpPr txBox="1"/>
          <p:nvPr/>
        </p:nvSpPr>
        <p:spPr>
          <a:xfrm>
            <a:off x="800100" y="4873244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Ubicar piruvato carboxilasa en el retículo: actúa en la matriz mitocondrial.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332 / 380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12.5. Veinte errores frecuentes que conviene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evitar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914907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04__0__84"/>
          <p:cNvSpPr txBox="1"/>
          <p:nvPr/>
        </p:nvSpPr>
        <p:spPr>
          <a:xfrm>
            <a:off x="800100" y="1995424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Añadir acetaldehído libre al mecanismo de PDH: el intermediario está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asociado a TPP.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2948432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2948432"/>
            <a:ext cx="50800" cy="914907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405__0__90"/>
          <p:cNvSpPr txBox="1"/>
          <p:nvPr/>
        </p:nvSpPr>
        <p:spPr>
          <a:xfrm>
            <a:off x="800100" y="3062732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Tratar NADPH y NADH como la misma señal metabólica: participan 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circuitos diferenciados.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4200" y="4015740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4200" y="4015740"/>
            <a:ext cx="50800" cy="914907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UENTE__P0406__0__87"/>
          <p:cNvSpPr txBox="1"/>
          <p:nvPr/>
        </p:nvSpPr>
        <p:spPr>
          <a:xfrm>
            <a:off x="800100" y="4130040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Decir que pentosas produce ATP directamente: su objetivo principal 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NADPH y azúcares.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4200" y="5083048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4200" y="5083048"/>
            <a:ext cx="50800" cy="914907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UENTE__P0407__0__91"/>
          <p:cNvSpPr txBox="1"/>
          <p:nvPr/>
        </p:nvSpPr>
        <p:spPr>
          <a:xfrm>
            <a:off x="800100" y="5197348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Afirmar que el músculo libera glucosa como el hígado: utiliza sobre todo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su G6P localmente.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333 / 380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12.5. Veinte errores frecuentes que conviene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evitar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914907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08__0__102"/>
          <p:cNvSpPr txBox="1"/>
          <p:nvPr/>
        </p:nvSpPr>
        <p:spPr>
          <a:xfrm>
            <a:off x="800100" y="1995424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Decir que glucagón regula directamente el músculo como al hígado: no 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 respuesta muscular clásica.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2948432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2948432"/>
            <a:ext cx="50800" cy="914907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409__0__80"/>
          <p:cNvSpPr txBox="1"/>
          <p:nvPr/>
        </p:nvSpPr>
        <p:spPr>
          <a:xfrm>
            <a:off x="800100" y="3062732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Suponer que toda enzima fosforilada está activa: el efecto depende de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enzima.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334 / 380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3358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381000"/>
            <a:ext cx="11023600" cy="330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99DEDF"/>
                </a:solidFill>
                <a:latin typeface="Arial"/>
              </a:rPr>
              <a:t>CAPÍTULO 11 · SECCIÓN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016000"/>
            <a:ext cx="2413000" cy="1270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defRPr sz="8000">
                <a:latin typeface="Arial"/>
              </a:defRPr>
            </a:pPr>
            <a:r>
              <a:rPr sz="8000" b="1" lang="es-MX">
                <a:solidFill>
                  <a:srgbClr val="37D3C6"/>
                </a:solidFill>
                <a:latin typeface="Arial"/>
              </a:rPr>
              <a:t>13</a:t>
            </a:r>
          </a:p>
        </p:txBody>
      </p:sp>
      <p:sp>
        <p:nvSpPr>
          <p:cNvPr id="7" name="FUENTE__P0410__0__41"/>
          <p:cNvSpPr txBox="1"/>
          <p:nvPr/>
        </p:nvSpPr>
        <p:spPr>
          <a:xfrm>
            <a:off x="584200" y="2730500"/>
            <a:ext cx="11023600" cy="11384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31"/>
              </a:lnSpc>
              <a:spcBef>
                <a:spcPts val="0"/>
              </a:spcBef>
              <a:spcAft>
                <a:spcPts val="0"/>
              </a:spcAft>
              <a:defRPr sz="3800">
                <a:latin typeface="Arial"/>
              </a:defRPr>
            </a:pPr>
            <a:r>
              <a:rPr sz="3800" b="1" lang="es-MX">
                <a:solidFill>
                  <a:srgbClr val="FFFFFF"/>
                </a:solidFill>
                <a:latin typeface="Arial"/>
              </a:rPr>
              <a:t>13. Autoevaluación y ejercicios</a:t>
            </a:r>
            <a:br/>
            <a:r>
              <a:rPr sz="3800" b="1" lang="es-MX">
                <a:solidFill>
                  <a:srgbClr val="FFFFFF"/>
                </a:solidFill>
                <a:latin typeface="Arial"/>
              </a:rPr>
              <a:t>resueltos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5461000"/>
            <a:ext cx="110236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>
                <a:latin typeface="Arial"/>
              </a:defRPr>
            </a:pPr>
            <a:r>
              <a:rPr sz="2000" b="0" lang="es-MX">
                <a:solidFill>
                  <a:srgbClr val="D1E6ED"/>
                </a:solidFill>
                <a:latin typeface="Arial"/>
              </a:rPr>
              <a:t>Contenido íntegro · lectura didáctica · cuadros y estructuras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335 / 380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411__0__30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13.1. Preguntas de comprensión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914907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12__0__149"/>
          <p:cNvSpPr txBox="1"/>
          <p:nvPr/>
        </p:nvSpPr>
        <p:spPr>
          <a:xfrm>
            <a:off x="800100" y="1701800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1.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¿Por qué se fosforila la glucosa antes de dividirla? Explique retención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intracelular, preparación química y reparto de fosfatos entre las triosas.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2654808"/>
            <a:ext cx="11023600" cy="590804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2654808"/>
            <a:ext cx="50800" cy="590804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413__0__66"/>
          <p:cNvSpPr txBox="1"/>
          <p:nvPr/>
        </p:nvSpPr>
        <p:spPr>
          <a:xfrm>
            <a:off x="800100" y="2769108"/>
            <a:ext cx="10591800" cy="3622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2.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¿Qué dos pasos consumen ATP y qué dos lo producen directamente?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4200" y="3398012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4200" y="3398012"/>
            <a:ext cx="50800" cy="914907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UENTE__P0414__0__83"/>
          <p:cNvSpPr txBox="1"/>
          <p:nvPr/>
        </p:nvSpPr>
        <p:spPr>
          <a:xfrm>
            <a:off x="800100" y="3512312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3.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¿Por qué el balance de una glucosa debe multiplicar por dos las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reacciones 6–10?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4200" y="4465320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4200" y="4465320"/>
            <a:ext cx="50800" cy="914907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UENTE__P0415__0__89"/>
          <p:cNvSpPr txBox="1"/>
          <p:nvPr/>
        </p:nvSpPr>
        <p:spPr>
          <a:xfrm>
            <a:off x="800100" y="4579620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4.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¿En qué paso aparece NADH y de dónde procede el fosfato añadido 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esa misma reacción?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336 / 380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13.1. Preguntas de comprensión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914907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16__0__116"/>
          <p:cNvSpPr txBox="1"/>
          <p:nvPr/>
        </p:nvSpPr>
        <p:spPr>
          <a:xfrm>
            <a:off x="800100" y="1995424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5.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¿Cuáles son las tres enzimas de reacciones irreversibles y qué enzimas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utiliza la gluconeogénesis para evitarlas?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2948432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2948432"/>
            <a:ext cx="50800" cy="914907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417__0__78"/>
          <p:cNvSpPr txBox="1"/>
          <p:nvPr/>
        </p:nvSpPr>
        <p:spPr>
          <a:xfrm>
            <a:off x="800100" y="3062732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6.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¿Qué diferencia a una quinasa, una fosfatasa, una fosforilasa y una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mutasa?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4200" y="4015740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4200" y="4015740"/>
            <a:ext cx="50800" cy="914907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UENTE__P0418__0__89"/>
          <p:cNvSpPr txBox="1"/>
          <p:nvPr/>
        </p:nvSpPr>
        <p:spPr>
          <a:xfrm>
            <a:off x="800100" y="4130040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7.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¿Qué ocurriría con el flujo glucolítico de un eritrocito si no pudiera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regenerar NAD⁺?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4200" y="5083048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4200" y="5083048"/>
            <a:ext cx="50800" cy="914907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UENTE__P0419__0__118"/>
          <p:cNvSpPr txBox="1"/>
          <p:nvPr/>
        </p:nvSpPr>
        <p:spPr>
          <a:xfrm>
            <a:off x="800100" y="5197348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8.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¿Por qué un hígado puede liberar glucosa derivada de glucógeno y un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músculo no cumple la misma función exportadora?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337 / 380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13.1. Preguntas de comprensión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914907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20__0__80"/>
          <p:cNvSpPr txBox="1"/>
          <p:nvPr/>
        </p:nvSpPr>
        <p:spPr>
          <a:xfrm>
            <a:off x="800100" y="1995424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9.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¿Qué coenzimas se asocian con PDH, piruvato carboxilasa,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transcetolasa y ALT?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2948432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2948432"/>
            <a:ext cx="50800" cy="914907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421__0__97"/>
          <p:cNvSpPr txBox="1"/>
          <p:nvPr/>
        </p:nvSpPr>
        <p:spPr>
          <a:xfrm>
            <a:off x="800100" y="3062732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10.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¿Cómo contribuye la ruta de las pentosas a prevenir hemólisis si no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produce ATP directamente?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4200" y="4015740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4200" y="4015740"/>
            <a:ext cx="50800" cy="914907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UENTE__P0422__0__87"/>
          <p:cNvSpPr txBox="1"/>
          <p:nvPr/>
        </p:nvSpPr>
        <p:spPr>
          <a:xfrm>
            <a:off x="800100" y="4130040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11.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¿Por qué el metabolismo hepático de fructosa evita PFK-1, pero no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evita gastar ATP?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4200" y="5083048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4200" y="5083048"/>
            <a:ext cx="50800" cy="914907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UENTE__P0423__0__107"/>
          <p:cNvSpPr txBox="1"/>
          <p:nvPr/>
        </p:nvSpPr>
        <p:spPr>
          <a:xfrm>
            <a:off x="800100" y="5197348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12.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¿Qué señal favorece PFK-1 y a la vez inhibe FBPasa-1? Explique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utilidad de esa regulación recíproca.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338 / 380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424__0__29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13.2. Respuestas orientativas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188722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25__0__301"/>
          <p:cNvSpPr txBox="1"/>
          <p:nvPr/>
        </p:nvSpPr>
        <p:spPr>
          <a:xfrm>
            <a:off x="800100" y="1701800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1.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Las fosforilaciones de C6 y C1 introducen grupos cargados que facilitan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mantener y reconocer los intermediarios. La isomerización prepara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cetosa para la escisión; la F1,6BP puede dar dos triosas, cada una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fosforilada. No debe atribuirse toda la finalidad a «hacer más energía» 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el primer paso.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627120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627120"/>
            <a:ext cx="50800" cy="1239011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426__0__192"/>
          <p:cNvSpPr txBox="1"/>
          <p:nvPr/>
        </p:nvSpPr>
        <p:spPr>
          <a:xfrm>
            <a:off x="800100" y="3741420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2.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Consumen ATP la hexoquinasa y PFK-1, pasos 1 y 3. Lo producen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fosfoglicerato quinasa y piruvato quinasa, pasos 7 y 10. Las dos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reacciones de formación producen dos ATP cada una por glucosa.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339 / 380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13.2. Respuestas orientativas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1239011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27__0__182"/>
          <p:cNvSpPr txBox="1"/>
          <p:nvPr/>
        </p:nvSpPr>
        <p:spPr>
          <a:xfrm>
            <a:off x="800100" y="1701800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3.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 aldolasa genera dos triosas y TPI permite que ambas se procesen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como GAP. Cada GAP produce un NADH y dos ATP en la fase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rendimiento: por glucosa se duplican esas cantidades.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2978912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2978912"/>
            <a:ext cx="50800" cy="1239011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428__0__171"/>
          <p:cNvSpPr txBox="1"/>
          <p:nvPr/>
        </p:nvSpPr>
        <p:spPr>
          <a:xfrm>
            <a:off x="800100" y="3093212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4.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NADH aparece en GAPDH, paso 6. El fosfato nuevo es Pi. La oxidación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del aldehído se acopla a la formación de un fosfato de acilo; no consume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ATP para esa incorporación.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4200" y="4370324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4200" y="4370324"/>
            <a:ext cx="50800" cy="1239011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UENTE__P0429__0__178"/>
          <p:cNvSpPr txBox="1"/>
          <p:nvPr/>
        </p:nvSpPr>
        <p:spPr>
          <a:xfrm>
            <a:off x="800100" y="4484624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5.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Hexoquinasa se evita con G6Pasa; PFK-1 con FBPasa-1; piruvato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quinasa con piruvato carboxilasa y PEPCK. Hay tres pasos irreversibles,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pero cuatro enzimas específicas de rodeo.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340 / 380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13.2. Respuestas orientativas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1563116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30__0__235"/>
          <p:cNvSpPr txBox="1"/>
          <p:nvPr/>
        </p:nvSpPr>
        <p:spPr>
          <a:xfrm>
            <a:off x="800100" y="1701800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6.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Quinasa transfiere fosforilo entre un nucleótido y otro sustrato;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fosfatasa hidroliza y libera Pi; fosforilasa utiliza Pi para romper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determinados enlaces; mutasa reubica un grupo dentro del esqueleto del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sustrato. No son sinónimos.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303016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303016"/>
            <a:ext cx="50800" cy="1239011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431__0__211"/>
          <p:cNvSpPr txBox="1"/>
          <p:nvPr/>
        </p:nvSpPr>
        <p:spPr>
          <a:xfrm>
            <a:off x="800100" y="3417316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7.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NADH se acumularía y faltaría NAD⁺ para GAPDH. Se limitaría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oxidación del GAP y, con ella, la producción de ATP posterior. El eritrocito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depende especialmente de este circuito porque no posee mitocondrias.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341 / 380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13.2. Respuestas orientativas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1563116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32__0__229"/>
          <p:cNvSpPr txBox="1"/>
          <p:nvPr/>
        </p:nvSpPr>
        <p:spPr>
          <a:xfrm>
            <a:off x="800100" y="1701800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8.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El hígado cuenta con el sistema glucosa-6-fosfatasa para convertir G6P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 glucosa libre. El músculo conserva y utiliza G6P para sus propias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necesidades. Su reserva no está diseñada como una fuente directa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glucosa exportada.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303016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303016"/>
            <a:ext cx="50800" cy="1563116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433__0__220"/>
          <p:cNvSpPr txBox="1"/>
          <p:nvPr/>
        </p:nvSpPr>
        <p:spPr>
          <a:xfrm>
            <a:off x="800100" y="3417316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9.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PDH: TPP, lipoamida, CoA, FAD y NAD⁺. Piruvato carboxilasa: biotina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ATP, con participación de Mg²⁺. Transcetolasa: TPP y catión divalente.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ALT: PLP. Separar estas asociaciones evita añadir biotina a PDH o TPP 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342 / 380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13.2. Respuestas orientativas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1563116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34__0__217"/>
          <p:cNvSpPr txBox="1"/>
          <p:nvPr/>
        </p:nvSpPr>
        <p:spPr>
          <a:xfrm>
            <a:off x="800100" y="1701800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10.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Produce NADPH, que permite regenerar GSH por glutatión reductasa.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Se sostiene así la defensa frente a oxidantes que dañarían hemoglobina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membrana. Un metabolito puede ser esencial para supervivencia sin ser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ATP.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303016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303016"/>
            <a:ext cx="50800" cy="1239011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435__0__194"/>
          <p:cNvSpPr txBox="1"/>
          <p:nvPr/>
        </p:nvSpPr>
        <p:spPr>
          <a:xfrm>
            <a:off x="800100" y="3417316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11.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Fructoquinasa y triosa quinasa utilizan ATP antes de que los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fragmentos entren como DHAP y GAP. Se evita la reacción de PFK-1, no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necesidad de fosforilación ni toda regulación metabólica.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4200" y="4694428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4200" y="4694428"/>
            <a:ext cx="50800" cy="1239011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UENTE__P0436__0__185"/>
          <p:cNvSpPr txBox="1"/>
          <p:nvPr/>
        </p:nvSpPr>
        <p:spPr>
          <a:xfrm>
            <a:off x="800100" y="4808728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12.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F2,6BP activa PFK-1 e inhibe FBPasa-1. Favorece el consumo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glucosa y reduce su síntesis simultánea; ayuda a responder al estado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hormonal y a limitar gasto por ciclos de sustrato.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343 / 380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437__0__56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13.3. Ejercicio 1: tres glucosas convertidas en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piruvato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914907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38__0__132"/>
          <p:cNvSpPr txBox="1"/>
          <p:nvPr/>
        </p:nvSpPr>
        <p:spPr>
          <a:xfrm>
            <a:off x="800100" y="1995424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Enunciado.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Tres moléculas de glucosa completan las diez reacciones.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Calcule ATP consumido, ATP producido, ATP neto, NADH y piruvato.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2948432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2948432"/>
            <a:ext cx="50800" cy="1563116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439__0__235"/>
          <p:cNvSpPr txBox="1"/>
          <p:nvPr/>
        </p:nvSpPr>
        <p:spPr>
          <a:xfrm>
            <a:off x="800100" y="3062732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Solución.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Por glucosa se consumen 2 ATP y se producen 4. Para tres: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consumo 6 ATP; producción 12 ATP; neto 6 ATP. Se forman 6 NADH y 6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piruvatos. Se conservan 18 carbonos en los seis piruvatos. No se genera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CO₂ dentro de la glucólisis.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344 / 380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440__0__66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13.4. Ejercicio 2: las mismas tres glucosas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convertidas en lactato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239011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41__0__149"/>
          <p:cNvSpPr txBox="1"/>
          <p:nvPr/>
        </p:nvSpPr>
        <p:spPr>
          <a:xfrm>
            <a:off x="800100" y="1995424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Enunciado.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Todos los piruvatos del ejercicio anterior se reducen 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lactato. ¿Cuánto ATP adicional produce LDH y cuánto NADH queda como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producto neto?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272536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272536"/>
            <a:ext cx="50800" cy="188722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442__0__298"/>
          <p:cNvSpPr txBox="1"/>
          <p:nvPr/>
        </p:nvSpPr>
        <p:spPr>
          <a:xfrm>
            <a:off x="800100" y="3386836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Solución.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LDH produce 0 ATP adicional. Consume los 6 NADH para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reducir los 6 piruvatos y regenera 6 NAD⁺. Resultado: 6 lactatos, 6 ATP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netos y ningún NADH neto de la conversión completa glucosa→lactato. No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confunda los NADH transitorios de glucólisis con un producto acumulado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del proceso completo.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345 / 380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443__0__62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13.5. Ejercicio 3: una glucosa sintetizada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desde dos piruvatos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914907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44__0__110"/>
          <p:cNvSpPr txBox="1"/>
          <p:nvPr/>
        </p:nvSpPr>
        <p:spPr>
          <a:xfrm>
            <a:off x="800100" y="1995424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Enunciado.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Calcule ATP, GTP y NADH consumidos. Compare con lo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obtenido al degradar una glucosa hasta piruvato.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2948432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2948432"/>
            <a:ext cx="50800" cy="188722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445__0__316"/>
          <p:cNvSpPr txBox="1"/>
          <p:nvPr/>
        </p:nvSpPr>
        <p:spPr>
          <a:xfrm>
            <a:off x="800100" y="3062732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Solución.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Gluconeogénesis consume 4 ATP, 2 GTP y 2 NADH. Glucólisis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genera 2 ATP netos y 2 NADH. Al ejecutar ambas sin objetivo metabólico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neto se perderían cuatro equivalentes de ATP por ciclo: los NADH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compensan, pero los seis nucleótidos de alta energía consumidos no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recuperan con los dos ATP glucolíticos.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346 / 380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446__0__50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13.6. Ejercicio 4: dos G6P por pentosas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oxidativas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914907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47__0__117"/>
          <p:cNvSpPr txBox="1"/>
          <p:nvPr/>
        </p:nvSpPr>
        <p:spPr>
          <a:xfrm>
            <a:off x="800100" y="1995424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Enunciado.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Dos G6P completan una pasada de la fase oxidativa. ¿Qué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cantidades de NADPH, CO₂ y ribulosa-5-P se forman?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2948432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2948432"/>
            <a:ext cx="50800" cy="1239011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448__0__204"/>
          <p:cNvSpPr txBox="1"/>
          <p:nvPr/>
        </p:nvSpPr>
        <p:spPr>
          <a:xfrm>
            <a:off x="800100" y="3062732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Solución.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Se forman 4 NADPH, 2 CO₂ y 2 ribulosas-5-P. No se forma ATP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directamente. Para obtener ribosa-5-P hay que considerar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isomerización posterior; ribulosa y ribosa no son nombres intercambiables.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347 / 380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449__0__5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13.7. Ejercicio 5: diez unidades del glucógeno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muscular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239011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50__0__172"/>
          <p:cNvSpPr txBox="1"/>
          <p:nvPr/>
        </p:nvSpPr>
        <p:spPr>
          <a:xfrm>
            <a:off x="800100" y="1995424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Enunciado.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Diez unidades procedentes de enlaces α(1→4) ingresan por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G1P y terminan en lactato. Considere solo su degradación y no el coste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previo de síntesis del glucógeno.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272536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272536"/>
            <a:ext cx="50800" cy="188722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451__0__297"/>
          <p:cNvSpPr txBox="1"/>
          <p:nvPr/>
        </p:nvSpPr>
        <p:spPr>
          <a:xfrm>
            <a:off x="800100" y="3386836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Solución.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Cada unidad evita el ATP de hexoquinasa y produce 3 ATP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netos. Diez unidades producen 30 ATP netos y 20 lactatos. Si fueran diez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glucosas libres, producirían 20 ATP netos. La hipótesis α(1→4) importa: las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unidades liberadas como glucosa libre desde ramificaciones necesitan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fosforilarse.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348 / 380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452__0__61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13.8. Ejercicio 6: interpretar una señal de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glucagón hepático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914907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914907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53__0__126"/>
          <p:cNvSpPr txBox="1"/>
          <p:nvPr/>
        </p:nvSpPr>
        <p:spPr>
          <a:xfrm>
            <a:off x="800100" y="1995424"/>
            <a:ext cx="10591800" cy="6863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Enunciado.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Aumentan AMPc y PKA en el hepatocito. ¿Qué espera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F2,6BP, PFK-1, piruvato quinasa L y movilización de glucógeno?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2948432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2948432"/>
            <a:ext cx="50800" cy="188722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454__0__331"/>
          <p:cNvSpPr txBox="1"/>
          <p:nvPr/>
        </p:nvSpPr>
        <p:spPr>
          <a:xfrm>
            <a:off x="800100" y="3062732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Solución.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En el sistema hepático clásico disminuye F2,6BP, se reduce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estímulo sobre PFK-1 y disminuye la inhibición sobre FBPasa-1.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piruvato quinasa L se fosforila y pierde actividad. Se favorece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movilización de glucógeno mediante la cascada de fosforilación.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resultado ayuda a conservar o producir glucosa para la sangre.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349 / 380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455__0__30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13.9. Método de estudio activo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1887220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56__0__310"/>
          <p:cNvSpPr txBox="1"/>
          <p:nvPr/>
        </p:nvSpPr>
        <p:spPr>
          <a:xfrm>
            <a:off x="800100" y="1701800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Dibuje la ruta completa desde memoria y añada primero solo los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intermediarios. En una segunda vuelta, escriba las enzimas. En una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tercera, marque ATP, ADP, Pi, NAD⁺, NADH, agua y cofactores. En la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cuarta, destaque los pasos 1, 3 y 10 y los reguladores. Corrija con las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fichas, no solo con una lista de nombres.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627120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627120"/>
            <a:ext cx="50800" cy="1563116"/>
          </a:xfrm>
          <a:prstGeom prst="rect">
            <a:avLst/>
          </a:prstGeom>
          <a:solidFill>
            <a:srgbClr val="28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457__0__283"/>
          <p:cNvSpPr txBox="1"/>
          <p:nvPr/>
        </p:nvSpPr>
        <p:spPr>
          <a:xfrm>
            <a:off x="800100" y="3741420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Cuando una estructura sea difícil, localice primero número de carbonos,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posición del carbonilo, posición de los fosfatos y presencia de carboxilato.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Esa estrategia permite identificar el tipo de reacción antes de recordar 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nombre de la enzima y hace la memorización menos mecánica.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350 / 380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7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3358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381000"/>
            <a:ext cx="11023600" cy="330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99DEDF"/>
                </a:solidFill>
                <a:latin typeface="Arial"/>
              </a:rPr>
              <a:t>CAPÍTULO 11 · SECCIÓN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016000"/>
            <a:ext cx="2413000" cy="1270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defRPr sz="8000">
                <a:latin typeface="Arial"/>
              </a:defRPr>
            </a:pPr>
            <a:r>
              <a:rPr sz="8000" b="1" lang="es-MX">
                <a:solidFill>
                  <a:srgbClr val="37D3C6"/>
                </a:solidFill>
                <a:latin typeface="Arial"/>
              </a:rPr>
              <a:t>14</a:t>
            </a:r>
          </a:p>
        </p:txBody>
      </p:sp>
      <p:sp>
        <p:nvSpPr>
          <p:cNvPr id="7" name="FUENTE__P0458__0__38"/>
          <p:cNvSpPr txBox="1"/>
          <p:nvPr/>
        </p:nvSpPr>
        <p:spPr>
          <a:xfrm>
            <a:off x="584200" y="2730500"/>
            <a:ext cx="11023600" cy="58826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31"/>
              </a:lnSpc>
              <a:spcBef>
                <a:spcPts val="0"/>
              </a:spcBef>
              <a:spcAft>
                <a:spcPts val="0"/>
              </a:spcAft>
              <a:defRPr sz="3800">
                <a:latin typeface="Arial"/>
              </a:defRPr>
            </a:pPr>
            <a:r>
              <a:rPr sz="3800" b="1" lang="es-MX">
                <a:solidFill>
                  <a:srgbClr val="FFFFFF"/>
                </a:solidFill>
                <a:latin typeface="Arial"/>
              </a:rPr>
              <a:t>14. Glosario y precisiones científicas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5461000"/>
            <a:ext cx="110236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>
                <a:latin typeface="Arial"/>
              </a:defRPr>
            </a:pPr>
            <a:r>
              <a:rPr sz="2000" b="0" lang="es-MX">
                <a:solidFill>
                  <a:srgbClr val="D1E6ED"/>
                </a:solidFill>
                <a:latin typeface="Arial"/>
              </a:rPr>
              <a:t>Contenido íntegro · lectura didáctica · cuadros y estructuras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351 / 380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7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459__0__23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14.1. Glosario editable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40__1"/>
          <p:cNvGraphicFramePr>
            <a:graphicFrameLocks noGrp="1"/>
          </p:cNvGraphicFramePr>
          <p:nvPr/>
        </p:nvGraphicFramePr>
        <p:xfrm>
          <a:off x="584200" y="1587500"/>
          <a:ext cx="11023600" cy="39750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27552"/>
                <a:gridCol w="7496048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Término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Definición útil para este capítulo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Aldosa / cetosa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Azúcares cuya forma abierta contiene aldehído 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cetona, respectivamente.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Anabolismo /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catabolismo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Construcción y degradación metabólica; suelen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requerir y liberar energía, respectivamente.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Alosterismo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Cambio de actividad asociado a unión de un regulador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en un sitio distinto del catalítico.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Base de Schiff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Enlace imina transitorio entre un carbonilo y un grupo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amino; importante en aldolasa de clase I y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transaldolasa.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352 / 380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7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14.1. Glosario editable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40__2"/>
          <p:cNvGraphicFramePr>
            <a:graphicFrameLocks noGrp="1"/>
          </p:cNvGraphicFramePr>
          <p:nvPr/>
        </p:nvGraphicFramePr>
        <p:xfrm>
          <a:off x="584200" y="1587500"/>
          <a:ext cx="11023600" cy="448055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27552"/>
                <a:gridCol w="7496048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Término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Definición útil para este capítulo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Bisfosfato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Dos fosfatos unidos a posiciones diferentes de una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molécula.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Carga energética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Estado relativo de nucleótidos como ATP, ADP y AMP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que informa de disponibilidad de energía.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Citosol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Medio intracelular donde ocurren glucólisis y pentosas;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no es matriz mitocondrial.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Cofactor / coenzima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Componente no proteico necesario; si es orgánico,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puede denominarse coenzima.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Cosustrato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Participante que se transforma durante la reacción y se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regenera en otro proceso.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353 / 380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7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14.1. Glosario editable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40__3"/>
          <p:cNvGraphicFramePr>
            <a:graphicFrameLocks noGrp="1"/>
          </p:cNvGraphicFramePr>
          <p:nvPr/>
        </p:nvGraphicFramePr>
        <p:xfrm>
          <a:off x="584200" y="1587500"/>
          <a:ext cx="11023600" cy="390143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27552"/>
                <a:gridCol w="7496048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Término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Definición útil para este capítulo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Descarboxilación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Eliminación de un carbono como CO₂.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Deshidratación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Eliminación de H₂O de un sustrato.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Epímero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Molécula que difiere de otra en la configuración de un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centro quiral concreto.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Fosfato de acilo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Grupo carboxilo activado mediante unión a fosfato,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como el C1 del 1,3-BPG.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Fosfoéster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Fosfato unido a un grupo alcohol; no todo fosfoéster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puede producir ATP al transferirse.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354 / 380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7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14.1. Glosario editable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40__4"/>
          <p:cNvGraphicFramePr>
            <a:graphicFrameLocks noGrp="1"/>
          </p:cNvGraphicFramePr>
          <p:nvPr/>
        </p:nvGraphicFramePr>
        <p:xfrm>
          <a:off x="584200" y="1587500"/>
          <a:ext cx="11023600" cy="419099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27552"/>
                <a:gridCol w="7496048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Término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Definición útil para este capítulo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Fosforilación a nivel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de sustrato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Formación de ATP mediante transferencia directa 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fosforilo desde un sustrato a ADP.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Fosforilación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oxidativa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Síntesis de ATP acoplada a transferencia de electrones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y gradiente electroquímico; no es el mecanismo de los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pasos 7 y 10.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Fosforólisis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Rotura de un enlace utilizando Pi; distingue glucógeno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fosforilasa de una hidrolasa.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Glucemia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Concentración de glucosa en sangre.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Glucogenina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Proteína cebadora clásica de síntesis de glucógeno.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355 / 380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7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14.1. Glosario editable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40__5"/>
          <p:cNvGraphicFramePr>
            <a:graphicFrameLocks noGrp="1"/>
          </p:cNvGraphicFramePr>
          <p:nvPr/>
        </p:nvGraphicFramePr>
        <p:xfrm>
          <a:off x="584200" y="1587500"/>
          <a:ext cx="11023600" cy="419099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27552"/>
                <a:gridCol w="7496048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Término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Definición útil para este capítulo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Glucogenosis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Trastorno de síntesis o degradación de glucógeno o de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procesos asociados.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Hidrólisis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Rotura de un enlace mediante agua.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Hidruro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Hidrógeno con dos electrones transferido a coenzimas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como NAD⁺ durante oxidación.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Isoenzima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Forma enzimática que cataliza una reacción semejante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con propiedades o distribución diferentes.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Isomerasa / mutasa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Reorganiza una molécula / cambia la ubicación de un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grupo dentro de ella.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356 / 380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7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14.1. Glosario editable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40__6"/>
          <p:cNvGraphicFramePr>
            <a:graphicFrameLocks noGrp="1"/>
          </p:cNvGraphicFramePr>
          <p:nvPr/>
        </p:nvGraphicFramePr>
        <p:xfrm>
          <a:off x="584200" y="1587500"/>
          <a:ext cx="11023600" cy="44805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27552"/>
                <a:gridCol w="7496048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Término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Definición útil para este capítulo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NADH / NADPH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Coenzimas reducidas con funciones y reconocimiento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enzimático diferenciados.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Oxalacetato u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oxaloacetato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Intermediario de cuatro carbonos que conecta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carboxilación, gluconeogénesis y ciclo de Krebs.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Paso de compromiso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Reacción que encamina un precursor hacia una ruta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concreta; en glucólisis destaca PFK-1.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Pi / PPi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Fosfato inorgánico / pirofosfato.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Potencial de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transferencia de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fosforilo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Tendencia termodinámica de un compuesto a transferir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fosforilo; explica la utilidad de 1,3-BPG y PEP.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357 / 380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7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14.1. Glosario editable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40__7"/>
          <p:cNvGraphicFramePr>
            <a:graphicFrameLocks noGrp="1"/>
          </p:cNvGraphicFramePr>
          <p:nvPr/>
        </p:nvGraphicFramePr>
        <p:xfrm>
          <a:off x="584200" y="1587500"/>
          <a:ext cx="11023600" cy="448055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27552"/>
                <a:gridCol w="7496048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Término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Definición útil para este capítulo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Proteína quinasa /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fosfatasa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Enzima que fosforila / desfosforila proteínas para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modificar sus funciones.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Retroinhibición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Un producto reduce la actividad de una reacción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anterior que contribuye a producirlo.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Tautomerización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Interconversión de formas como enol y ceto;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contribuye al avance PEP→piruvato.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Tioéster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Unión de un grupo acilo a azufre, como en acetil-CoA o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intermediarios de PDH.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Transcetolasa /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transaldolasa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Transfieren fragmentos de dos / tres carbonos en</a:t>
                      </a:r>
                      <a:br/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pentosas no oxidativas.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358 / 380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7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14.1. Glosario editable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40__8"/>
          <p:cNvGraphicFramePr>
            <a:graphicFrameLocks noGrp="1"/>
          </p:cNvGraphicFramePr>
          <p:nvPr/>
        </p:nvGraphicFramePr>
        <p:xfrm>
          <a:off x="584200" y="1587500"/>
          <a:ext cx="11023600" cy="130047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27552"/>
                <a:gridCol w="7496048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Término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Definición útil para este capítulo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79501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Triosa / hexosa /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pentosa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Azúcar de tres / seis / cinco carbonos.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359 / 380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7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460__0__42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14.2. Precisiones respecto al texto fuente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2535428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2535428"/>
          </a:xfrm>
          <a:prstGeom prst="rect">
            <a:avLst/>
          </a:prstGeom>
          <a:solidFill>
            <a:srgbClr val="17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61__0__428"/>
          <p:cNvSpPr txBox="1"/>
          <p:nvPr/>
        </p:nvSpPr>
        <p:spPr>
          <a:xfrm>
            <a:off x="800100" y="1701800"/>
            <a:ext cx="10591800" cy="23068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Esta guía sigue la organización del capítulo, pero evita reproducir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literalmente algunas formulaciones que pueden inducir errores.</a:t>
            </a:r>
            <a:br/>
            <a:r>
              <a:rPr sz="2200" b="1" lang="es-MX">
                <a:solidFill>
                  <a:srgbClr val="243C4C"/>
                </a:solidFill>
                <a:latin typeface="Arial"/>
              </a:rPr>
              <a:t>Localización de piruvato carboxilasa: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matriz mitocondrial, corrigiendo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 contradicción de páginas 255–256.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TPI: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el equilibrio aislado favorece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DHAP; el consumo de GAP dirige el flujo.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PDH: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E1 es piruvato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deshidrogenasa, con hidroxi-etil-TPP, no producción de acetaldehído libre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como en levaduras.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360 / 380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7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14.2. Precisiones respecto al texto fuente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887220"/>
          </a:xfrm>
          <a:prstGeom prst="rect">
            <a:avLst/>
          </a:prstGeom>
          <a:solidFill>
            <a:srgbClr val="17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62__0__334"/>
          <p:cNvSpPr txBox="1"/>
          <p:nvPr/>
        </p:nvSpPr>
        <p:spPr>
          <a:xfrm>
            <a:off x="800100" y="1995424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Regulación del músculo: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la insulina sí tiene importancia en músculo; no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se identifica su control hormonal únicamente con adrenalina.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Glucógeno: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distingue concentración hepática de cantidad total muscular y no describe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 activación de UDP-glucosa como mera hidrólisis de UDP.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G6P del</a:t>
            </a:r>
            <a:br/>
            <a:r>
              <a:rPr sz="2200" b="1" lang="es-MX">
                <a:solidFill>
                  <a:srgbClr val="243C4C"/>
                </a:solidFill>
                <a:latin typeface="Arial"/>
              </a:rPr>
              <a:t>retículo: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se utiliza la nomenclatura G6PT/SLC37A4.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361 / 380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7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14.2. Precisiones respecto al texto fuente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2535428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2535428"/>
          </a:xfrm>
          <a:prstGeom prst="rect">
            <a:avLst/>
          </a:prstGeom>
          <a:solidFill>
            <a:srgbClr val="17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63__0__444"/>
          <p:cNvSpPr txBox="1"/>
          <p:nvPr/>
        </p:nvSpPr>
        <p:spPr>
          <a:xfrm>
            <a:off x="800100" y="1995424"/>
            <a:ext cx="10591800" cy="23068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Intolerancias y clínica: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se distingue malabsorción de lactosa de alergia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 proteínas de leche y no se reproducen recomendaciones pediátricas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generales del recuadro.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Pentosas: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NADPH sostiene sistemas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antioxidantes; la función de eritrosa-4-P en biosíntesis aromática se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atribuye a organismos con esa capacidad. </a:t>
            </a:r>
            <a:r>
              <a:rPr sz="2200" b="1" lang="es-MX">
                <a:solidFill>
                  <a:srgbClr val="243C4C"/>
                </a:solidFill>
                <a:latin typeface="Arial"/>
              </a:rPr>
              <a:t>Hormonas: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los mecanismos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 PFK-2 y piruvato quinasa se especifican como modelo hepático, no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como reglas idénticas para toda isoforma.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362 / 380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7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14.2. Precisiones respecto al texto fuente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17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64__0__246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Estas aclaraciones son parte de la ampliación didáctica. Su propósito 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que el estudiante aprenda la bioquímica del proceso y pueda interpretar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críticamente las figuras originales, sin alterar ni presentar como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corregidas las imágenes del libro.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363 / 380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3358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381000"/>
            <a:ext cx="11023600" cy="330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99DEDF"/>
                </a:solidFill>
                <a:latin typeface="Arial"/>
              </a:rPr>
              <a:t>CAPÍTULO 11 · SECCIÓN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016000"/>
            <a:ext cx="2413000" cy="1270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000"/>
              </a:lnSpc>
              <a:spcBef>
                <a:spcPts val="0"/>
              </a:spcBef>
              <a:spcAft>
                <a:spcPts val="0"/>
              </a:spcAft>
              <a:defRPr sz="8000">
                <a:latin typeface="Arial"/>
              </a:defRPr>
            </a:pPr>
            <a:r>
              <a:rPr sz="8000" b="1" lang="es-MX">
                <a:solidFill>
                  <a:srgbClr val="37D3C6"/>
                </a:solidFill>
                <a:latin typeface="Arial"/>
              </a:rPr>
              <a:t>15</a:t>
            </a:r>
          </a:p>
        </p:txBody>
      </p:sp>
      <p:sp>
        <p:nvSpPr>
          <p:cNvPr id="7" name="FUENTE__P0465__0__36"/>
          <p:cNvSpPr txBox="1"/>
          <p:nvPr/>
        </p:nvSpPr>
        <p:spPr>
          <a:xfrm>
            <a:off x="584200" y="2730500"/>
            <a:ext cx="11023600" cy="58826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31"/>
              </a:lnSpc>
              <a:spcBef>
                <a:spcPts val="0"/>
              </a:spcBef>
              <a:spcAft>
                <a:spcPts val="0"/>
              </a:spcAft>
              <a:defRPr sz="3800">
                <a:latin typeface="Arial"/>
              </a:defRPr>
            </a:pPr>
            <a:r>
              <a:rPr sz="3800" b="1" lang="es-MX">
                <a:solidFill>
                  <a:srgbClr val="FFFFFF"/>
                </a:solidFill>
                <a:latin typeface="Arial"/>
              </a:rPr>
              <a:t>15. Índice de imágenes y referencias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5461000"/>
            <a:ext cx="110236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>
                <a:latin typeface="Arial"/>
              </a:defRPr>
            </a:pPr>
            <a:r>
              <a:rPr sz="2000" b="0" lang="es-MX">
                <a:solidFill>
                  <a:srgbClr val="D1E6ED"/>
                </a:solidFill>
                <a:latin typeface="Arial"/>
              </a:rPr>
              <a:t>Contenido íntegro · lectura didáctica · cuadros y estructuras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D2E7ED"/>
                </a:solidFill>
                <a:latin typeface="Arial"/>
              </a:rPr>
              <a:t>364 / 380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466__0__41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15.1. Dónde están las imágenes originales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1887220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67__0__320"/>
          <p:cNvSpPr txBox="1"/>
          <p:nvPr/>
        </p:nvSpPr>
        <p:spPr>
          <a:xfrm>
            <a:off x="800100" y="1701800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La tabla siguiente identifica cada imagen del capítulo y su ubicación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dentro de esta guía. La columna de página distingue el número impreso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del libro del número de página del PDF. Los encabezados § permiten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localizar el comentario explicativo y la imagen mediante el índice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secciones o el panel de navegación de Word.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365 / 380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15.1. Dónde están las imágenes originales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41__1"/>
          <p:cNvGraphicFramePr>
            <a:graphicFrameLocks noGrp="1"/>
          </p:cNvGraphicFramePr>
          <p:nvPr/>
        </p:nvGraphicFramePr>
        <p:xfrm>
          <a:off x="584200" y="1881124"/>
          <a:ext cx="11023600" cy="296417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Imagen original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Página del libro / PDF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Ubicación en esta guía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11-1: Panorama de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las rutas de la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glucosa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244 / 2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§ 1.3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11-2: Digestión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del almidón y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absorción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intestinal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247 / 5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§ 2.3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366 / 380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15.1. Dónde están las imágenes originales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41__2"/>
          <p:cNvGraphicFramePr>
            <a:graphicFrameLocks noGrp="1"/>
          </p:cNvGraphicFramePr>
          <p:nvPr/>
        </p:nvGraphicFramePr>
        <p:xfrm>
          <a:off x="584200" y="1881124"/>
          <a:ext cx="11023600" cy="325373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Imagen original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Página del libro / PDF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Ubicación en esta guía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11-3: Las diez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reacciones y las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dos fases de la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glucólisis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250 / 8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§ 3.3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11-4: Regulación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alostérica y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hormonal de la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glucólisis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252 / 10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§ 5.3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367 / 380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15.1. Dónde están las imágenes originales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41__3"/>
          <p:cNvGraphicFramePr>
            <a:graphicFrameLocks noGrp="1"/>
          </p:cNvGraphicFramePr>
          <p:nvPr/>
        </p:nvGraphicFramePr>
        <p:xfrm>
          <a:off x="584200" y="1881124"/>
          <a:ext cx="11023600" cy="354329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Imagen original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Página del libro / PDF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Ubicación en esta guía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66370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R11-3: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Glucoquinasa: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compartimentación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y secreción de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insulina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253 / 11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§ 5.4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11-5: Entrada de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otros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monosacáridos en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la glucólisis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254 / 12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§ 6.1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368 / 380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15.1. Dónde están las imágenes originales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41__4"/>
          <p:cNvGraphicFramePr>
            <a:graphicFrameLocks noGrp="1"/>
          </p:cNvGraphicFramePr>
          <p:nvPr/>
        </p:nvGraphicFramePr>
        <p:xfrm>
          <a:off x="584200" y="1881124"/>
          <a:ext cx="11023600" cy="375919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Imagen original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Página del libro / PDF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Ubicación en esta guía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11-6: Glucólisis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frente a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gluconeogénesis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256 / 14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§ 7.2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11-7: Regulación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recíproca y ciclos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de sustrato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258 / 16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§ 7.4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11-8: Ciclo de Cori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y ciclo de la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glucosa-alanina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259 / 17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§ 8.1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369 / 380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15.1. Dónde están las imágenes originales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41__5"/>
          <p:cNvGraphicFramePr>
            <a:graphicFrameLocks noGrp="1"/>
          </p:cNvGraphicFramePr>
          <p:nvPr/>
        </p:nvGraphicFramePr>
        <p:xfrm>
          <a:off x="584200" y="1881124"/>
          <a:ext cx="11023600" cy="325373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Imagen original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Página del libro / PDF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Ubicación en esta guía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11-9: Destinos del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piruvato y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regeneración de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NAD⁺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260 / 18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§ 9.1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11-10: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Descarboxilación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oxidativa del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piruvato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261 / 19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§ 9.4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370 / 380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15.1. Dónde están las imágenes originales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41__6"/>
          <p:cNvGraphicFramePr>
            <a:graphicFrameLocks noGrp="1"/>
          </p:cNvGraphicFramePr>
          <p:nvPr/>
        </p:nvGraphicFramePr>
        <p:xfrm>
          <a:off x="584200" y="1881124"/>
          <a:ext cx="11023600" cy="325373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Imagen original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Página del libro / PDF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Ubicación en esta guía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11-11: Regulación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del complejo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piruvato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deshidrogenasa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262 / 20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§ 9.6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11-12: Fases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oxidativa y no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oxidativa de las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pentosas fosfato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263 / 21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§ 10.2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371 / 380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15.1. Dónde están las imágenes originales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41__7"/>
          <p:cNvGraphicFramePr>
            <a:graphicFrameLocks noGrp="1"/>
          </p:cNvGraphicFramePr>
          <p:nvPr/>
        </p:nvGraphicFramePr>
        <p:xfrm>
          <a:off x="584200" y="1881124"/>
          <a:ext cx="11023600" cy="375919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Imagen original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Página del libro / PDF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Ubicación en esta guía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11-13: Activación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de la glucosa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como UDP-glucosa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266 / 24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§ 11.2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11-14: Mecanismo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de la enzima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ramificante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267 / 25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§ 11.3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  <a:tr h="1084580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11-15: Mecanismo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de la enzima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desramificante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267 / 25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§ 11.4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372 / 380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15.1. Dónde están las imágenes originales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41__8"/>
          <p:cNvGraphicFramePr>
            <a:graphicFrameLocks noGrp="1"/>
          </p:cNvGraphicFramePr>
          <p:nvPr/>
        </p:nvGraphicFramePr>
        <p:xfrm>
          <a:off x="584200" y="1881124"/>
          <a:ext cx="11023600" cy="325373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Imagen original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Página del libro / PDF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Ubicación en esta guía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11-16: Control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hormonal del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metabolismo del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glucógeno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268 / 26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§ 11.6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R270-A: Esquema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original de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regulación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hormonal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270 / 28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§ 12.4</a:t>
                      </a:r>
                    </a:p>
                  </a:txBody>
                  <a:tcPr marL="127000" marR="127000" marT="88900" marB="88900" anchor="t">
                    <a:solidFill>
                      <a:srgbClr val="EE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373 / 380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15.1. Dónde están las imágenes originales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graphicFrame>
        <p:nvGraphicFramePr>
          <p:cNvPr id="9" name="TABLA__T041__9"/>
          <p:cNvGraphicFramePr>
            <a:graphicFrameLocks noGrp="1"/>
          </p:cNvGraphicFramePr>
          <p:nvPr/>
        </p:nvGraphicFramePr>
        <p:xfrm>
          <a:off x="584200" y="1881124"/>
          <a:ext cx="11023600" cy="187959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6608"/>
                <a:gridCol w="3637788"/>
                <a:gridCol w="4299204"/>
              </a:tblGrid>
              <a:tr h="50545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Imagen original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Página del libro / PDF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FFFFFF"/>
                          </a:solidFill>
                          <a:latin typeface="Arial"/>
                        </a:rPr>
                        <a:t>Ubicación en esta guía</a:t>
                      </a:r>
                    </a:p>
                  </a:txBody>
                  <a:tcPr marL="127000" marR="127000" marT="88900" marB="88900" anchor="t">
                    <a:solidFill>
                      <a:srgbClr val="173B50"/>
                    </a:solidFill>
                  </a:tcPr>
                </a:tc>
              </a:tr>
              <a:tr h="1374139"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R270-B: Esquema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original de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regulación</a:t>
                      </a:r>
                      <a:br/>
                      <a:r>
                        <a:rPr sz="2000" b="1" lang="es-MX">
                          <a:solidFill>
                            <a:srgbClr val="007F88"/>
                          </a:solidFill>
                          <a:latin typeface="Arial"/>
                        </a:rPr>
                        <a:t>alostérica</a:t>
                      </a:r>
                    </a:p>
                  </a:txBody>
                  <a:tcPr marL="127000" marR="127000" marT="88900" marB="88900" anchor="t">
                    <a:solidFill>
                      <a:srgbClr val="E8F2F4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270 / 28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>
                        <a:lnSpc>
                          <a:spcPts val="22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rial"/>
                        </a:defRPr>
                      </a:pPr>
                      <a:r>
                        <a:rPr sz="2000" b="0" lang="es-MX">
                          <a:solidFill>
                            <a:srgbClr val="243C4C"/>
                          </a:solidFill>
                          <a:latin typeface="Arial"/>
                        </a:rPr>
                        <a:t>§ 12.4</a:t>
                      </a:r>
                    </a:p>
                  </a:txBody>
                  <a:tcPr marL="127000" marR="127000" marT="88900" marB="88900" anchor="t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374 / 380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15.1. Dónde están las imágenes originales —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68__0__261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Los esquemas Q01–Q10 se encuentran en las fichas §4.1–4.10. Son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dibujos didácticos propios de conectividad molecular, no fotografías ni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figuras del libro. Los cuadros sinópticos y comparativos se construyeron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como tablas editables, no como capturas de pantalla.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375 / 380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469__0__22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15.2. Fuente principal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1887220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70__0__299"/>
          <p:cNvSpPr txBox="1"/>
          <p:nvPr/>
        </p:nvSpPr>
        <p:spPr>
          <a:xfrm>
            <a:off x="800100" y="1701800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F. Capítulo proporcionado por el usuario.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«Metabolismo de los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hidratos de carbono», capítulo 11, páginas 243–270. Archivo: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«CAP.11.METABOLISMO DE CARBOHIDRATOS_compressed.pdf».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Repositorio: clasescastillejos-source/CAP.11.METABOLISMO-DE-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CARBOHIDRATOS. Se revisaron sus 28 páginas. </a:t>
            </a:r>
            <a:r>
              <a:rPr sz="2200" b="0" lang="es-MX" u="sng">
                <a:solidFill>
                  <a:srgbClr val="007F88"/>
                </a:solidFill>
                <a:latin typeface="Arial"/>
                <a:hlinkClick r:id="rId2"/>
              </a:rPr>
              <a:t>Archivo en GitHub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627120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627120"/>
            <a:ext cx="50800" cy="1563116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471__0__262"/>
          <p:cNvSpPr txBox="1"/>
          <p:nvPr/>
        </p:nvSpPr>
        <p:spPr>
          <a:xfrm>
            <a:off x="800100" y="3741420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No se añade una atribución de autoría o edición bibliográfica del libro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porque el PDF facilitado contiene solamente el capítulo. Las imágenes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originales mantienen su numeración y se utilizan con finalidad explicativa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asociada a un resumen del documento aportado.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376 / 380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472__0__5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15.3. Referencias complementarias para las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ampliaciones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563116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563116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73__0__215"/>
          <p:cNvSpPr txBox="1"/>
          <p:nvPr/>
        </p:nvSpPr>
        <p:spPr>
          <a:xfrm>
            <a:off x="800100" y="1995424"/>
            <a:ext cx="10591800" cy="13345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A. Jakubowski y Flatt.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Fundamentals of Biochemistry, sección 13.1,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«Glycolysis», Biology LibreTexts. Utilizada para contrastar lógica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mecanística, aldolasa de clase I, GAPDH, mutasas y enolasa. Enlace de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consulta </a:t>
            </a:r>
            <a:r>
              <a:rPr sz="2200" b="0" lang="es-MX" u="sng">
                <a:solidFill>
                  <a:srgbClr val="007F88"/>
                </a:solidFill>
                <a:latin typeface="Arial"/>
                <a:hlinkClick r:id="rId2"/>
              </a:rPr>
              <a:t>1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596640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596640"/>
            <a:ext cx="50800" cy="1239011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474__0__153"/>
          <p:cNvSpPr txBox="1"/>
          <p:nvPr/>
        </p:nvSpPr>
        <p:spPr>
          <a:xfrm>
            <a:off x="800100" y="3710940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B. StatPearls / NCBI Bookshelf.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«Physiology, Gluconeogenesis»,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NBK541119. Contraste de enzimas de rodeo y localización del proceso.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Enlace de consulta </a:t>
            </a:r>
            <a:r>
              <a:rPr sz="2200" b="0" lang="es-MX" u="sng">
                <a:solidFill>
                  <a:srgbClr val="007F88"/>
                </a:solidFill>
                <a:latin typeface="Arial"/>
                <a:hlinkClick r:id="rId3"/>
              </a:rPr>
              <a:t>2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377 / 380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9159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15.3. Referencias complementarias para las</a:t>
            </a:r>
            <a:br/>
            <a:r>
              <a:rPr sz="3200" b="1" lang="es-MX">
                <a:solidFill>
                  <a:srgbClr val="173B50"/>
                </a:solidFill>
                <a:latin typeface="Arial"/>
              </a:rPr>
              <a:t>ampliaciones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881124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881124"/>
            <a:ext cx="50800" cy="1239011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75__0__190"/>
          <p:cNvSpPr txBox="1"/>
          <p:nvPr/>
        </p:nvSpPr>
        <p:spPr>
          <a:xfrm>
            <a:off x="800100" y="1995424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C. Cronk, Gonzaga University, CHEM 245.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«Lecture 26. Oxidative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decarboxylation». Contraste de las actividades E1–E3, hidroxi-etil-TPP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transferencia del grupo acetilo. Enlace de consulta </a:t>
            </a:r>
            <a:r>
              <a:rPr sz="2200" b="0" lang="es-MX" u="sng">
                <a:solidFill>
                  <a:srgbClr val="007F88"/>
                </a:solidFill>
                <a:latin typeface="Arial"/>
                <a:hlinkClick r:id="rId2"/>
              </a:rPr>
              <a:t>1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272536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272536"/>
            <a:ext cx="50800" cy="1239011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476__0__174"/>
          <p:cNvSpPr txBox="1"/>
          <p:nvPr/>
        </p:nvSpPr>
        <p:spPr>
          <a:xfrm>
            <a:off x="800100" y="3386836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D. MedlinePlus Genetics, NIH/NLM.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«SLC37A4 gene». Nomenclatura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función de la translocasa de glucosa-6-fosfato y su relación con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glucogenosis tipo Ib. </a:t>
            </a:r>
            <a:r>
              <a:rPr sz="2200" b="0" lang="es-MX" u="sng">
                <a:solidFill>
                  <a:srgbClr val="007F88"/>
                </a:solidFill>
                <a:latin typeface="Arial"/>
                <a:hlinkClick r:id="rId3"/>
              </a:rPr>
              <a:t>Página de MedlinePlus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4200" y="4663948"/>
            <a:ext cx="11023600" cy="1239011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4200" y="4663948"/>
            <a:ext cx="50800" cy="1239011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UENTE__P0477__0__201"/>
          <p:cNvSpPr txBox="1"/>
          <p:nvPr/>
        </p:nvSpPr>
        <p:spPr>
          <a:xfrm>
            <a:off x="800100" y="4778248"/>
            <a:ext cx="10591800" cy="10104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Fecha de consulta: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30 de septiembre de 2026. Las referencias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complementarias no sustituyen la fuente principal; apoyan las precisiones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señaladas y los detalles mecanísticos añadidos para el estudiante.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378 / 380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ENTE__P0478__0__31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15.4. Edición y uso del archivo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1887220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79__0__324"/>
          <p:cNvSpPr txBox="1"/>
          <p:nvPr/>
        </p:nvSpPr>
        <p:spPr>
          <a:xfrm>
            <a:off x="800100" y="1701800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Todo el texto del documento, incluidos títulos, tablas, pies de imagen y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encabezados, está configurado a 14 puntos. Para modificar un cuadro,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haga clic dentro de sus celdas y utilice las herramientas de tabla de Word.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Las imágenes originales son objetos insertados: su explicación,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numeración y fuente sí son texto editable.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" y="3627120"/>
            <a:ext cx="11023600" cy="188722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200" y="3627120"/>
            <a:ext cx="50800" cy="1887220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ENTE__P0480__0__315"/>
          <p:cNvSpPr txBox="1"/>
          <p:nvPr/>
        </p:nvSpPr>
        <p:spPr>
          <a:xfrm>
            <a:off x="800100" y="3741420"/>
            <a:ext cx="10591800" cy="165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0" lang="es-MX">
                <a:solidFill>
                  <a:srgbClr val="243C4C"/>
                </a:solidFill>
                <a:latin typeface="Arial"/>
              </a:rPr>
              <a:t>Si necesita estudiar una figura con mayor detalle, amplíe la vista o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consulte la página de origen indicada en el pie. La ampliación de una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imagen comprimida no crea nuevos detalles. En los esquemas químicos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propios, utilice la numeración de la ficha y el nombre de la reacción para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contrastarlos con la figura 11-3.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379 / 380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190500"/>
            <a:ext cx="88900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1" lang="es-MX">
                <a:solidFill>
                  <a:srgbClr val="007F88"/>
                </a:solidFill>
                <a:latin typeface="Arial"/>
              </a:rPr>
              <a:t>METABOLISMO DE LOS HIDRATOS DE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79000" y="190500"/>
            <a:ext cx="18288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BIOQUÍMICA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5715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749300"/>
            <a:ext cx="11023600" cy="477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defRPr sz="3200">
                <a:latin typeface="Arial"/>
              </a:defRPr>
            </a:pPr>
            <a:r>
              <a:rPr sz="3200" b="1" lang="es-MX">
                <a:solidFill>
                  <a:srgbClr val="173B50"/>
                </a:solidFill>
                <a:latin typeface="Arial"/>
              </a:rPr>
              <a:t>15.4. Edición y uso del archivo — continuación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324600"/>
            <a:ext cx="11023600" cy="0"/>
          </a:xfrm>
          <a:prstGeom prst="line">
            <a:avLst/>
          </a:prstGeom>
          <a:ln w="12700">
            <a:solidFill>
              <a:srgbClr val="CC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464300"/>
            <a:ext cx="91440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Texto íntegro del resumen · Presentación 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1587500"/>
            <a:ext cx="11023600" cy="2211323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200" y="1587500"/>
            <a:ext cx="50800" cy="2211323"/>
          </a:xfrm>
          <a:prstGeom prst="rect">
            <a:avLst/>
          </a:prstGeom>
          <a:solidFill>
            <a:srgbClr val="53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UENTE__P0481__0__367"/>
          <p:cNvSpPr txBox="1"/>
          <p:nvPr/>
        </p:nvSpPr>
        <p:spPr>
          <a:xfrm>
            <a:off x="800100" y="1701800"/>
            <a:ext cx="10591800" cy="19827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>
                <a:latin typeface="Arial"/>
              </a:defRPr>
            </a:pPr>
            <a:r>
              <a:rPr sz="2200" b="1" lang="es-MX">
                <a:solidFill>
                  <a:srgbClr val="243C4C"/>
                </a:solidFill>
                <a:latin typeface="Arial"/>
              </a:rPr>
              <a:t>Cierre del capítulo.</a:t>
            </a:r>
            <a:r>
              <a:rPr sz="2200" b="0" lang="es-MX">
                <a:solidFill>
                  <a:srgbClr val="243C4C"/>
                </a:solidFill>
                <a:latin typeface="Arial"/>
              </a:rPr>
              <a:t> Aprender metabolismo de carbohidratos es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aprender a decidir qué hace el organismo con el carbono y con la energía: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utilizar, almacenar, reciclar, proteger o sintetizar. Las enzimas hacen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posibles las transformaciones; las coenzimas y cofactores aportan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funciones químicas concretas; la regulación coordina la respuesta del</a:t>
            </a:r>
            <a:br/>
            <a:r>
              <a:rPr sz="2200" b="0" lang="es-MX">
                <a:solidFill>
                  <a:srgbClr val="243C4C"/>
                </a:solidFill>
                <a:latin typeface="Arial"/>
              </a:rPr>
              <a:t>tejido y del organismo.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6464300"/>
            <a:ext cx="19558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rPr sz="1800" b="0" lang="es-MX">
                <a:solidFill>
                  <a:srgbClr val="536A78"/>
                </a:solidFill>
                <a:latin typeface="Arial"/>
              </a:rPr>
              <a:t>380 / 380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Metabolismo de los hidratos de carbono — presentación íntegra del resumen</dc:title>
  <dc:subject>Texto íntegro, figuras, cuadros, estructuras, cofactores y ejercicios</dc:subject>
  <dc:creator>Presentación didáctica del capítulo proporcionado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